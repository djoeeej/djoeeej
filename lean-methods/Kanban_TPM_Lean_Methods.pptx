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4d2e4e3-ca1d-5af7-b539-7650f930734b}">
          <p14:sldIdLst>
            <p14:sldId id="256"/>
          </p14:sldIdLst>
        </p14:section>
        <p14:section name="Kanban" id="{e5e17884-8cc7-3ea6-64e6-aac73088fc8f}">
          <p14:sldIdLst>
            <p14:sldId id="257"/>
            <p14:sldId id="258"/>
            <p14:sldId id="259"/>
          </p14:sldIdLst>
        </p14:section>
        <p14:section name="TPM" id="{070a24a9-837b-8157-0e68-83a9bcdadf72}">
          <p14:sldIdLst>
            <p14:sldId id="260"/>
            <p14:sldId id="261"/>
            <p14:sldId id="262"/>
          </p14:sldIdLst>
        </p14:section>
        <p14:section name="Lean" id="{98973983-2462-df61-0061-cf8396cf67a2}">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we are Group 1. Our Lean methods are Kanban, which manages workflow and inventory visually, and TPM, Total Productive Maintenance, which keeps equipment reliable. For each method we cover its purpose, principles and implementation steps, the problems it solves and practical examples. Then we answer why organizations implement Lean and what the main challenges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Kanban means signboard. Its purpose is to manage workflow and inventory visually: a step only produces or moves work when the next step pulls it, so nothing is overproduced and stock stays low. The main principles are: make the work visible on a board, pull instead of push, limit work in progress, produce nothing without a kanban signal, never pass defects to the next step, and keep improving.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implement Kanban: first map the process to see where stock and waiting build up. Choose the signal: a card, a two-bin system or an electronic kanban. Calculate how many cards the loop needs from demand, lead time, a safety factor and bin size. Build the board and cards, set WIP limits and clear rules, train people and start with a pilot. Then review lead times and remove cards step by step. The picture shows the simplest version, the two-bin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Kanban solves overproduction and excess stock, because the number of cards caps inventory. It prevents stockouts, because refills follow real usage. WIP limits shorten lead times, the board shows bottlenecks, and teams stop multitasking. Examples: car plants use two-bin racks and supplier kanbans; hospitals use two-bin cabinets for supplies; software teams use boards with WIP limits; and offices track requests or vacancies as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TPM, Total Productive Maintenance, aims for perfect production: zero breakdowns, zero defects and zero accidents. Its purpose is reliable, fully effective equipment, and the key idea is shared ownership: operators take care of their own machines instead of saying 'I operate, you fix'. TPM rests on eight pillars built on 5S: autonomous maintenance, planned maintenance, focused improvement, quality maintenance, early equipment management, training, safety, and TPM in the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TPM is usually introduced in twelve steps grouped in four phases. In preparation, management announces TPM, trains people, creates a TPM team and sets targets and a master plan. Introduction is the kick-off, often with a pilot on one model machine. In implementation the pillars are rolled out: autonomous and planned maintenance, focused improvement, training, quality and safety. Finally, stabilization: sustain the system, audit it and raise the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TPM solves unplanned breakdowns, chronic minor stops and slow running, defects caused by poorly maintained machines, high maintenance costs and safety incidents. It also removes the 'I operate, you fix' split between production and maintenance. In practice: operators do a five-minute check every shift, cleaning, inspecting, lubricating and tightening; they tag abnormalities like leaks; maintenance follows a planned calendar; and every month the team reviews OEE, overall equipment effectiveness, and fixes the biggest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organizations implement Lean? To eliminate waste, which lowers costs, speeds up delivery and raises quality, while employees solve problems every day and the company becomes more competitive. The main challenges are resistance to change, weak leadership support, treating Lean as just a set of tools, no time for training, losing the gains, and unreliable machines or suppliers. We overcome them by involving people early, leading from the shop floor, explaining the why, planning training, using standards and audits, and starting TPM on bottleneck machines.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5669280" cy="17373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3886200"/>
            <a:ext cx="5486400" cy="10058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Lean Methods · Group 1 · Kanban &amp; TPM</a:t>
            </a:r>
            <a:endParaRPr lang="en-US" sz="1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3.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3.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5669280" cy="1737360"/>
          </a:xfrm>
          <a:prstGeom prst="rect">
            <a:avLst/>
          </a:prstGeom>
          <a:noFill/>
          <a:ln/>
        </p:spPr>
        <p:txBody>
          <a:bodyPr wrap="square" lIns="0" tIns="0" rIns="0" bIns="0" rtlCol="0" anchor="b"/>
          <a:lstStyle/>
          <a:p>
            <a:pPr algn="l" indent="0" marL="0">
              <a:buNone/>
            </a:pPr>
            <a:r>
              <a:rPr lang="en-US" sz="5400" b="1" dirty="0">
                <a:solidFill>
                  <a:schemeClr val="bg1"/>
                </a:solidFill>
              </a:rPr>
              <a:t>Kanban &amp; TPM</a:t>
            </a:r>
            <a:endParaRPr lang="en-US" sz="5400" dirty="0"/>
          </a:p>
        </p:txBody>
      </p:sp>
      <p:sp>
        <p:nvSpPr>
          <p:cNvPr id="3" name="Text 0"/>
          <p:cNvSpPr/>
          <p:nvPr>
            <p:ph idx="101" type="body" hasCustomPrompt="1"/>
          </p:nvPr>
        </p:nvSpPr>
        <p:spPr>
          <a:xfrm>
            <a:off x="548640" y="3886200"/>
            <a:ext cx="5486400" cy="1005840"/>
          </a:xfrm>
          <a:prstGeom prst="rect">
            <a:avLst/>
          </a:prstGeom>
          <a:noFill/>
          <a:ln/>
        </p:spPr>
        <p:txBody>
          <a:bodyPr wrap="square" lIns="0" tIns="0" rIns="0" bIns="0" rtlCol="0" anchor="t"/>
          <a:lstStyle/>
          <a:p>
            <a:pPr algn="l" indent="0" marL="0">
              <a:buNone/>
            </a:pPr>
            <a:r>
              <a:rPr lang="en-US" sz="2000" dirty="0">
                <a:solidFill>
                  <a:schemeClr val="bg2"/>
                </a:solidFill>
              </a:rPr>
              <a:t>Kanban: visual workflow and inventory management. TPM (Total Productive Maintenance): equipment maintenance and reliability.</a:t>
            </a:r>
            <a:endParaRPr lang="en-US" sz="2000" dirty="0"/>
          </a:p>
        </p:txBody>
      </p:sp>
      <p:sp>
        <p:nvSpPr>
          <p:cNvPr id="4" name="Text 2"/>
          <p:cNvSpPr txBox="1"/>
          <p:nvPr/>
        </p:nvSpPr>
        <p:spPr>
          <a:xfrm>
            <a:off x="548640" y="1600200"/>
            <a:ext cx="566928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LEAN METHODS · PRACTICAL ASSIGNMENT · GROUP 1</a:t>
            </a:r>
            <a:endParaRPr lang="en-US" sz="1300" dirty="0"/>
          </a:p>
        </p:txBody>
      </p:sp>
      <p:pic>
        <p:nvPicPr>
          <p:cNvPr id="5" name="render3d_hero" descr="3D illustration: kanban cards flowing from a parts bin into turning gears">    </p:cNvPr>
          <p:cNvPicPr>
            <a:picLocks noChangeAspect="1"/>
          </p:cNvPicPr>
          <p:nvPr/>
        </p:nvPicPr>
        <p:blipFill>
          <a:blip r:embed="rId1"/>
          <a:stretch>
            <a:fillRect/>
          </a:stretch>
        </p:blipFill>
        <p:spPr>
          <a:xfrm>
            <a:off x="6035040" y="1234440"/>
            <a:ext cx="5852160" cy="383873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400">
        <p14:flythrough/>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hip"/>
          <p:cNvSpPr/>
          <p:nvPr/>
        </p:nvSpPr>
        <p:spPr>
          <a:xfrm>
            <a:off x="548640" y="237744"/>
            <a:ext cx="2747772"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050" b="1" spc="150" kern="0" dirty="0">
                <a:solidFill>
                  <a:schemeClr val="bg1"/>
                </a:solidFill>
              </a:rPr>
              <a:t>KANBAN · PURPOSE &amp; PRINCIPLES</a:t>
            </a:r>
            <a:endParaRPr lang="en-US" sz="1050" dirty="0"/>
          </a:p>
        </p:txBody>
      </p:sp>
      <p:sp>
        <p:nvSpPr>
          <p:cNvPr id="3"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Kanban: purpose and principles</a:t>
            </a:r>
            <a:endParaRPr lang="en-US" sz="3400" dirty="0"/>
          </a:p>
        </p:txBody>
      </p:sp>
      <p:pic>
        <p:nvPicPr>
          <p:cNvPr id="4" name="render3d_kanban" descr="3D illustration of a kanban board with To do, In progress (WIP 3), Check (WIP 2) and Done columns">    </p:cNvPr>
          <p:cNvPicPr>
            <a:picLocks noChangeAspect="1"/>
          </p:cNvPicPr>
          <p:nvPr/>
        </p:nvPicPr>
        <p:blipFill>
          <a:blip r:embed="rId1"/>
          <a:stretch>
            <a:fillRect/>
          </a:stretch>
        </p:blipFill>
        <p:spPr>
          <a:xfrm>
            <a:off x="548640" y="1645920"/>
            <a:ext cx="4846320" cy="3759569"/>
          </a:xfrm>
          <a:prstGeom prst="rect">
            <a:avLst/>
          </a:prstGeom>
        </p:spPr>
      </p:pic>
      <p:sp>
        <p:nvSpPr>
          <p:cNvPr id="5" name="Text 2"/>
          <p:cNvSpPr txBox="1"/>
          <p:nvPr/>
        </p:nvSpPr>
        <p:spPr>
          <a:xfrm>
            <a:off x="548640" y="5532120"/>
            <a:ext cx="4846320" cy="548640"/>
          </a:xfrm>
          <a:prstGeom prst="rect">
            <a:avLst/>
          </a:prstGeom>
          <a:noFill/>
          <a:ln/>
        </p:spPr>
        <p:txBody>
          <a:bodyPr wrap="square" lIns="0" tIns="0" rIns="0" bIns="0" rtlCol="0" anchor="t"/>
          <a:lstStyle/>
          <a:p>
            <a:pPr indent="0" marL="0">
              <a:buNone/>
            </a:pPr>
            <a:r>
              <a:rPr lang="en-US" sz="1400" b="1" dirty="0">
                <a:solidFill>
                  <a:schemeClr val="tx2"/>
                </a:solidFill>
              </a:rPr>
              <a:t>Kanban (看板) </a:t>
            </a:r>
            <a:pPr indent="0" marL="0">
              <a:buNone/>
            </a:pPr>
            <a:r>
              <a:rPr lang="en-US" sz="1400" dirty="0">
                <a:solidFill>
                  <a:schemeClr val="tx2"/>
                </a:solidFill>
              </a:rPr>
              <a:t>means “signboard”: a visual signal that authorizes work.</a:t>
            </a:r>
            <a:endParaRPr lang="en-US" sz="1400" dirty="0"/>
          </a:p>
        </p:txBody>
      </p:sp>
      <p:sp>
        <p:nvSpPr>
          <p:cNvPr id="6" name="Text 3"/>
          <p:cNvSpPr txBox="1"/>
          <p:nvPr/>
        </p:nvSpPr>
        <p:spPr>
          <a:xfrm>
            <a:off x="5760720" y="1600200"/>
            <a:ext cx="5882335"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PURPOSE</a:t>
            </a:r>
            <a:endParaRPr lang="en-US" sz="1200" dirty="0"/>
          </a:p>
        </p:txBody>
      </p:sp>
      <p:sp>
        <p:nvSpPr>
          <p:cNvPr id="7" name="Text 4"/>
          <p:cNvSpPr txBox="1"/>
          <p:nvPr/>
        </p:nvSpPr>
        <p:spPr>
          <a:xfrm>
            <a:off x="5760720" y="1901952"/>
            <a:ext cx="5882335" cy="914400"/>
          </a:xfrm>
          <a:prstGeom prst="rect">
            <a:avLst/>
          </a:prstGeom>
          <a:noFill/>
          <a:ln/>
        </p:spPr>
        <p:txBody>
          <a:bodyPr wrap="square" lIns="0" tIns="0" rIns="0" bIns="0" rtlCol="0" anchor="t"/>
          <a:lstStyle/>
          <a:p>
            <a:pPr indent="0" marL="0">
              <a:buNone/>
            </a:pPr>
            <a:r>
              <a:rPr lang="en-US" sz="1700" dirty="0">
                <a:solidFill>
                  <a:schemeClr val="tx1"/>
                </a:solidFill>
              </a:rPr>
              <a:t>Manage workflow and inventory visually: each step makes or moves work only when the next step pulls it, so there is no overproduction and no excess stock.</a:t>
            </a:r>
            <a:endParaRPr lang="en-US" sz="1700" dirty="0"/>
          </a:p>
        </p:txBody>
      </p:sp>
      <p:sp>
        <p:nvSpPr>
          <p:cNvPr id="8" name="Text 5"/>
          <p:cNvSpPr txBox="1"/>
          <p:nvPr/>
        </p:nvSpPr>
        <p:spPr>
          <a:xfrm>
            <a:off x="5760720" y="2971800"/>
            <a:ext cx="5882335"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MAIN PRINCIPLES</a:t>
            </a:r>
            <a:endParaRPr lang="en-US" sz="1200" dirty="0"/>
          </a:p>
        </p:txBody>
      </p:sp>
      <p:sp>
        <p:nvSpPr>
          <p:cNvPr id="9" name="3DC_principle"/>
          <p:cNvSpPr/>
          <p:nvPr/>
        </p:nvSpPr>
        <p:spPr>
          <a:xfrm>
            <a:off x="5760720" y="3291840"/>
            <a:ext cx="2826868" cy="777240"/>
          </a:xfrm>
          <a:prstGeom prst="roundRect">
            <a:avLst>
              <a:gd name="adj" fmla="val 14118"/>
            </a:avLst>
          </a:prstGeom>
          <a:solidFill>
            <a:schemeClr val="bg2"/>
          </a:solidFill>
          <a:ln w="12700">
            <a:solidFill>
              <a:schemeClr val="bg2"/>
            </a:solidFill>
            <a:prstDash val="solid"/>
          </a:ln>
          <a:scene3d>
            <a:camera prst="orthographicFront"/>
            <a:lightRig rig="threePt" dir="t"/>
          </a:scene3d>
          <a:sp3d>
            <a:bevelT w="25400" h="12700" prst="softRound"/>
          </a:sp3d>
        </p:spPr>
      </p:sp>
      <p:sp>
        <p:nvSpPr>
          <p:cNvPr id="10" name="3DB_icon"/>
          <p:cNvSpPr/>
          <p:nvPr/>
        </p:nvSpPr>
        <p:spPr>
          <a:xfrm>
            <a:off x="5916168" y="3447288"/>
            <a:ext cx="475488" cy="475488"/>
          </a:xfrm>
          <a:prstGeom prst="ellipse">
            <a:avLst/>
          </a:prstGeom>
          <a:solidFill>
            <a:schemeClr val="accent1"/>
          </a:solidFill>
          <a:ln w="12700">
            <a:solidFill>
              <a:schemeClr val="accent1"/>
            </a:solidFill>
            <a:prstDash val="solid"/>
          </a:ln>
          <a:scene3d>
            <a:camera prst="orthographicFront"/>
            <a:lightRig rig="threePt" dir="t"/>
          </a:scene3d>
          <a:sp3d prstMaterial="plastic">
            <a:bevelT w="88900" h="38100"/>
          </a:sp3d>
        </p:spPr>
      </p:sp>
      <p:pic>
        <p:nvPicPr>
          <p:cNvPr id="11" name="icon_FaEye" descr="preencoded.png">    </p:cNvPr>
          <p:cNvPicPr>
            <a:picLocks noChangeAspect="1"/>
          </p:cNvPicPr>
          <p:nvPr/>
        </p:nvPicPr>
        <p:blipFill>
          <a:blip r:embed="rId2"/>
          <a:stretch>
            <a:fillRect/>
          </a:stretch>
        </p:blipFill>
        <p:spPr>
          <a:xfrm>
            <a:off x="6044550" y="3575670"/>
            <a:ext cx="218724" cy="218724"/>
          </a:xfrm>
          <a:prstGeom prst="rect">
            <a:avLst/>
          </a:prstGeom>
        </p:spPr>
      </p:pic>
      <p:sp>
        <p:nvSpPr>
          <p:cNvPr id="12" name="Text 8"/>
          <p:cNvSpPr txBox="1"/>
          <p:nvPr/>
        </p:nvSpPr>
        <p:spPr>
          <a:xfrm>
            <a:off x="6537960" y="3291840"/>
            <a:ext cx="1912468" cy="777240"/>
          </a:xfrm>
          <a:prstGeom prst="rect">
            <a:avLst/>
          </a:prstGeom>
          <a:noFill/>
          <a:ln/>
        </p:spPr>
        <p:txBody>
          <a:bodyPr wrap="square" lIns="0" tIns="0" rIns="0" bIns="0" rtlCol="0" anchor="ctr"/>
          <a:lstStyle/>
          <a:p>
            <a:pPr indent="0" marL="0">
              <a:buNone/>
            </a:pPr>
            <a:r>
              <a:rPr lang="en-US" sz="1600" b="1" dirty="0">
                <a:solidFill>
                  <a:schemeClr val="tx1"/>
                </a:solidFill>
              </a:rPr>
              <a:t>Visualize the work</a:t>
            </a:r>
            <a:endParaRPr lang="en-US" sz="1600" dirty="0"/>
          </a:p>
        </p:txBody>
      </p:sp>
      <p:sp>
        <p:nvSpPr>
          <p:cNvPr id="13" name="3DC_principle"/>
          <p:cNvSpPr/>
          <p:nvPr/>
        </p:nvSpPr>
        <p:spPr>
          <a:xfrm>
            <a:off x="8816188" y="3291840"/>
            <a:ext cx="2826868" cy="777240"/>
          </a:xfrm>
          <a:prstGeom prst="roundRect">
            <a:avLst>
              <a:gd name="adj" fmla="val 14118"/>
            </a:avLst>
          </a:prstGeom>
          <a:solidFill>
            <a:schemeClr val="bg2"/>
          </a:solidFill>
          <a:ln w="12700">
            <a:solidFill>
              <a:schemeClr val="bg2"/>
            </a:solidFill>
            <a:prstDash val="solid"/>
          </a:ln>
          <a:scene3d>
            <a:camera prst="orthographicFront"/>
            <a:lightRig rig="threePt" dir="t"/>
          </a:scene3d>
          <a:sp3d>
            <a:bevelT w="25400" h="12700" prst="softRound"/>
          </a:sp3d>
        </p:spPr>
      </p:sp>
      <p:sp>
        <p:nvSpPr>
          <p:cNvPr id="14" name="3DB_icon"/>
          <p:cNvSpPr/>
          <p:nvPr/>
        </p:nvSpPr>
        <p:spPr>
          <a:xfrm>
            <a:off x="8971636" y="3447288"/>
            <a:ext cx="475488" cy="475488"/>
          </a:xfrm>
          <a:prstGeom prst="ellipse">
            <a:avLst/>
          </a:prstGeom>
          <a:solidFill>
            <a:schemeClr val="accent1"/>
          </a:solidFill>
          <a:ln w="12700">
            <a:solidFill>
              <a:schemeClr val="accent1"/>
            </a:solidFill>
            <a:prstDash val="solid"/>
          </a:ln>
          <a:scene3d>
            <a:camera prst="orthographicFront"/>
            <a:lightRig rig="threePt" dir="t"/>
          </a:scene3d>
          <a:sp3d prstMaterial="plastic">
            <a:bevelT w="88900" h="38100"/>
          </a:sp3d>
        </p:spPr>
      </p:sp>
      <p:pic>
        <p:nvPicPr>
          <p:cNvPr id="15" name="icon_FaArrowCircleLeft" descr="preencoded.png">    </p:cNvPr>
          <p:cNvPicPr>
            <a:picLocks noChangeAspect="1"/>
          </p:cNvPicPr>
          <p:nvPr/>
        </p:nvPicPr>
        <p:blipFill>
          <a:blip r:embed="rId3"/>
          <a:stretch>
            <a:fillRect/>
          </a:stretch>
        </p:blipFill>
        <p:spPr>
          <a:xfrm>
            <a:off x="9100017" y="3575670"/>
            <a:ext cx="218724" cy="218724"/>
          </a:xfrm>
          <a:prstGeom prst="rect">
            <a:avLst/>
          </a:prstGeom>
        </p:spPr>
      </p:pic>
      <p:sp>
        <p:nvSpPr>
          <p:cNvPr id="16" name="Text 11"/>
          <p:cNvSpPr txBox="1"/>
          <p:nvPr/>
        </p:nvSpPr>
        <p:spPr>
          <a:xfrm>
            <a:off x="9593428" y="3291840"/>
            <a:ext cx="1912468" cy="777240"/>
          </a:xfrm>
          <a:prstGeom prst="rect">
            <a:avLst/>
          </a:prstGeom>
          <a:noFill/>
          <a:ln/>
        </p:spPr>
        <p:txBody>
          <a:bodyPr wrap="square" lIns="0" tIns="0" rIns="0" bIns="0" rtlCol="0" anchor="ctr"/>
          <a:lstStyle/>
          <a:p>
            <a:pPr indent="0" marL="0">
              <a:buNone/>
            </a:pPr>
            <a:r>
              <a:rPr lang="en-US" sz="1600" b="1" dirty="0">
                <a:solidFill>
                  <a:schemeClr val="tx1"/>
                </a:solidFill>
              </a:rPr>
              <a:t>Pull, don’t push</a:t>
            </a:r>
            <a:endParaRPr lang="en-US" sz="1600" dirty="0"/>
          </a:p>
        </p:txBody>
      </p:sp>
      <p:sp>
        <p:nvSpPr>
          <p:cNvPr id="17" name="3DC_principle"/>
          <p:cNvSpPr/>
          <p:nvPr/>
        </p:nvSpPr>
        <p:spPr>
          <a:xfrm>
            <a:off x="5760720" y="4187952"/>
            <a:ext cx="2826868" cy="777240"/>
          </a:xfrm>
          <a:prstGeom prst="roundRect">
            <a:avLst>
              <a:gd name="adj" fmla="val 14118"/>
            </a:avLst>
          </a:prstGeom>
          <a:solidFill>
            <a:schemeClr val="bg2"/>
          </a:solidFill>
          <a:ln w="12700">
            <a:solidFill>
              <a:schemeClr val="bg2"/>
            </a:solidFill>
            <a:prstDash val="solid"/>
          </a:ln>
          <a:scene3d>
            <a:camera prst="orthographicFront"/>
            <a:lightRig rig="threePt" dir="t"/>
          </a:scene3d>
          <a:sp3d>
            <a:bevelT w="25400" h="12700" prst="softRound"/>
          </a:sp3d>
        </p:spPr>
      </p:sp>
      <p:sp>
        <p:nvSpPr>
          <p:cNvPr id="18" name="3DB_icon"/>
          <p:cNvSpPr/>
          <p:nvPr/>
        </p:nvSpPr>
        <p:spPr>
          <a:xfrm>
            <a:off x="5916168" y="4343400"/>
            <a:ext cx="475488" cy="475488"/>
          </a:xfrm>
          <a:prstGeom prst="ellipse">
            <a:avLst/>
          </a:prstGeom>
          <a:solidFill>
            <a:schemeClr val="accent1"/>
          </a:solidFill>
          <a:ln w="12700">
            <a:solidFill>
              <a:schemeClr val="accent1"/>
            </a:solidFill>
            <a:prstDash val="solid"/>
          </a:ln>
          <a:scene3d>
            <a:camera prst="orthographicFront"/>
            <a:lightRig rig="threePt" dir="t"/>
          </a:scene3d>
          <a:sp3d prstMaterial="plastic">
            <a:bevelT w="88900" h="38100"/>
          </a:sp3d>
        </p:spPr>
      </p:sp>
      <p:pic>
        <p:nvPicPr>
          <p:cNvPr id="19" name="icon_FaFilter" descr="preencoded.png">    </p:cNvPr>
          <p:cNvPicPr>
            <a:picLocks noChangeAspect="1"/>
          </p:cNvPicPr>
          <p:nvPr/>
        </p:nvPicPr>
        <p:blipFill>
          <a:blip r:embed="rId4"/>
          <a:stretch>
            <a:fillRect/>
          </a:stretch>
        </p:blipFill>
        <p:spPr>
          <a:xfrm>
            <a:off x="6044550" y="4471782"/>
            <a:ext cx="218724" cy="218724"/>
          </a:xfrm>
          <a:prstGeom prst="rect">
            <a:avLst/>
          </a:prstGeom>
        </p:spPr>
      </p:pic>
      <p:sp>
        <p:nvSpPr>
          <p:cNvPr id="20" name="Text 14"/>
          <p:cNvSpPr txBox="1"/>
          <p:nvPr/>
        </p:nvSpPr>
        <p:spPr>
          <a:xfrm>
            <a:off x="6537960" y="4187952"/>
            <a:ext cx="1912468" cy="777240"/>
          </a:xfrm>
          <a:prstGeom prst="rect">
            <a:avLst/>
          </a:prstGeom>
          <a:noFill/>
          <a:ln/>
        </p:spPr>
        <p:txBody>
          <a:bodyPr wrap="square" lIns="0" tIns="0" rIns="0" bIns="0" rtlCol="0" anchor="ctr"/>
          <a:lstStyle/>
          <a:p>
            <a:pPr indent="0" marL="0">
              <a:buNone/>
            </a:pPr>
            <a:r>
              <a:rPr lang="en-US" sz="1600" b="1" dirty="0">
                <a:solidFill>
                  <a:schemeClr val="tx1"/>
                </a:solidFill>
              </a:rPr>
              <a:t>Limit work in progress</a:t>
            </a:r>
            <a:endParaRPr lang="en-US" sz="1600" dirty="0"/>
          </a:p>
        </p:txBody>
      </p:sp>
      <p:sp>
        <p:nvSpPr>
          <p:cNvPr id="21" name="3DC_principle"/>
          <p:cNvSpPr/>
          <p:nvPr/>
        </p:nvSpPr>
        <p:spPr>
          <a:xfrm>
            <a:off x="8816188" y="4187952"/>
            <a:ext cx="2826868" cy="777240"/>
          </a:xfrm>
          <a:prstGeom prst="roundRect">
            <a:avLst>
              <a:gd name="adj" fmla="val 14118"/>
            </a:avLst>
          </a:prstGeom>
          <a:solidFill>
            <a:schemeClr val="bg2"/>
          </a:solidFill>
          <a:ln w="12700">
            <a:solidFill>
              <a:schemeClr val="bg2"/>
            </a:solidFill>
            <a:prstDash val="solid"/>
          </a:ln>
          <a:scene3d>
            <a:camera prst="orthographicFront"/>
            <a:lightRig rig="threePt" dir="t"/>
          </a:scene3d>
          <a:sp3d>
            <a:bevelT w="25400" h="12700" prst="softRound"/>
          </a:sp3d>
        </p:spPr>
      </p:sp>
      <p:sp>
        <p:nvSpPr>
          <p:cNvPr id="22" name="3DB_icon"/>
          <p:cNvSpPr/>
          <p:nvPr/>
        </p:nvSpPr>
        <p:spPr>
          <a:xfrm>
            <a:off x="8971636" y="4343400"/>
            <a:ext cx="475488" cy="475488"/>
          </a:xfrm>
          <a:prstGeom prst="ellipse">
            <a:avLst/>
          </a:prstGeom>
          <a:solidFill>
            <a:schemeClr val="accent1"/>
          </a:solidFill>
          <a:ln w="12700">
            <a:solidFill>
              <a:schemeClr val="accent1"/>
            </a:solidFill>
            <a:prstDash val="solid"/>
          </a:ln>
          <a:scene3d>
            <a:camera prst="orthographicFront"/>
            <a:lightRig rig="threePt" dir="t"/>
          </a:scene3d>
          <a:sp3d prstMaterial="plastic">
            <a:bevelT w="88900" h="38100"/>
          </a:sp3d>
        </p:spPr>
      </p:sp>
      <p:pic>
        <p:nvPicPr>
          <p:cNvPr id="23" name="icon_FaTag" descr="preencoded.png">    </p:cNvPr>
          <p:cNvPicPr>
            <a:picLocks noChangeAspect="1"/>
          </p:cNvPicPr>
          <p:nvPr/>
        </p:nvPicPr>
        <p:blipFill>
          <a:blip r:embed="rId5"/>
          <a:stretch>
            <a:fillRect/>
          </a:stretch>
        </p:blipFill>
        <p:spPr>
          <a:xfrm>
            <a:off x="9100017" y="4471782"/>
            <a:ext cx="218724" cy="218724"/>
          </a:xfrm>
          <a:prstGeom prst="rect">
            <a:avLst/>
          </a:prstGeom>
        </p:spPr>
      </p:pic>
      <p:sp>
        <p:nvSpPr>
          <p:cNvPr id="24" name="Text 17"/>
          <p:cNvSpPr txBox="1"/>
          <p:nvPr/>
        </p:nvSpPr>
        <p:spPr>
          <a:xfrm>
            <a:off x="9593428" y="4187952"/>
            <a:ext cx="1912468" cy="777240"/>
          </a:xfrm>
          <a:prstGeom prst="rect">
            <a:avLst/>
          </a:prstGeom>
          <a:noFill/>
          <a:ln/>
        </p:spPr>
        <p:txBody>
          <a:bodyPr wrap="square" lIns="0" tIns="0" rIns="0" bIns="0" rtlCol="0" anchor="ctr"/>
          <a:lstStyle/>
          <a:p>
            <a:pPr indent="0" marL="0">
              <a:buNone/>
            </a:pPr>
            <a:r>
              <a:rPr lang="en-US" sz="1600" b="1" dirty="0">
                <a:solidFill>
                  <a:schemeClr val="tx1"/>
                </a:solidFill>
              </a:rPr>
              <a:t>No kanban, no production</a:t>
            </a:r>
            <a:endParaRPr lang="en-US" sz="1600" dirty="0"/>
          </a:p>
        </p:txBody>
      </p:sp>
      <p:sp>
        <p:nvSpPr>
          <p:cNvPr id="25" name="3DC_principle"/>
          <p:cNvSpPr/>
          <p:nvPr/>
        </p:nvSpPr>
        <p:spPr>
          <a:xfrm>
            <a:off x="5760720" y="5084064"/>
            <a:ext cx="2826868" cy="777240"/>
          </a:xfrm>
          <a:prstGeom prst="roundRect">
            <a:avLst>
              <a:gd name="adj" fmla="val 14118"/>
            </a:avLst>
          </a:prstGeom>
          <a:solidFill>
            <a:schemeClr val="bg2"/>
          </a:solidFill>
          <a:ln w="12700">
            <a:solidFill>
              <a:schemeClr val="bg2"/>
            </a:solidFill>
            <a:prstDash val="solid"/>
          </a:ln>
          <a:scene3d>
            <a:camera prst="orthographicFront"/>
            <a:lightRig rig="threePt" dir="t"/>
          </a:scene3d>
          <a:sp3d>
            <a:bevelT w="25400" h="12700" prst="softRound"/>
          </a:sp3d>
        </p:spPr>
      </p:sp>
      <p:sp>
        <p:nvSpPr>
          <p:cNvPr id="26" name="3DB_icon"/>
          <p:cNvSpPr/>
          <p:nvPr/>
        </p:nvSpPr>
        <p:spPr>
          <a:xfrm>
            <a:off x="5916168" y="5239512"/>
            <a:ext cx="475488" cy="475488"/>
          </a:xfrm>
          <a:prstGeom prst="ellipse">
            <a:avLst/>
          </a:prstGeom>
          <a:solidFill>
            <a:schemeClr val="accent1"/>
          </a:solidFill>
          <a:ln w="12700">
            <a:solidFill>
              <a:schemeClr val="accent1"/>
            </a:solidFill>
            <a:prstDash val="solid"/>
          </a:ln>
          <a:scene3d>
            <a:camera prst="orthographicFront"/>
            <a:lightRig rig="threePt" dir="t"/>
          </a:scene3d>
          <a:sp3d prstMaterial="plastic">
            <a:bevelT w="88900" h="38100"/>
          </a:sp3d>
        </p:spPr>
      </p:sp>
      <p:pic>
        <p:nvPicPr>
          <p:cNvPr id="27" name="icon_FaShieldAlt" descr="preencoded.png">    </p:cNvPr>
          <p:cNvPicPr>
            <a:picLocks noChangeAspect="1"/>
          </p:cNvPicPr>
          <p:nvPr/>
        </p:nvPicPr>
        <p:blipFill>
          <a:blip r:embed="rId6"/>
          <a:stretch>
            <a:fillRect/>
          </a:stretch>
        </p:blipFill>
        <p:spPr>
          <a:xfrm>
            <a:off x="6044550" y="5367894"/>
            <a:ext cx="218724" cy="218724"/>
          </a:xfrm>
          <a:prstGeom prst="rect">
            <a:avLst/>
          </a:prstGeom>
        </p:spPr>
      </p:pic>
      <p:sp>
        <p:nvSpPr>
          <p:cNvPr id="28" name="Text 20"/>
          <p:cNvSpPr txBox="1"/>
          <p:nvPr/>
        </p:nvSpPr>
        <p:spPr>
          <a:xfrm>
            <a:off x="6537960" y="5084064"/>
            <a:ext cx="1912468" cy="777240"/>
          </a:xfrm>
          <a:prstGeom prst="rect">
            <a:avLst/>
          </a:prstGeom>
          <a:noFill/>
          <a:ln/>
        </p:spPr>
        <p:txBody>
          <a:bodyPr wrap="square" lIns="0" tIns="0" rIns="0" bIns="0" rtlCol="0" anchor="ctr"/>
          <a:lstStyle/>
          <a:p>
            <a:pPr indent="0" marL="0">
              <a:buNone/>
            </a:pPr>
            <a:r>
              <a:rPr lang="en-US" sz="1600" b="1" dirty="0">
                <a:solidFill>
                  <a:schemeClr val="tx1"/>
                </a:solidFill>
              </a:rPr>
              <a:t>Never pass defects on</a:t>
            </a:r>
            <a:endParaRPr lang="en-US" sz="1600" dirty="0"/>
          </a:p>
        </p:txBody>
      </p:sp>
      <p:sp>
        <p:nvSpPr>
          <p:cNvPr id="29" name="3DC_principle"/>
          <p:cNvSpPr/>
          <p:nvPr/>
        </p:nvSpPr>
        <p:spPr>
          <a:xfrm>
            <a:off x="8816188" y="5084064"/>
            <a:ext cx="2826868" cy="777240"/>
          </a:xfrm>
          <a:prstGeom prst="roundRect">
            <a:avLst>
              <a:gd name="adj" fmla="val 14118"/>
            </a:avLst>
          </a:prstGeom>
          <a:solidFill>
            <a:schemeClr val="bg2"/>
          </a:solidFill>
          <a:ln w="12700">
            <a:solidFill>
              <a:schemeClr val="bg2"/>
            </a:solidFill>
            <a:prstDash val="solid"/>
          </a:ln>
          <a:scene3d>
            <a:camera prst="orthographicFront"/>
            <a:lightRig rig="threePt" dir="t"/>
          </a:scene3d>
          <a:sp3d>
            <a:bevelT w="25400" h="12700" prst="softRound"/>
          </a:sp3d>
        </p:spPr>
      </p:sp>
      <p:sp>
        <p:nvSpPr>
          <p:cNvPr id="30" name="3DB_icon"/>
          <p:cNvSpPr/>
          <p:nvPr/>
        </p:nvSpPr>
        <p:spPr>
          <a:xfrm>
            <a:off x="8971636" y="5239512"/>
            <a:ext cx="475488" cy="475488"/>
          </a:xfrm>
          <a:prstGeom prst="ellipse">
            <a:avLst/>
          </a:prstGeom>
          <a:solidFill>
            <a:schemeClr val="accent1"/>
          </a:solidFill>
          <a:ln w="12700">
            <a:solidFill>
              <a:schemeClr val="accent1"/>
            </a:solidFill>
            <a:prstDash val="solid"/>
          </a:ln>
          <a:scene3d>
            <a:camera prst="orthographicFront"/>
            <a:lightRig rig="threePt" dir="t"/>
          </a:scene3d>
          <a:sp3d prstMaterial="plastic">
            <a:bevelT w="88900" h="38100"/>
          </a:sp3d>
        </p:spPr>
      </p:sp>
      <p:pic>
        <p:nvPicPr>
          <p:cNvPr id="31" name="icon_FaSyncAlt" descr="preencoded.png">    </p:cNvPr>
          <p:cNvPicPr>
            <a:picLocks noChangeAspect="1"/>
          </p:cNvPicPr>
          <p:nvPr/>
        </p:nvPicPr>
        <p:blipFill>
          <a:blip r:embed="rId7"/>
          <a:stretch>
            <a:fillRect/>
          </a:stretch>
        </p:blipFill>
        <p:spPr>
          <a:xfrm>
            <a:off x="9100017" y="5367894"/>
            <a:ext cx="218724" cy="218724"/>
          </a:xfrm>
          <a:prstGeom prst="rect">
            <a:avLst/>
          </a:prstGeom>
        </p:spPr>
      </p:pic>
      <p:sp>
        <p:nvSpPr>
          <p:cNvPr id="32" name="Text 23"/>
          <p:cNvSpPr txBox="1"/>
          <p:nvPr/>
        </p:nvSpPr>
        <p:spPr>
          <a:xfrm>
            <a:off x="9593428" y="5084064"/>
            <a:ext cx="1912468" cy="777240"/>
          </a:xfrm>
          <a:prstGeom prst="rect">
            <a:avLst/>
          </a:prstGeom>
          <a:noFill/>
          <a:ln/>
        </p:spPr>
        <p:txBody>
          <a:bodyPr wrap="square" lIns="0" tIns="0" rIns="0" bIns="0" rtlCol="0" anchor="ctr"/>
          <a:lstStyle/>
          <a:p>
            <a:pPr indent="0" marL="0">
              <a:buNone/>
            </a:pPr>
            <a:r>
              <a:rPr lang="en-US" sz="1600" b="1" dirty="0">
                <a:solidFill>
                  <a:schemeClr val="tx1"/>
                </a:solidFill>
              </a:rPr>
              <a:t>Improve continuously</a:t>
            </a:r>
            <a:endParaRPr lang="en-US" sz="16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400">
        <p14:prism/>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hip"/>
          <p:cNvSpPr/>
          <p:nvPr/>
        </p:nvSpPr>
        <p:spPr>
          <a:xfrm>
            <a:off x="548640" y="237744"/>
            <a:ext cx="2226564"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050" b="1" spc="150" kern="0" dirty="0">
                <a:solidFill>
                  <a:schemeClr val="bg1"/>
                </a:solidFill>
              </a:rPr>
              <a:t>KANBAN · IMPLEMENTATION</a:t>
            </a:r>
            <a:endParaRPr lang="en-US" sz="1050" dirty="0"/>
          </a:p>
        </p:txBody>
      </p:sp>
      <p:sp>
        <p:nvSpPr>
          <p:cNvPr id="3"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Kanban: implementation steps</a:t>
            </a:r>
            <a:endParaRPr lang="en-US" sz="3400" dirty="0"/>
          </a:p>
        </p:txBody>
      </p:sp>
      <p:sp>
        <p:nvSpPr>
          <p:cNvPr id="4" name="3DC_step"/>
          <p:cNvSpPr/>
          <p:nvPr/>
        </p:nvSpPr>
        <p:spPr>
          <a:xfrm>
            <a:off x="548640" y="1645920"/>
            <a:ext cx="6400800" cy="548640"/>
          </a:xfrm>
          <a:prstGeom prst="roundRect">
            <a:avLst>
              <a:gd name="adj" fmla="val 20000"/>
            </a:avLst>
          </a:prstGeom>
          <a:solidFill>
            <a:schemeClr val="bg2"/>
          </a:solidFill>
          <a:ln w="12700">
            <a:solidFill>
              <a:schemeClr val="bg2"/>
            </a:solidFill>
            <a:prstDash val="solid"/>
          </a:ln>
          <a:scene3d>
            <a:camera prst="orthographicFront"/>
            <a:lightRig rig="threePt" dir="t"/>
          </a:scene3d>
          <a:sp3d>
            <a:bevelT w="25400" h="12700" prst="softRound"/>
          </a:sp3d>
        </p:spPr>
      </p:sp>
      <p:sp>
        <p:nvSpPr>
          <p:cNvPr id="5" name="3DB_num"/>
          <p:cNvSpPr/>
          <p:nvPr/>
        </p:nvSpPr>
        <p:spPr>
          <a:xfrm>
            <a:off x="658368" y="1709928"/>
            <a:ext cx="420624" cy="420624"/>
          </a:xfrm>
          <a:prstGeom prst="ellipse">
            <a:avLst/>
          </a:prstGeom>
          <a:solidFill>
            <a:schemeClr val="accent1"/>
          </a:solidFill>
          <a:ln>
            <a:solidFill>
              <a:schemeClr val="accent1"/>
            </a:solidFill>
          </a:ln>
          <a:scene3d>
            <a:camera prst="orthographicFront"/>
            <a:lightRig rig="threePt" dir="t"/>
          </a:scene3d>
          <a:sp3d prstMaterial="plastic">
            <a:bevelT w="88900" h="38100"/>
          </a:sp3d>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234440" y="1645920"/>
            <a:ext cx="2240280" cy="548640"/>
          </a:xfrm>
          <a:prstGeom prst="rect">
            <a:avLst/>
          </a:prstGeom>
          <a:noFill/>
          <a:ln/>
        </p:spPr>
        <p:txBody>
          <a:bodyPr wrap="square" lIns="0" tIns="0" rIns="0" bIns="0" rtlCol="0" anchor="ctr"/>
          <a:lstStyle/>
          <a:p>
            <a:pPr indent="0" marL="0">
              <a:buNone/>
            </a:pPr>
            <a:r>
              <a:rPr lang="en-US" sz="1600" b="1" dirty="0">
                <a:solidFill>
                  <a:schemeClr val="tx1"/>
                </a:solidFill>
              </a:rPr>
              <a:t>Map the process</a:t>
            </a:r>
            <a:endParaRPr lang="en-US" sz="1600" dirty="0"/>
          </a:p>
        </p:txBody>
      </p:sp>
      <p:sp>
        <p:nvSpPr>
          <p:cNvPr id="7" name="Text 5"/>
          <p:cNvSpPr txBox="1"/>
          <p:nvPr/>
        </p:nvSpPr>
        <p:spPr>
          <a:xfrm>
            <a:off x="3520440" y="1645920"/>
            <a:ext cx="3337560" cy="548640"/>
          </a:xfrm>
          <a:prstGeom prst="rect">
            <a:avLst/>
          </a:prstGeom>
          <a:noFill/>
          <a:ln/>
        </p:spPr>
        <p:txBody>
          <a:bodyPr wrap="square" lIns="0" tIns="0" rIns="0" bIns="0" rtlCol="0" anchor="ctr"/>
          <a:lstStyle/>
          <a:p>
            <a:pPr indent="0" marL="0">
              <a:buNone/>
            </a:pPr>
            <a:r>
              <a:rPr lang="en-US" sz="1400" dirty="0">
                <a:solidFill>
                  <a:schemeClr val="tx2"/>
                </a:solidFill>
              </a:rPr>
              <a:t>See where stock and waiting build up</a:t>
            </a:r>
            <a:endParaRPr lang="en-US" sz="1400" dirty="0"/>
          </a:p>
        </p:txBody>
      </p:sp>
      <p:sp>
        <p:nvSpPr>
          <p:cNvPr id="8" name="3DC_step"/>
          <p:cNvSpPr/>
          <p:nvPr/>
        </p:nvSpPr>
        <p:spPr>
          <a:xfrm>
            <a:off x="548640" y="2286000"/>
            <a:ext cx="6400800" cy="548640"/>
          </a:xfrm>
          <a:prstGeom prst="roundRect">
            <a:avLst>
              <a:gd name="adj" fmla="val 20000"/>
            </a:avLst>
          </a:prstGeom>
          <a:solidFill>
            <a:schemeClr val="bg2"/>
          </a:solidFill>
          <a:ln w="12700">
            <a:solidFill>
              <a:schemeClr val="bg2"/>
            </a:solidFill>
            <a:prstDash val="solid"/>
          </a:ln>
          <a:scene3d>
            <a:camera prst="orthographicFront"/>
            <a:lightRig rig="threePt" dir="t"/>
          </a:scene3d>
          <a:sp3d>
            <a:bevelT w="25400" h="12700" prst="softRound"/>
          </a:sp3d>
        </p:spPr>
      </p:sp>
      <p:sp>
        <p:nvSpPr>
          <p:cNvPr id="9" name="3DB_num"/>
          <p:cNvSpPr/>
          <p:nvPr/>
        </p:nvSpPr>
        <p:spPr>
          <a:xfrm>
            <a:off x="658368" y="2350008"/>
            <a:ext cx="420624" cy="420624"/>
          </a:xfrm>
          <a:prstGeom prst="ellipse">
            <a:avLst/>
          </a:prstGeom>
          <a:solidFill>
            <a:schemeClr val="accent1"/>
          </a:solidFill>
          <a:ln>
            <a:solidFill>
              <a:schemeClr val="accent1"/>
            </a:solidFill>
          </a:ln>
          <a:scene3d>
            <a:camera prst="orthographicFront"/>
            <a:lightRig rig="threePt" dir="t"/>
          </a:scene3d>
          <a:sp3d prstMaterial="plastic">
            <a:bevelT w="88900" h="38100"/>
          </a:sp3d>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1234440" y="2286000"/>
            <a:ext cx="2240280" cy="548640"/>
          </a:xfrm>
          <a:prstGeom prst="rect">
            <a:avLst/>
          </a:prstGeom>
          <a:noFill/>
          <a:ln/>
        </p:spPr>
        <p:txBody>
          <a:bodyPr wrap="square" lIns="0" tIns="0" rIns="0" bIns="0" rtlCol="0" anchor="ctr"/>
          <a:lstStyle/>
          <a:p>
            <a:pPr indent="0" marL="0">
              <a:buNone/>
            </a:pPr>
            <a:r>
              <a:rPr lang="en-US" sz="1600" b="1" dirty="0">
                <a:solidFill>
                  <a:schemeClr val="tx1"/>
                </a:solidFill>
              </a:rPr>
              <a:t>Choose the signal</a:t>
            </a:r>
            <a:endParaRPr lang="en-US" sz="1600" dirty="0"/>
          </a:p>
        </p:txBody>
      </p:sp>
      <p:sp>
        <p:nvSpPr>
          <p:cNvPr id="11" name="Text 9"/>
          <p:cNvSpPr txBox="1"/>
          <p:nvPr/>
        </p:nvSpPr>
        <p:spPr>
          <a:xfrm>
            <a:off x="3520440" y="2286000"/>
            <a:ext cx="3337560" cy="548640"/>
          </a:xfrm>
          <a:prstGeom prst="rect">
            <a:avLst/>
          </a:prstGeom>
          <a:noFill/>
          <a:ln/>
        </p:spPr>
        <p:txBody>
          <a:bodyPr wrap="square" lIns="0" tIns="0" rIns="0" bIns="0" rtlCol="0" anchor="ctr"/>
          <a:lstStyle/>
          <a:p>
            <a:pPr indent="0" marL="0">
              <a:buNone/>
            </a:pPr>
            <a:r>
              <a:rPr lang="en-US" sz="1400" dirty="0">
                <a:solidFill>
                  <a:schemeClr val="tx2"/>
                </a:solidFill>
              </a:rPr>
              <a:t>Card, two-bin or electronic kanban</a:t>
            </a:r>
            <a:endParaRPr lang="en-US" sz="1400" dirty="0"/>
          </a:p>
        </p:txBody>
      </p:sp>
      <p:sp>
        <p:nvSpPr>
          <p:cNvPr id="12" name="3DC_step"/>
          <p:cNvSpPr/>
          <p:nvPr/>
        </p:nvSpPr>
        <p:spPr>
          <a:xfrm>
            <a:off x="548640" y="2926080"/>
            <a:ext cx="6400800" cy="548640"/>
          </a:xfrm>
          <a:prstGeom prst="roundRect">
            <a:avLst>
              <a:gd name="adj" fmla="val 20000"/>
            </a:avLst>
          </a:prstGeom>
          <a:solidFill>
            <a:schemeClr val="bg2"/>
          </a:solidFill>
          <a:ln w="12700">
            <a:solidFill>
              <a:schemeClr val="bg2"/>
            </a:solidFill>
            <a:prstDash val="solid"/>
          </a:ln>
          <a:scene3d>
            <a:camera prst="orthographicFront"/>
            <a:lightRig rig="threePt" dir="t"/>
          </a:scene3d>
          <a:sp3d>
            <a:bevelT w="25400" h="12700" prst="softRound"/>
          </a:sp3d>
        </p:spPr>
      </p:sp>
      <p:sp>
        <p:nvSpPr>
          <p:cNvPr id="13" name="3DB_num"/>
          <p:cNvSpPr/>
          <p:nvPr/>
        </p:nvSpPr>
        <p:spPr>
          <a:xfrm>
            <a:off x="658368" y="2990088"/>
            <a:ext cx="420624" cy="420624"/>
          </a:xfrm>
          <a:prstGeom prst="ellipse">
            <a:avLst/>
          </a:prstGeom>
          <a:solidFill>
            <a:schemeClr val="accent1"/>
          </a:solidFill>
          <a:ln>
            <a:solidFill>
              <a:schemeClr val="accent1"/>
            </a:solidFill>
          </a:ln>
          <a:scene3d>
            <a:camera prst="orthographicFront"/>
            <a:lightRig rig="threePt" dir="t"/>
          </a:scene3d>
          <a:sp3d prstMaterial="plastic">
            <a:bevelT w="88900" h="38100"/>
          </a:sp3d>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2"/>
          <p:cNvSpPr txBox="1"/>
          <p:nvPr/>
        </p:nvSpPr>
        <p:spPr>
          <a:xfrm>
            <a:off x="1234440" y="2926080"/>
            <a:ext cx="2240280" cy="548640"/>
          </a:xfrm>
          <a:prstGeom prst="rect">
            <a:avLst/>
          </a:prstGeom>
          <a:noFill/>
          <a:ln/>
        </p:spPr>
        <p:txBody>
          <a:bodyPr wrap="square" lIns="0" tIns="0" rIns="0" bIns="0" rtlCol="0" anchor="ctr"/>
          <a:lstStyle/>
          <a:p>
            <a:pPr indent="0" marL="0">
              <a:buNone/>
            </a:pPr>
            <a:r>
              <a:rPr lang="en-US" sz="1600" b="1" dirty="0">
                <a:solidFill>
                  <a:schemeClr val="tx1"/>
                </a:solidFill>
              </a:rPr>
              <a:t>Size the loop</a:t>
            </a:r>
            <a:endParaRPr lang="en-US" sz="1600" dirty="0"/>
          </a:p>
        </p:txBody>
      </p:sp>
      <p:sp>
        <p:nvSpPr>
          <p:cNvPr id="15" name="Text 13"/>
          <p:cNvSpPr txBox="1"/>
          <p:nvPr/>
        </p:nvSpPr>
        <p:spPr>
          <a:xfrm>
            <a:off x="3520440" y="2926080"/>
            <a:ext cx="3337560" cy="548640"/>
          </a:xfrm>
          <a:prstGeom prst="rect">
            <a:avLst/>
          </a:prstGeom>
          <a:noFill/>
          <a:ln/>
        </p:spPr>
        <p:txBody>
          <a:bodyPr wrap="square" lIns="0" tIns="0" rIns="0" bIns="0" rtlCol="0" anchor="ctr"/>
          <a:lstStyle/>
          <a:p>
            <a:pPr indent="0" marL="0">
              <a:buNone/>
            </a:pPr>
            <a:r>
              <a:rPr lang="en-US" sz="1400" dirty="0">
                <a:solidFill>
                  <a:schemeClr val="tx2"/>
                </a:solidFill>
              </a:rPr>
              <a:t>Cards = demand × lead time × safety ÷ bin size</a:t>
            </a:r>
            <a:endParaRPr lang="en-US" sz="1400" dirty="0"/>
          </a:p>
        </p:txBody>
      </p:sp>
      <p:sp>
        <p:nvSpPr>
          <p:cNvPr id="16" name="3DC_step"/>
          <p:cNvSpPr/>
          <p:nvPr/>
        </p:nvSpPr>
        <p:spPr>
          <a:xfrm>
            <a:off x="548640" y="3566160"/>
            <a:ext cx="6400800" cy="548640"/>
          </a:xfrm>
          <a:prstGeom prst="roundRect">
            <a:avLst>
              <a:gd name="adj" fmla="val 20000"/>
            </a:avLst>
          </a:prstGeom>
          <a:solidFill>
            <a:schemeClr val="bg2"/>
          </a:solidFill>
          <a:ln w="12700">
            <a:solidFill>
              <a:schemeClr val="bg2"/>
            </a:solidFill>
            <a:prstDash val="solid"/>
          </a:ln>
          <a:scene3d>
            <a:camera prst="orthographicFront"/>
            <a:lightRig rig="threePt" dir="t"/>
          </a:scene3d>
          <a:sp3d>
            <a:bevelT w="25400" h="12700" prst="softRound"/>
          </a:sp3d>
        </p:spPr>
      </p:sp>
      <p:sp>
        <p:nvSpPr>
          <p:cNvPr id="17" name="3DB_num"/>
          <p:cNvSpPr/>
          <p:nvPr/>
        </p:nvSpPr>
        <p:spPr>
          <a:xfrm>
            <a:off x="658368" y="3630168"/>
            <a:ext cx="420624" cy="420624"/>
          </a:xfrm>
          <a:prstGeom prst="ellipse">
            <a:avLst/>
          </a:prstGeom>
          <a:solidFill>
            <a:schemeClr val="accent1"/>
          </a:solidFill>
          <a:ln>
            <a:solidFill>
              <a:schemeClr val="accent1"/>
            </a:solidFill>
          </a:ln>
          <a:scene3d>
            <a:camera prst="orthographicFront"/>
            <a:lightRig rig="threePt" dir="t"/>
          </a:scene3d>
          <a:sp3d prstMaterial="plastic">
            <a:bevelT w="88900" h="38100"/>
          </a:sp3d>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Text 16"/>
          <p:cNvSpPr txBox="1"/>
          <p:nvPr/>
        </p:nvSpPr>
        <p:spPr>
          <a:xfrm>
            <a:off x="1234440" y="3566160"/>
            <a:ext cx="2240280" cy="548640"/>
          </a:xfrm>
          <a:prstGeom prst="rect">
            <a:avLst/>
          </a:prstGeom>
          <a:noFill/>
          <a:ln/>
        </p:spPr>
        <p:txBody>
          <a:bodyPr wrap="square" lIns="0" tIns="0" rIns="0" bIns="0" rtlCol="0" anchor="ctr"/>
          <a:lstStyle/>
          <a:p>
            <a:pPr indent="0" marL="0">
              <a:buNone/>
            </a:pPr>
            <a:r>
              <a:rPr lang="en-US" sz="1600" b="1" dirty="0">
                <a:solidFill>
                  <a:schemeClr val="tx1"/>
                </a:solidFill>
              </a:rPr>
              <a:t>Build board &amp; cards</a:t>
            </a:r>
            <a:endParaRPr lang="en-US" sz="1600" dirty="0"/>
          </a:p>
        </p:txBody>
      </p:sp>
      <p:sp>
        <p:nvSpPr>
          <p:cNvPr id="19" name="Text 17"/>
          <p:cNvSpPr txBox="1"/>
          <p:nvPr/>
        </p:nvSpPr>
        <p:spPr>
          <a:xfrm>
            <a:off x="3520440" y="3566160"/>
            <a:ext cx="3337560" cy="548640"/>
          </a:xfrm>
          <a:prstGeom prst="rect">
            <a:avLst/>
          </a:prstGeom>
          <a:noFill/>
          <a:ln/>
        </p:spPr>
        <p:txBody>
          <a:bodyPr wrap="square" lIns="0" tIns="0" rIns="0" bIns="0" rtlCol="0" anchor="ctr"/>
          <a:lstStyle/>
          <a:p>
            <a:pPr indent="0" marL="0">
              <a:buNone/>
            </a:pPr>
            <a:r>
              <a:rPr lang="en-US" sz="1400" dirty="0">
                <a:solidFill>
                  <a:schemeClr val="tx2"/>
                </a:solidFill>
              </a:rPr>
              <a:t>Columns, card data, storage locations</a:t>
            </a:r>
            <a:endParaRPr lang="en-US" sz="1400" dirty="0"/>
          </a:p>
        </p:txBody>
      </p:sp>
      <p:sp>
        <p:nvSpPr>
          <p:cNvPr id="20" name="3DC_step"/>
          <p:cNvSpPr/>
          <p:nvPr/>
        </p:nvSpPr>
        <p:spPr>
          <a:xfrm>
            <a:off x="548640" y="4206240"/>
            <a:ext cx="6400800" cy="548640"/>
          </a:xfrm>
          <a:prstGeom prst="roundRect">
            <a:avLst>
              <a:gd name="adj" fmla="val 20000"/>
            </a:avLst>
          </a:prstGeom>
          <a:solidFill>
            <a:schemeClr val="bg2"/>
          </a:solidFill>
          <a:ln w="12700">
            <a:solidFill>
              <a:schemeClr val="bg2"/>
            </a:solidFill>
            <a:prstDash val="solid"/>
          </a:ln>
          <a:scene3d>
            <a:camera prst="orthographicFront"/>
            <a:lightRig rig="threePt" dir="t"/>
          </a:scene3d>
          <a:sp3d>
            <a:bevelT w="25400" h="12700" prst="softRound"/>
          </a:sp3d>
        </p:spPr>
      </p:sp>
      <p:sp>
        <p:nvSpPr>
          <p:cNvPr id="21" name="3DB_num"/>
          <p:cNvSpPr/>
          <p:nvPr/>
        </p:nvSpPr>
        <p:spPr>
          <a:xfrm>
            <a:off x="658368" y="4270248"/>
            <a:ext cx="420624" cy="420624"/>
          </a:xfrm>
          <a:prstGeom prst="ellipse">
            <a:avLst/>
          </a:prstGeom>
          <a:solidFill>
            <a:schemeClr val="accent1"/>
          </a:solidFill>
          <a:ln>
            <a:solidFill>
              <a:schemeClr val="accent1"/>
            </a:solidFill>
          </a:ln>
          <a:scene3d>
            <a:camera prst="orthographicFront"/>
            <a:lightRig rig="threePt" dir="t"/>
          </a:scene3d>
          <a:sp3d prstMaterial="plastic">
            <a:bevelT w="88900" h="38100"/>
          </a:sp3d>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2" name="Text 20"/>
          <p:cNvSpPr txBox="1"/>
          <p:nvPr/>
        </p:nvSpPr>
        <p:spPr>
          <a:xfrm>
            <a:off x="1234440" y="4206240"/>
            <a:ext cx="2240280" cy="548640"/>
          </a:xfrm>
          <a:prstGeom prst="rect">
            <a:avLst/>
          </a:prstGeom>
          <a:noFill/>
          <a:ln/>
        </p:spPr>
        <p:txBody>
          <a:bodyPr wrap="square" lIns="0" tIns="0" rIns="0" bIns="0" rtlCol="0" anchor="ctr"/>
          <a:lstStyle/>
          <a:p>
            <a:pPr indent="0" marL="0">
              <a:buNone/>
            </a:pPr>
            <a:r>
              <a:rPr lang="en-US" sz="1600" b="1" dirty="0">
                <a:solidFill>
                  <a:schemeClr val="tx1"/>
                </a:solidFill>
              </a:rPr>
              <a:t>Set WIP limits &amp; rules</a:t>
            </a:r>
            <a:endParaRPr lang="en-US" sz="1600" dirty="0"/>
          </a:p>
        </p:txBody>
      </p:sp>
      <p:sp>
        <p:nvSpPr>
          <p:cNvPr id="23" name="Text 21"/>
          <p:cNvSpPr txBox="1"/>
          <p:nvPr/>
        </p:nvSpPr>
        <p:spPr>
          <a:xfrm>
            <a:off x="3520440" y="4206240"/>
            <a:ext cx="3337560" cy="548640"/>
          </a:xfrm>
          <a:prstGeom prst="rect">
            <a:avLst/>
          </a:prstGeom>
          <a:noFill/>
          <a:ln/>
        </p:spPr>
        <p:txBody>
          <a:bodyPr wrap="square" lIns="0" tIns="0" rIns="0" bIns="0" rtlCol="0" anchor="ctr"/>
          <a:lstStyle/>
          <a:p>
            <a:pPr indent="0" marL="0">
              <a:buNone/>
            </a:pPr>
            <a:r>
              <a:rPr lang="en-US" sz="1400" dirty="0">
                <a:solidFill>
                  <a:schemeClr val="tx2"/>
                </a:solidFill>
              </a:rPr>
              <a:t>Who pulls, when and how much</a:t>
            </a:r>
            <a:endParaRPr lang="en-US" sz="1400" dirty="0"/>
          </a:p>
        </p:txBody>
      </p:sp>
      <p:sp>
        <p:nvSpPr>
          <p:cNvPr id="24" name="3DC_step"/>
          <p:cNvSpPr/>
          <p:nvPr/>
        </p:nvSpPr>
        <p:spPr>
          <a:xfrm>
            <a:off x="548640" y="4846320"/>
            <a:ext cx="6400800" cy="548640"/>
          </a:xfrm>
          <a:prstGeom prst="roundRect">
            <a:avLst>
              <a:gd name="adj" fmla="val 20000"/>
            </a:avLst>
          </a:prstGeom>
          <a:solidFill>
            <a:schemeClr val="bg2"/>
          </a:solidFill>
          <a:ln w="12700">
            <a:solidFill>
              <a:schemeClr val="bg2"/>
            </a:solidFill>
            <a:prstDash val="solid"/>
          </a:ln>
          <a:scene3d>
            <a:camera prst="orthographicFront"/>
            <a:lightRig rig="threePt" dir="t"/>
          </a:scene3d>
          <a:sp3d>
            <a:bevelT w="25400" h="12700" prst="softRound"/>
          </a:sp3d>
        </p:spPr>
      </p:sp>
      <p:sp>
        <p:nvSpPr>
          <p:cNvPr id="25" name="3DB_num"/>
          <p:cNvSpPr/>
          <p:nvPr/>
        </p:nvSpPr>
        <p:spPr>
          <a:xfrm>
            <a:off x="658368" y="4910328"/>
            <a:ext cx="420624" cy="420624"/>
          </a:xfrm>
          <a:prstGeom prst="ellipse">
            <a:avLst/>
          </a:prstGeom>
          <a:solidFill>
            <a:schemeClr val="accent1"/>
          </a:solidFill>
          <a:ln>
            <a:solidFill>
              <a:schemeClr val="accent1"/>
            </a:solidFill>
          </a:ln>
          <a:scene3d>
            <a:camera prst="orthographicFront"/>
            <a:lightRig rig="threePt" dir="t"/>
          </a:scene3d>
          <a:sp3d prstMaterial="plastic">
            <a:bevelT w="88900" h="38100"/>
          </a:sp3d>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6" name="Text 24"/>
          <p:cNvSpPr txBox="1"/>
          <p:nvPr/>
        </p:nvSpPr>
        <p:spPr>
          <a:xfrm>
            <a:off x="1234440" y="4846320"/>
            <a:ext cx="2240280" cy="548640"/>
          </a:xfrm>
          <a:prstGeom prst="rect">
            <a:avLst/>
          </a:prstGeom>
          <a:noFill/>
          <a:ln/>
        </p:spPr>
        <p:txBody>
          <a:bodyPr wrap="square" lIns="0" tIns="0" rIns="0" bIns="0" rtlCol="0" anchor="ctr"/>
          <a:lstStyle/>
          <a:p>
            <a:pPr indent="0" marL="0">
              <a:buNone/>
            </a:pPr>
            <a:r>
              <a:rPr lang="en-US" sz="1600" b="1" dirty="0">
                <a:solidFill>
                  <a:schemeClr val="tx1"/>
                </a:solidFill>
              </a:rPr>
              <a:t>Train &amp; pilot</a:t>
            </a:r>
            <a:endParaRPr lang="en-US" sz="1600" dirty="0"/>
          </a:p>
        </p:txBody>
      </p:sp>
      <p:sp>
        <p:nvSpPr>
          <p:cNvPr id="27" name="Text 25"/>
          <p:cNvSpPr txBox="1"/>
          <p:nvPr/>
        </p:nvSpPr>
        <p:spPr>
          <a:xfrm>
            <a:off x="3520440" y="4846320"/>
            <a:ext cx="3337560" cy="548640"/>
          </a:xfrm>
          <a:prstGeom prst="rect">
            <a:avLst/>
          </a:prstGeom>
          <a:noFill/>
          <a:ln/>
        </p:spPr>
        <p:txBody>
          <a:bodyPr wrap="square" lIns="0" tIns="0" rIns="0" bIns="0" rtlCol="0" anchor="ctr"/>
          <a:lstStyle/>
          <a:p>
            <a:pPr indent="0" marL="0">
              <a:buNone/>
            </a:pPr>
            <a:r>
              <a:rPr lang="en-US" sz="1400" dirty="0">
                <a:solidFill>
                  <a:schemeClr val="tx2"/>
                </a:solidFill>
              </a:rPr>
              <a:t>Start on one line or one team</a:t>
            </a:r>
            <a:endParaRPr lang="en-US" sz="1400" dirty="0"/>
          </a:p>
        </p:txBody>
      </p:sp>
      <p:sp>
        <p:nvSpPr>
          <p:cNvPr id="28" name="3DC_step"/>
          <p:cNvSpPr/>
          <p:nvPr/>
        </p:nvSpPr>
        <p:spPr>
          <a:xfrm>
            <a:off x="548640" y="5486400"/>
            <a:ext cx="6400800" cy="548640"/>
          </a:xfrm>
          <a:prstGeom prst="roundRect">
            <a:avLst>
              <a:gd name="adj" fmla="val 20000"/>
            </a:avLst>
          </a:prstGeom>
          <a:solidFill>
            <a:schemeClr val="bg2"/>
          </a:solidFill>
          <a:ln w="12700">
            <a:solidFill>
              <a:schemeClr val="bg2"/>
            </a:solidFill>
            <a:prstDash val="solid"/>
          </a:ln>
          <a:scene3d>
            <a:camera prst="orthographicFront"/>
            <a:lightRig rig="threePt" dir="t"/>
          </a:scene3d>
          <a:sp3d>
            <a:bevelT w="25400" h="12700" prst="softRound"/>
          </a:sp3d>
        </p:spPr>
      </p:sp>
      <p:sp>
        <p:nvSpPr>
          <p:cNvPr id="29" name="3DB_num"/>
          <p:cNvSpPr/>
          <p:nvPr/>
        </p:nvSpPr>
        <p:spPr>
          <a:xfrm>
            <a:off x="658368" y="5550408"/>
            <a:ext cx="420624" cy="420624"/>
          </a:xfrm>
          <a:prstGeom prst="ellipse">
            <a:avLst/>
          </a:prstGeom>
          <a:solidFill>
            <a:schemeClr val="accent2"/>
          </a:solidFill>
          <a:ln>
            <a:solidFill>
              <a:schemeClr val="accent2"/>
            </a:solidFill>
          </a:ln>
          <a:scene3d>
            <a:camera prst="orthographicFront"/>
            <a:lightRig rig="threePt" dir="t"/>
          </a:scene3d>
          <a:sp3d prstMaterial="plastic">
            <a:bevelT w="88900" h="38100"/>
          </a:sp3d>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0" name="Text 28"/>
          <p:cNvSpPr txBox="1"/>
          <p:nvPr/>
        </p:nvSpPr>
        <p:spPr>
          <a:xfrm>
            <a:off x="1234440" y="5486400"/>
            <a:ext cx="2240280" cy="548640"/>
          </a:xfrm>
          <a:prstGeom prst="rect">
            <a:avLst/>
          </a:prstGeom>
          <a:noFill/>
          <a:ln/>
        </p:spPr>
        <p:txBody>
          <a:bodyPr wrap="square" lIns="0" tIns="0" rIns="0" bIns="0" rtlCol="0" anchor="ctr"/>
          <a:lstStyle/>
          <a:p>
            <a:pPr indent="0" marL="0">
              <a:buNone/>
            </a:pPr>
            <a:r>
              <a:rPr lang="en-US" sz="1600" b="1" dirty="0">
                <a:solidFill>
                  <a:schemeClr val="tx1"/>
                </a:solidFill>
              </a:rPr>
              <a:t>Review &amp; improve</a:t>
            </a:r>
            <a:endParaRPr lang="en-US" sz="1600" dirty="0"/>
          </a:p>
        </p:txBody>
      </p:sp>
      <p:sp>
        <p:nvSpPr>
          <p:cNvPr id="31" name="Text 29"/>
          <p:cNvSpPr txBox="1"/>
          <p:nvPr/>
        </p:nvSpPr>
        <p:spPr>
          <a:xfrm>
            <a:off x="3520440" y="5486400"/>
            <a:ext cx="3337560" cy="548640"/>
          </a:xfrm>
          <a:prstGeom prst="rect">
            <a:avLst/>
          </a:prstGeom>
          <a:noFill/>
          <a:ln/>
        </p:spPr>
        <p:txBody>
          <a:bodyPr wrap="square" lIns="0" tIns="0" rIns="0" bIns="0" rtlCol="0" anchor="ctr"/>
          <a:lstStyle/>
          <a:p>
            <a:pPr indent="0" marL="0">
              <a:buNone/>
            </a:pPr>
            <a:r>
              <a:rPr lang="en-US" sz="1400" dirty="0">
                <a:solidFill>
                  <a:schemeClr val="tx2"/>
                </a:solidFill>
              </a:rPr>
              <a:t>Track lead time; remove cards over time</a:t>
            </a:r>
            <a:endParaRPr lang="en-US" sz="1400" dirty="0"/>
          </a:p>
        </p:txBody>
      </p:sp>
      <p:pic>
        <p:nvPicPr>
          <p:cNvPr id="32" name="render3d_twobin" descr="3D illustration of a two-bin kanban system on a shelf with kanban cards">    </p:cNvPr>
          <p:cNvPicPr>
            <a:picLocks noChangeAspect="1"/>
          </p:cNvPicPr>
          <p:nvPr/>
        </p:nvPicPr>
        <p:blipFill>
          <a:blip r:embed="rId1"/>
          <a:stretch>
            <a:fillRect/>
          </a:stretch>
        </p:blipFill>
        <p:spPr>
          <a:xfrm>
            <a:off x="7269480" y="1783080"/>
            <a:ext cx="4373575" cy="3124446"/>
          </a:xfrm>
          <a:prstGeom prst="rect">
            <a:avLst/>
          </a:prstGeom>
        </p:spPr>
      </p:pic>
      <p:sp>
        <p:nvSpPr>
          <p:cNvPr id="33" name="Text 30"/>
          <p:cNvSpPr txBox="1"/>
          <p:nvPr/>
        </p:nvSpPr>
        <p:spPr>
          <a:xfrm>
            <a:off x="7269480" y="5166360"/>
            <a:ext cx="4373575" cy="731520"/>
          </a:xfrm>
          <a:prstGeom prst="rect">
            <a:avLst/>
          </a:prstGeom>
          <a:noFill/>
          <a:ln/>
        </p:spPr>
        <p:txBody>
          <a:bodyPr wrap="square" lIns="0" tIns="0" rIns="0" bIns="0" rtlCol="0" anchor="t"/>
          <a:lstStyle/>
          <a:p>
            <a:pPr indent="0" marL="0">
              <a:buNone/>
            </a:pPr>
            <a:r>
              <a:rPr lang="en-US" sz="1400" b="1" dirty="0">
                <a:solidFill>
                  <a:schemeClr val="tx2"/>
                </a:solidFill>
              </a:rPr>
              <a:t>Two-bin system: </a:t>
            </a:r>
            <a:pPr indent="0" marL="0">
              <a:buNone/>
            </a:pPr>
            <a:r>
              <a:rPr lang="en-US" sz="1400" dirty="0">
                <a:solidFill>
                  <a:schemeClr val="tx2"/>
                </a:solidFill>
              </a:rPr>
              <a:t>when bin 1 is empty, its card triggers a refill while work continues from bin 2.</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400">
        <p14:conveyor dir="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hip"/>
          <p:cNvSpPr/>
          <p:nvPr/>
        </p:nvSpPr>
        <p:spPr>
          <a:xfrm>
            <a:off x="548640" y="237744"/>
            <a:ext cx="2660904"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050" b="1" spc="150" kern="0" dirty="0">
                <a:solidFill>
                  <a:schemeClr val="bg1"/>
                </a:solidFill>
              </a:rPr>
              <a:t>KANBAN · PROBLEMS &amp; EXAMPLES</a:t>
            </a:r>
            <a:endParaRPr lang="en-US" sz="1050" dirty="0"/>
          </a:p>
        </p:txBody>
      </p:sp>
      <p:sp>
        <p:nvSpPr>
          <p:cNvPr id="3"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Kanban: problems solved and examples</a:t>
            </a:r>
            <a:endParaRPr lang="en-US" sz="3400" dirty="0"/>
          </a:p>
        </p:txBody>
      </p:sp>
      <p:sp>
        <p:nvSpPr>
          <p:cNvPr id="4" name="Text 2"/>
          <p:cNvSpPr txBox="1"/>
          <p:nvPr/>
        </p:nvSpPr>
        <p:spPr>
          <a:xfrm>
            <a:off x="548640" y="1572768"/>
            <a:ext cx="53492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PROBLEMS IT SOLVES</a:t>
            </a:r>
            <a:endParaRPr lang="en-US" sz="1200" dirty="0"/>
          </a:p>
        </p:txBody>
      </p:sp>
      <p:sp>
        <p:nvSpPr>
          <p:cNvPr id="5" name="3DB_icon"/>
          <p:cNvSpPr/>
          <p:nvPr/>
        </p:nvSpPr>
        <p:spPr>
          <a:xfrm>
            <a:off x="548640" y="1993392"/>
            <a:ext cx="530352" cy="530352"/>
          </a:xfrm>
          <a:prstGeom prst="ellipse">
            <a:avLst/>
          </a:prstGeom>
          <a:solidFill>
            <a:schemeClr val="accent3"/>
          </a:solidFill>
          <a:ln w="12700">
            <a:solidFill>
              <a:schemeClr val="accent3"/>
            </a:solidFill>
            <a:prstDash val="solid"/>
          </a:ln>
          <a:scene3d>
            <a:camera prst="orthographicFront"/>
            <a:lightRig rig="threePt" dir="t"/>
          </a:scene3d>
          <a:sp3d prstMaterial="plastic">
            <a:bevelT w="88900" h="38100"/>
          </a:sp3d>
        </p:spPr>
      </p:sp>
      <p:pic>
        <p:nvPicPr>
          <p:cNvPr id="6" name="icon_FaBoxes" descr="preencoded.png">    </p:cNvPr>
          <p:cNvPicPr>
            <a:picLocks noChangeAspect="1"/>
          </p:cNvPicPr>
          <p:nvPr/>
        </p:nvPicPr>
        <p:blipFill>
          <a:blip r:embed="rId1"/>
          <a:stretch>
            <a:fillRect/>
          </a:stretch>
        </p:blipFill>
        <p:spPr>
          <a:xfrm>
            <a:off x="691835" y="2136587"/>
            <a:ext cx="243962" cy="243962"/>
          </a:xfrm>
          <a:prstGeom prst="rect">
            <a:avLst/>
          </a:prstGeom>
        </p:spPr>
      </p:pic>
      <p:sp>
        <p:nvSpPr>
          <p:cNvPr id="7" name="Text 4"/>
          <p:cNvSpPr txBox="1"/>
          <p:nvPr/>
        </p:nvSpPr>
        <p:spPr>
          <a:xfrm>
            <a:off x="1280160" y="1938528"/>
            <a:ext cx="4617720" cy="329184"/>
          </a:xfrm>
          <a:prstGeom prst="rect">
            <a:avLst/>
          </a:prstGeom>
          <a:noFill/>
          <a:ln/>
        </p:spPr>
        <p:txBody>
          <a:bodyPr wrap="square" lIns="0" tIns="0" rIns="0" bIns="0" rtlCol="0" anchor="t"/>
          <a:lstStyle/>
          <a:p>
            <a:pPr indent="0" marL="0">
              <a:buNone/>
            </a:pPr>
            <a:r>
              <a:rPr lang="en-US" sz="1600" b="1" dirty="0">
                <a:solidFill>
                  <a:schemeClr val="tx1"/>
                </a:solidFill>
              </a:rPr>
              <a:t>Overproduction &amp; excess stock</a:t>
            </a:r>
            <a:endParaRPr lang="en-US" sz="1600" dirty="0"/>
          </a:p>
        </p:txBody>
      </p:sp>
      <p:sp>
        <p:nvSpPr>
          <p:cNvPr id="8" name="Text 5"/>
          <p:cNvSpPr txBox="1"/>
          <p:nvPr/>
        </p:nvSpPr>
        <p:spPr>
          <a:xfrm>
            <a:off x="1280160" y="2286000"/>
            <a:ext cx="4617720" cy="310896"/>
          </a:xfrm>
          <a:prstGeom prst="rect">
            <a:avLst/>
          </a:prstGeom>
          <a:noFill/>
          <a:ln/>
        </p:spPr>
        <p:txBody>
          <a:bodyPr wrap="square" lIns="0" tIns="0" rIns="0" bIns="0" rtlCol="0" anchor="t"/>
          <a:lstStyle/>
          <a:p>
            <a:pPr indent="0" marL="0">
              <a:buNone/>
            </a:pPr>
            <a:r>
              <a:rPr lang="en-US" sz="1400" dirty="0">
                <a:solidFill>
                  <a:schemeClr val="tx2"/>
                </a:solidFill>
              </a:rPr>
              <a:t>Cards cap inventory and free up cash</a:t>
            </a:r>
            <a:endParaRPr lang="en-US" sz="1400" dirty="0"/>
          </a:p>
        </p:txBody>
      </p:sp>
      <p:sp>
        <p:nvSpPr>
          <p:cNvPr id="9" name="3DB_icon"/>
          <p:cNvSpPr/>
          <p:nvPr/>
        </p:nvSpPr>
        <p:spPr>
          <a:xfrm>
            <a:off x="548640" y="2834640"/>
            <a:ext cx="530352" cy="530352"/>
          </a:xfrm>
          <a:prstGeom prst="ellipse">
            <a:avLst/>
          </a:prstGeom>
          <a:solidFill>
            <a:schemeClr val="accent3"/>
          </a:solidFill>
          <a:ln w="12700">
            <a:solidFill>
              <a:schemeClr val="accent3"/>
            </a:solidFill>
            <a:prstDash val="solid"/>
          </a:ln>
          <a:scene3d>
            <a:camera prst="orthographicFront"/>
            <a:lightRig rig="threePt" dir="t"/>
          </a:scene3d>
          <a:sp3d prstMaterial="plastic">
            <a:bevelT w="88900" h="38100"/>
          </a:sp3d>
        </p:spPr>
      </p:sp>
      <p:pic>
        <p:nvPicPr>
          <p:cNvPr id="10" name="icon_FaExclamationTriangle" descr="preencoded.png">    </p:cNvPr>
          <p:cNvPicPr>
            <a:picLocks noChangeAspect="1"/>
          </p:cNvPicPr>
          <p:nvPr/>
        </p:nvPicPr>
        <p:blipFill>
          <a:blip r:embed="rId2"/>
          <a:stretch>
            <a:fillRect/>
          </a:stretch>
        </p:blipFill>
        <p:spPr>
          <a:xfrm>
            <a:off x="691835" y="2977835"/>
            <a:ext cx="243962" cy="243962"/>
          </a:xfrm>
          <a:prstGeom prst="rect">
            <a:avLst/>
          </a:prstGeom>
        </p:spPr>
      </p:pic>
      <p:sp>
        <p:nvSpPr>
          <p:cNvPr id="11" name="Text 7"/>
          <p:cNvSpPr txBox="1"/>
          <p:nvPr/>
        </p:nvSpPr>
        <p:spPr>
          <a:xfrm>
            <a:off x="1280160" y="2779776"/>
            <a:ext cx="4617720" cy="329184"/>
          </a:xfrm>
          <a:prstGeom prst="rect">
            <a:avLst/>
          </a:prstGeom>
          <a:noFill/>
          <a:ln/>
        </p:spPr>
        <p:txBody>
          <a:bodyPr wrap="square" lIns="0" tIns="0" rIns="0" bIns="0" rtlCol="0" anchor="t"/>
          <a:lstStyle/>
          <a:p>
            <a:pPr indent="0" marL="0">
              <a:buNone/>
            </a:pPr>
            <a:r>
              <a:rPr lang="en-US" sz="1600" b="1" dirty="0">
                <a:solidFill>
                  <a:schemeClr val="tx1"/>
                </a:solidFill>
              </a:rPr>
              <a:t>Stockouts &amp; line stops</a:t>
            </a:r>
            <a:endParaRPr lang="en-US" sz="1600" dirty="0"/>
          </a:p>
        </p:txBody>
      </p:sp>
      <p:sp>
        <p:nvSpPr>
          <p:cNvPr id="12" name="Text 8"/>
          <p:cNvSpPr txBox="1"/>
          <p:nvPr/>
        </p:nvSpPr>
        <p:spPr>
          <a:xfrm>
            <a:off x="1280160" y="3127248"/>
            <a:ext cx="4617720" cy="310896"/>
          </a:xfrm>
          <a:prstGeom prst="rect">
            <a:avLst/>
          </a:prstGeom>
          <a:noFill/>
          <a:ln/>
        </p:spPr>
        <p:txBody>
          <a:bodyPr wrap="square" lIns="0" tIns="0" rIns="0" bIns="0" rtlCol="0" anchor="t"/>
          <a:lstStyle/>
          <a:p>
            <a:pPr indent="0" marL="0">
              <a:buNone/>
            </a:pPr>
            <a:r>
              <a:rPr lang="en-US" sz="1400" dirty="0">
                <a:solidFill>
                  <a:schemeClr val="tx2"/>
                </a:solidFill>
              </a:rPr>
              <a:t>Refills follow real usage</a:t>
            </a:r>
            <a:endParaRPr lang="en-US" sz="1400" dirty="0"/>
          </a:p>
        </p:txBody>
      </p:sp>
      <p:sp>
        <p:nvSpPr>
          <p:cNvPr id="13" name="3DB_icon"/>
          <p:cNvSpPr/>
          <p:nvPr/>
        </p:nvSpPr>
        <p:spPr>
          <a:xfrm>
            <a:off x="548640" y="3675888"/>
            <a:ext cx="530352" cy="530352"/>
          </a:xfrm>
          <a:prstGeom prst="ellipse">
            <a:avLst/>
          </a:prstGeom>
          <a:solidFill>
            <a:schemeClr val="accent3"/>
          </a:solidFill>
          <a:ln w="12700">
            <a:solidFill>
              <a:schemeClr val="accent3"/>
            </a:solidFill>
            <a:prstDash val="solid"/>
          </a:ln>
          <a:scene3d>
            <a:camera prst="orthographicFront"/>
            <a:lightRig rig="threePt" dir="t"/>
          </a:scene3d>
          <a:sp3d prstMaterial="plastic">
            <a:bevelT w="88900" h="38100"/>
          </a:sp3d>
        </p:spPr>
      </p:sp>
      <p:pic>
        <p:nvPicPr>
          <p:cNvPr id="14" name="icon_FaHourglassHalf" descr="preencoded.png">    </p:cNvPr>
          <p:cNvPicPr>
            <a:picLocks noChangeAspect="1"/>
          </p:cNvPicPr>
          <p:nvPr/>
        </p:nvPicPr>
        <p:blipFill>
          <a:blip r:embed="rId3"/>
          <a:stretch>
            <a:fillRect/>
          </a:stretch>
        </p:blipFill>
        <p:spPr>
          <a:xfrm>
            <a:off x="691835" y="3819083"/>
            <a:ext cx="243962" cy="243962"/>
          </a:xfrm>
          <a:prstGeom prst="rect">
            <a:avLst/>
          </a:prstGeom>
        </p:spPr>
      </p:pic>
      <p:sp>
        <p:nvSpPr>
          <p:cNvPr id="15" name="Text 10"/>
          <p:cNvSpPr txBox="1"/>
          <p:nvPr/>
        </p:nvSpPr>
        <p:spPr>
          <a:xfrm>
            <a:off x="1280160" y="3621024"/>
            <a:ext cx="4617720" cy="329184"/>
          </a:xfrm>
          <a:prstGeom prst="rect">
            <a:avLst/>
          </a:prstGeom>
          <a:noFill/>
          <a:ln/>
        </p:spPr>
        <p:txBody>
          <a:bodyPr wrap="square" lIns="0" tIns="0" rIns="0" bIns="0" rtlCol="0" anchor="t"/>
          <a:lstStyle/>
          <a:p>
            <a:pPr indent="0" marL="0">
              <a:buNone/>
            </a:pPr>
            <a:r>
              <a:rPr lang="en-US" sz="1600" b="1" dirty="0">
                <a:solidFill>
                  <a:schemeClr val="tx1"/>
                </a:solidFill>
              </a:rPr>
              <a:t>Long lead times</a:t>
            </a:r>
            <a:endParaRPr lang="en-US" sz="1600" dirty="0"/>
          </a:p>
        </p:txBody>
      </p:sp>
      <p:sp>
        <p:nvSpPr>
          <p:cNvPr id="16" name="Text 11"/>
          <p:cNvSpPr txBox="1"/>
          <p:nvPr/>
        </p:nvSpPr>
        <p:spPr>
          <a:xfrm>
            <a:off x="1280160" y="3968496"/>
            <a:ext cx="4617720" cy="310896"/>
          </a:xfrm>
          <a:prstGeom prst="rect">
            <a:avLst/>
          </a:prstGeom>
          <a:noFill/>
          <a:ln/>
        </p:spPr>
        <p:txBody>
          <a:bodyPr wrap="square" lIns="0" tIns="0" rIns="0" bIns="0" rtlCol="0" anchor="t"/>
          <a:lstStyle/>
          <a:p>
            <a:pPr indent="0" marL="0">
              <a:buNone/>
            </a:pPr>
            <a:r>
              <a:rPr lang="en-US" sz="1400" dirty="0">
                <a:solidFill>
                  <a:schemeClr val="tx2"/>
                </a:solidFill>
              </a:rPr>
              <a:t>WIP limits keep queues short</a:t>
            </a:r>
            <a:endParaRPr lang="en-US" sz="1400" dirty="0"/>
          </a:p>
        </p:txBody>
      </p:sp>
      <p:sp>
        <p:nvSpPr>
          <p:cNvPr id="17" name="3DB_icon"/>
          <p:cNvSpPr/>
          <p:nvPr/>
        </p:nvSpPr>
        <p:spPr>
          <a:xfrm>
            <a:off x="548640" y="4517136"/>
            <a:ext cx="530352" cy="530352"/>
          </a:xfrm>
          <a:prstGeom prst="ellipse">
            <a:avLst/>
          </a:prstGeom>
          <a:solidFill>
            <a:schemeClr val="accent3"/>
          </a:solidFill>
          <a:ln w="12700">
            <a:solidFill>
              <a:schemeClr val="accent3"/>
            </a:solidFill>
            <a:prstDash val="solid"/>
          </a:ln>
          <a:scene3d>
            <a:camera prst="orthographicFront"/>
            <a:lightRig rig="threePt" dir="t"/>
          </a:scene3d>
          <a:sp3d prstMaterial="plastic">
            <a:bevelT w="88900" h="38100"/>
          </a:sp3d>
        </p:spPr>
      </p:sp>
      <p:pic>
        <p:nvPicPr>
          <p:cNvPr id="18" name="icon_FaEyeSlash" descr="preencoded.png">    </p:cNvPr>
          <p:cNvPicPr>
            <a:picLocks noChangeAspect="1"/>
          </p:cNvPicPr>
          <p:nvPr/>
        </p:nvPicPr>
        <p:blipFill>
          <a:blip r:embed="rId4"/>
          <a:stretch>
            <a:fillRect/>
          </a:stretch>
        </p:blipFill>
        <p:spPr>
          <a:xfrm>
            <a:off x="691835" y="4660331"/>
            <a:ext cx="243962" cy="243962"/>
          </a:xfrm>
          <a:prstGeom prst="rect">
            <a:avLst/>
          </a:prstGeom>
        </p:spPr>
      </p:pic>
      <p:sp>
        <p:nvSpPr>
          <p:cNvPr id="19" name="Text 13"/>
          <p:cNvSpPr txBox="1"/>
          <p:nvPr/>
        </p:nvSpPr>
        <p:spPr>
          <a:xfrm>
            <a:off x="1280160" y="4462272"/>
            <a:ext cx="4617720" cy="329184"/>
          </a:xfrm>
          <a:prstGeom prst="rect">
            <a:avLst/>
          </a:prstGeom>
          <a:noFill/>
          <a:ln/>
        </p:spPr>
        <p:txBody>
          <a:bodyPr wrap="square" lIns="0" tIns="0" rIns="0" bIns="0" rtlCol="0" anchor="t"/>
          <a:lstStyle/>
          <a:p>
            <a:pPr indent="0" marL="0">
              <a:buNone/>
            </a:pPr>
            <a:r>
              <a:rPr lang="en-US" sz="1600" b="1" dirty="0">
                <a:solidFill>
                  <a:schemeClr val="tx1"/>
                </a:solidFill>
              </a:rPr>
              <a:t>Hidden bottlenecks</a:t>
            </a:r>
            <a:endParaRPr lang="en-US" sz="1600" dirty="0"/>
          </a:p>
        </p:txBody>
      </p:sp>
      <p:sp>
        <p:nvSpPr>
          <p:cNvPr id="20" name="Text 14"/>
          <p:cNvSpPr txBox="1"/>
          <p:nvPr/>
        </p:nvSpPr>
        <p:spPr>
          <a:xfrm>
            <a:off x="1280160" y="4809744"/>
            <a:ext cx="4617720" cy="310896"/>
          </a:xfrm>
          <a:prstGeom prst="rect">
            <a:avLst/>
          </a:prstGeom>
          <a:noFill/>
          <a:ln/>
        </p:spPr>
        <p:txBody>
          <a:bodyPr wrap="square" lIns="0" tIns="0" rIns="0" bIns="0" rtlCol="0" anchor="t"/>
          <a:lstStyle/>
          <a:p>
            <a:pPr indent="0" marL="0">
              <a:buNone/>
            </a:pPr>
            <a:r>
              <a:rPr lang="en-US" sz="1400" dirty="0">
                <a:solidFill>
                  <a:schemeClr val="tx2"/>
                </a:solidFill>
              </a:rPr>
              <a:t>The board shows where work waits</a:t>
            </a:r>
            <a:endParaRPr lang="en-US" sz="1400" dirty="0"/>
          </a:p>
        </p:txBody>
      </p:sp>
      <p:sp>
        <p:nvSpPr>
          <p:cNvPr id="21" name="3DB_icon"/>
          <p:cNvSpPr/>
          <p:nvPr/>
        </p:nvSpPr>
        <p:spPr>
          <a:xfrm>
            <a:off x="548640" y="5358384"/>
            <a:ext cx="530352" cy="530352"/>
          </a:xfrm>
          <a:prstGeom prst="ellipse">
            <a:avLst/>
          </a:prstGeom>
          <a:solidFill>
            <a:schemeClr val="accent3"/>
          </a:solidFill>
          <a:ln w="12700">
            <a:solidFill>
              <a:schemeClr val="accent3"/>
            </a:solidFill>
            <a:prstDash val="solid"/>
          </a:ln>
          <a:scene3d>
            <a:camera prst="orthographicFront"/>
            <a:lightRig rig="threePt" dir="t"/>
          </a:scene3d>
          <a:sp3d prstMaterial="plastic">
            <a:bevelT w="88900" h="38100"/>
          </a:sp3d>
        </p:spPr>
      </p:sp>
      <p:pic>
        <p:nvPicPr>
          <p:cNvPr id="22" name="icon_FaRandom" descr="preencoded.png">    </p:cNvPr>
          <p:cNvPicPr>
            <a:picLocks noChangeAspect="1"/>
          </p:cNvPicPr>
          <p:nvPr/>
        </p:nvPicPr>
        <p:blipFill>
          <a:blip r:embed="rId5"/>
          <a:stretch>
            <a:fillRect/>
          </a:stretch>
        </p:blipFill>
        <p:spPr>
          <a:xfrm>
            <a:off x="691835" y="5501579"/>
            <a:ext cx="243962" cy="243962"/>
          </a:xfrm>
          <a:prstGeom prst="rect">
            <a:avLst/>
          </a:prstGeom>
        </p:spPr>
      </p:pic>
      <p:sp>
        <p:nvSpPr>
          <p:cNvPr id="23" name="Text 16"/>
          <p:cNvSpPr txBox="1"/>
          <p:nvPr/>
        </p:nvSpPr>
        <p:spPr>
          <a:xfrm>
            <a:off x="1280160" y="5303520"/>
            <a:ext cx="4617720" cy="329184"/>
          </a:xfrm>
          <a:prstGeom prst="rect">
            <a:avLst/>
          </a:prstGeom>
          <a:noFill/>
          <a:ln/>
        </p:spPr>
        <p:txBody>
          <a:bodyPr wrap="square" lIns="0" tIns="0" rIns="0" bIns="0" rtlCol="0" anchor="t"/>
          <a:lstStyle/>
          <a:p>
            <a:pPr indent="0" marL="0">
              <a:buNone/>
            </a:pPr>
            <a:r>
              <a:rPr lang="en-US" sz="1600" b="1" dirty="0">
                <a:solidFill>
                  <a:schemeClr val="tx1"/>
                </a:solidFill>
              </a:rPr>
              <a:t>Overload &amp; multitasking</a:t>
            </a:r>
            <a:endParaRPr lang="en-US" sz="1600" dirty="0"/>
          </a:p>
        </p:txBody>
      </p:sp>
      <p:sp>
        <p:nvSpPr>
          <p:cNvPr id="24" name="Text 17"/>
          <p:cNvSpPr txBox="1"/>
          <p:nvPr/>
        </p:nvSpPr>
        <p:spPr>
          <a:xfrm>
            <a:off x="1280160" y="5650992"/>
            <a:ext cx="4617720" cy="310896"/>
          </a:xfrm>
          <a:prstGeom prst="rect">
            <a:avLst/>
          </a:prstGeom>
          <a:noFill/>
          <a:ln/>
        </p:spPr>
        <p:txBody>
          <a:bodyPr wrap="square" lIns="0" tIns="0" rIns="0" bIns="0" rtlCol="0" anchor="t"/>
          <a:lstStyle/>
          <a:p>
            <a:pPr indent="0" marL="0">
              <a:buNone/>
            </a:pPr>
            <a:r>
              <a:rPr lang="en-US" sz="1400" dirty="0">
                <a:solidFill>
                  <a:schemeClr val="tx2"/>
                </a:solidFill>
              </a:rPr>
              <a:t>Finish work before starting new work</a:t>
            </a:r>
            <a:endParaRPr lang="en-US" sz="1400" dirty="0"/>
          </a:p>
        </p:txBody>
      </p:sp>
      <p:sp>
        <p:nvSpPr>
          <p:cNvPr id="25" name="Text 18"/>
          <p:cNvSpPr txBox="1"/>
          <p:nvPr/>
        </p:nvSpPr>
        <p:spPr>
          <a:xfrm>
            <a:off x="6172200" y="1572768"/>
            <a:ext cx="5470855"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PRACTICAL EXAMPLES</a:t>
            </a:r>
            <a:endParaRPr lang="en-US" sz="1200" dirty="0"/>
          </a:p>
        </p:txBody>
      </p:sp>
      <p:sp>
        <p:nvSpPr>
          <p:cNvPr id="26" name="3DC_card"/>
          <p:cNvSpPr/>
          <p:nvPr/>
        </p:nvSpPr>
        <p:spPr>
          <a:xfrm>
            <a:off x="6172200" y="1920240"/>
            <a:ext cx="2621128"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127000" dist="38100" dir="5400000">
              <a:srgbClr val="16212E">
                <a:alpha val="16000"/>
              </a:srgbClr>
            </a:outerShdw>
          </a:effectLst>
          <a:scene3d>
            <a:camera prst="orthographicFront"/>
            <a:lightRig rig="threePt" dir="t"/>
          </a:scene3d>
          <a:sp3d>
            <a:bevelT w="25400" h="12700" prst="softRound"/>
          </a:sp3d>
        </p:spPr>
      </p:sp>
      <p:sp>
        <p:nvSpPr>
          <p:cNvPr id="27" name="3DB_icon"/>
          <p:cNvSpPr/>
          <p:nvPr/>
        </p:nvSpPr>
        <p:spPr>
          <a:xfrm>
            <a:off x="6355080" y="2103120"/>
            <a:ext cx="548640" cy="548640"/>
          </a:xfrm>
          <a:prstGeom prst="ellipse">
            <a:avLst/>
          </a:prstGeom>
          <a:solidFill>
            <a:schemeClr val="accent1"/>
          </a:solidFill>
          <a:ln w="12700">
            <a:solidFill>
              <a:schemeClr val="accent1"/>
            </a:solidFill>
            <a:prstDash val="solid"/>
          </a:ln>
          <a:scene3d>
            <a:camera prst="orthographicFront"/>
            <a:lightRig rig="threePt" dir="t"/>
          </a:scene3d>
          <a:sp3d prstMaterial="plastic">
            <a:bevelT w="88900" h="38100"/>
          </a:sp3d>
        </p:spPr>
      </p:sp>
      <p:pic>
        <p:nvPicPr>
          <p:cNvPr id="28" name="icon_FaCar" descr="preencoded.png">    </p:cNvPr>
          <p:cNvPicPr>
            <a:picLocks noChangeAspect="1"/>
          </p:cNvPicPr>
          <p:nvPr/>
        </p:nvPicPr>
        <p:blipFill>
          <a:blip r:embed="rId6"/>
          <a:stretch>
            <a:fillRect/>
          </a:stretch>
        </p:blipFill>
        <p:spPr>
          <a:xfrm>
            <a:off x="6503213" y="2251253"/>
            <a:ext cx="252374" cy="252374"/>
          </a:xfrm>
          <a:prstGeom prst="rect">
            <a:avLst/>
          </a:prstGeom>
        </p:spPr>
      </p:pic>
      <p:sp>
        <p:nvSpPr>
          <p:cNvPr id="29" name="Text 21"/>
          <p:cNvSpPr txBox="1"/>
          <p:nvPr/>
        </p:nvSpPr>
        <p:spPr>
          <a:xfrm>
            <a:off x="7040880" y="2103120"/>
            <a:ext cx="1615288" cy="548640"/>
          </a:xfrm>
          <a:prstGeom prst="rect">
            <a:avLst/>
          </a:prstGeom>
          <a:noFill/>
          <a:ln/>
        </p:spPr>
        <p:txBody>
          <a:bodyPr wrap="square" lIns="0" tIns="0" rIns="0" bIns="0" rtlCol="0" anchor="ctr"/>
          <a:lstStyle/>
          <a:p>
            <a:pPr indent="0" marL="0">
              <a:buNone/>
            </a:pPr>
            <a:r>
              <a:rPr lang="en-US" sz="1600" b="1" dirty="0">
                <a:solidFill>
                  <a:schemeClr val="tx1"/>
                </a:solidFill>
              </a:rPr>
              <a:t>Car assembly line</a:t>
            </a:r>
            <a:endParaRPr lang="en-US" sz="1600" dirty="0"/>
          </a:p>
        </p:txBody>
      </p:sp>
      <p:sp>
        <p:nvSpPr>
          <p:cNvPr id="30" name="Text 22"/>
          <p:cNvSpPr txBox="1"/>
          <p:nvPr/>
        </p:nvSpPr>
        <p:spPr>
          <a:xfrm>
            <a:off x="6355080" y="2788920"/>
            <a:ext cx="2301088" cy="1051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Line-side parts in two-bin racks</a:t>
            </a:r>
            <a:endParaRPr lang="en-US" sz="1400" dirty="0"/>
          </a:p>
          <a:p>
            <a:pPr marL="342900" indent="-342900">
              <a:spcAft>
                <a:spcPts val="400"/>
              </a:spcAft>
              <a:buSzPct val="100000"/>
              <a:buChar char="•"/>
            </a:pPr>
            <a:r>
              <a:rPr lang="en-US" sz="1400" dirty="0">
                <a:solidFill>
                  <a:schemeClr val="tx2"/>
                </a:solidFill>
              </a:rPr>
              <a:t>Supplier kanbans trigger deliveries</a:t>
            </a:r>
            <a:endParaRPr lang="en-US" sz="1400" dirty="0"/>
          </a:p>
        </p:txBody>
      </p:sp>
      <p:sp>
        <p:nvSpPr>
          <p:cNvPr id="31" name="3DC_card"/>
          <p:cNvSpPr/>
          <p:nvPr/>
        </p:nvSpPr>
        <p:spPr>
          <a:xfrm>
            <a:off x="9021928" y="1920240"/>
            <a:ext cx="2621128"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127000" dist="38100" dir="5400000">
              <a:srgbClr val="16212E">
                <a:alpha val="16000"/>
              </a:srgbClr>
            </a:outerShdw>
          </a:effectLst>
          <a:scene3d>
            <a:camera prst="orthographicFront"/>
            <a:lightRig rig="threePt" dir="t"/>
          </a:scene3d>
          <a:sp3d>
            <a:bevelT w="25400" h="12700" prst="softRound"/>
          </a:sp3d>
        </p:spPr>
      </p:sp>
      <p:sp>
        <p:nvSpPr>
          <p:cNvPr id="32" name="3DB_icon"/>
          <p:cNvSpPr/>
          <p:nvPr/>
        </p:nvSpPr>
        <p:spPr>
          <a:xfrm>
            <a:off x="9204808" y="2103120"/>
            <a:ext cx="548640" cy="548640"/>
          </a:xfrm>
          <a:prstGeom prst="ellipse">
            <a:avLst/>
          </a:prstGeom>
          <a:solidFill>
            <a:schemeClr val="accent2"/>
          </a:solidFill>
          <a:ln w="12700">
            <a:solidFill>
              <a:schemeClr val="accent2"/>
            </a:solidFill>
            <a:prstDash val="solid"/>
          </a:ln>
          <a:scene3d>
            <a:camera prst="orthographicFront"/>
            <a:lightRig rig="threePt" dir="t"/>
          </a:scene3d>
          <a:sp3d prstMaterial="plastic">
            <a:bevelT w="88900" h="38100"/>
          </a:sp3d>
        </p:spPr>
      </p:sp>
      <p:pic>
        <p:nvPicPr>
          <p:cNvPr id="33" name="icon_FaHospital" descr="preencoded.png">    </p:cNvPr>
          <p:cNvPicPr>
            <a:picLocks noChangeAspect="1"/>
          </p:cNvPicPr>
          <p:nvPr/>
        </p:nvPicPr>
        <p:blipFill>
          <a:blip r:embed="rId7"/>
          <a:stretch>
            <a:fillRect/>
          </a:stretch>
        </p:blipFill>
        <p:spPr>
          <a:xfrm>
            <a:off x="9352940" y="2251253"/>
            <a:ext cx="252374" cy="252374"/>
          </a:xfrm>
          <a:prstGeom prst="rect">
            <a:avLst/>
          </a:prstGeom>
        </p:spPr>
      </p:pic>
      <p:sp>
        <p:nvSpPr>
          <p:cNvPr id="34" name="Text 25"/>
          <p:cNvSpPr txBox="1"/>
          <p:nvPr/>
        </p:nvSpPr>
        <p:spPr>
          <a:xfrm>
            <a:off x="9890608" y="2103120"/>
            <a:ext cx="1615288" cy="548640"/>
          </a:xfrm>
          <a:prstGeom prst="rect">
            <a:avLst/>
          </a:prstGeom>
          <a:noFill/>
          <a:ln/>
        </p:spPr>
        <p:txBody>
          <a:bodyPr wrap="square" lIns="0" tIns="0" rIns="0" bIns="0" rtlCol="0" anchor="ctr"/>
          <a:lstStyle/>
          <a:p>
            <a:pPr indent="0" marL="0">
              <a:buNone/>
            </a:pPr>
            <a:r>
              <a:rPr lang="en-US" sz="1600" b="1" dirty="0">
                <a:solidFill>
                  <a:schemeClr val="tx1"/>
                </a:solidFill>
              </a:rPr>
              <a:t>Hospital ward</a:t>
            </a:r>
            <a:endParaRPr lang="en-US" sz="1600" dirty="0"/>
          </a:p>
        </p:txBody>
      </p:sp>
      <p:sp>
        <p:nvSpPr>
          <p:cNvPr id="35" name="Text 26"/>
          <p:cNvSpPr txBox="1"/>
          <p:nvPr/>
        </p:nvSpPr>
        <p:spPr>
          <a:xfrm>
            <a:off x="9204808" y="2788920"/>
            <a:ext cx="2301088" cy="1051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Two-bin cabinets for gloves, syringes</a:t>
            </a:r>
            <a:endParaRPr lang="en-US" sz="1400" dirty="0"/>
          </a:p>
          <a:p>
            <a:pPr marL="342900" indent="-342900">
              <a:spcAft>
                <a:spcPts val="400"/>
              </a:spcAft>
              <a:buSzPct val="100000"/>
              <a:buChar char="•"/>
            </a:pPr>
            <a:r>
              <a:rPr lang="en-US" sz="1400" dirty="0">
                <a:solidFill>
                  <a:schemeClr val="tx2"/>
                </a:solidFill>
              </a:rPr>
              <a:t>Empty-bin card is scanned to reorder</a:t>
            </a:r>
            <a:endParaRPr lang="en-US" sz="1400" dirty="0"/>
          </a:p>
        </p:txBody>
      </p:sp>
      <p:sp>
        <p:nvSpPr>
          <p:cNvPr id="36" name="3DC_card"/>
          <p:cNvSpPr/>
          <p:nvPr/>
        </p:nvSpPr>
        <p:spPr>
          <a:xfrm>
            <a:off x="6172200" y="4160520"/>
            <a:ext cx="2621128"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127000" dist="38100" dir="5400000">
              <a:srgbClr val="16212E">
                <a:alpha val="16000"/>
              </a:srgbClr>
            </a:outerShdw>
          </a:effectLst>
          <a:scene3d>
            <a:camera prst="orthographicFront"/>
            <a:lightRig rig="threePt" dir="t"/>
          </a:scene3d>
          <a:sp3d>
            <a:bevelT w="25400" h="12700" prst="softRound"/>
          </a:sp3d>
        </p:spPr>
      </p:sp>
      <p:sp>
        <p:nvSpPr>
          <p:cNvPr id="37" name="3DB_icon"/>
          <p:cNvSpPr/>
          <p:nvPr/>
        </p:nvSpPr>
        <p:spPr>
          <a:xfrm>
            <a:off x="6355080" y="4343400"/>
            <a:ext cx="548640" cy="548640"/>
          </a:xfrm>
          <a:prstGeom prst="ellipse">
            <a:avLst/>
          </a:prstGeom>
          <a:solidFill>
            <a:schemeClr val="accent4"/>
          </a:solidFill>
          <a:ln w="12700">
            <a:solidFill>
              <a:schemeClr val="accent4"/>
            </a:solidFill>
            <a:prstDash val="solid"/>
          </a:ln>
          <a:scene3d>
            <a:camera prst="orthographicFront"/>
            <a:lightRig rig="threePt" dir="t"/>
          </a:scene3d>
          <a:sp3d prstMaterial="plastic">
            <a:bevelT w="88900" h="38100"/>
          </a:sp3d>
        </p:spPr>
      </p:sp>
      <p:pic>
        <p:nvPicPr>
          <p:cNvPr id="38" name="icon_FaLaptopCode" descr="preencoded.png">    </p:cNvPr>
          <p:cNvPicPr>
            <a:picLocks noChangeAspect="1"/>
          </p:cNvPicPr>
          <p:nvPr/>
        </p:nvPicPr>
        <p:blipFill>
          <a:blip r:embed="rId8"/>
          <a:stretch>
            <a:fillRect/>
          </a:stretch>
        </p:blipFill>
        <p:spPr>
          <a:xfrm>
            <a:off x="6503213" y="4491533"/>
            <a:ext cx="252374" cy="252374"/>
          </a:xfrm>
          <a:prstGeom prst="rect">
            <a:avLst/>
          </a:prstGeom>
        </p:spPr>
      </p:pic>
      <p:sp>
        <p:nvSpPr>
          <p:cNvPr id="39" name="Text 29"/>
          <p:cNvSpPr txBox="1"/>
          <p:nvPr/>
        </p:nvSpPr>
        <p:spPr>
          <a:xfrm>
            <a:off x="7040880" y="4343400"/>
            <a:ext cx="1615288" cy="548640"/>
          </a:xfrm>
          <a:prstGeom prst="rect">
            <a:avLst/>
          </a:prstGeom>
          <a:noFill/>
          <a:ln/>
        </p:spPr>
        <p:txBody>
          <a:bodyPr wrap="square" lIns="0" tIns="0" rIns="0" bIns="0" rtlCol="0" anchor="ctr"/>
          <a:lstStyle/>
          <a:p>
            <a:pPr indent="0" marL="0">
              <a:buNone/>
            </a:pPr>
            <a:r>
              <a:rPr lang="en-US" sz="1600" b="1" dirty="0">
                <a:solidFill>
                  <a:schemeClr val="tx1"/>
                </a:solidFill>
              </a:rPr>
              <a:t>Software team</a:t>
            </a:r>
            <a:endParaRPr lang="en-US" sz="1600" dirty="0"/>
          </a:p>
        </p:txBody>
      </p:sp>
      <p:sp>
        <p:nvSpPr>
          <p:cNvPr id="40" name="Text 30"/>
          <p:cNvSpPr txBox="1"/>
          <p:nvPr/>
        </p:nvSpPr>
        <p:spPr>
          <a:xfrm>
            <a:off x="6355080" y="5029200"/>
            <a:ext cx="2301088" cy="1051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Board: To do → Doing → Done</a:t>
            </a:r>
            <a:endParaRPr lang="en-US" sz="1400" dirty="0"/>
          </a:p>
          <a:p>
            <a:pPr marL="342900" indent="-342900">
              <a:spcAft>
                <a:spcPts val="400"/>
              </a:spcAft>
              <a:buSzPct val="100000"/>
              <a:buChar char="•"/>
            </a:pPr>
            <a:r>
              <a:rPr lang="en-US" sz="1400" dirty="0">
                <a:solidFill>
                  <a:schemeClr val="tx2"/>
                </a:solidFill>
              </a:rPr>
              <a:t>Max 3 tasks per column</a:t>
            </a:r>
            <a:endParaRPr lang="en-US" sz="1400" dirty="0"/>
          </a:p>
        </p:txBody>
      </p:sp>
      <p:sp>
        <p:nvSpPr>
          <p:cNvPr id="41" name="3DC_card"/>
          <p:cNvSpPr/>
          <p:nvPr/>
        </p:nvSpPr>
        <p:spPr>
          <a:xfrm>
            <a:off x="9021928" y="4160520"/>
            <a:ext cx="2621128"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127000" dist="38100" dir="5400000">
              <a:srgbClr val="16212E">
                <a:alpha val="16000"/>
              </a:srgbClr>
            </a:outerShdw>
          </a:effectLst>
          <a:scene3d>
            <a:camera prst="orthographicFront"/>
            <a:lightRig rig="threePt" dir="t"/>
          </a:scene3d>
          <a:sp3d>
            <a:bevelT w="25400" h="12700" prst="softRound"/>
          </a:sp3d>
        </p:spPr>
      </p:sp>
      <p:sp>
        <p:nvSpPr>
          <p:cNvPr id="42" name="3DB_icon"/>
          <p:cNvSpPr/>
          <p:nvPr/>
        </p:nvSpPr>
        <p:spPr>
          <a:xfrm>
            <a:off x="9204808" y="4343400"/>
            <a:ext cx="548640" cy="548640"/>
          </a:xfrm>
          <a:prstGeom prst="ellipse">
            <a:avLst/>
          </a:prstGeom>
          <a:solidFill>
            <a:schemeClr val="accent3"/>
          </a:solidFill>
          <a:ln w="12700">
            <a:solidFill>
              <a:schemeClr val="accent3"/>
            </a:solidFill>
            <a:prstDash val="solid"/>
          </a:ln>
          <a:scene3d>
            <a:camera prst="orthographicFront"/>
            <a:lightRig rig="threePt" dir="t"/>
          </a:scene3d>
          <a:sp3d prstMaterial="plastic">
            <a:bevelT w="88900" h="38100"/>
          </a:sp3d>
        </p:spPr>
      </p:sp>
      <p:pic>
        <p:nvPicPr>
          <p:cNvPr id="43" name="icon_FaBriefcase" descr="preencoded.png">    </p:cNvPr>
          <p:cNvPicPr>
            <a:picLocks noChangeAspect="1"/>
          </p:cNvPicPr>
          <p:nvPr/>
        </p:nvPicPr>
        <p:blipFill>
          <a:blip r:embed="rId9"/>
          <a:stretch>
            <a:fillRect/>
          </a:stretch>
        </p:blipFill>
        <p:spPr>
          <a:xfrm>
            <a:off x="9352940" y="4491533"/>
            <a:ext cx="252374" cy="252374"/>
          </a:xfrm>
          <a:prstGeom prst="rect">
            <a:avLst/>
          </a:prstGeom>
        </p:spPr>
      </p:pic>
      <p:sp>
        <p:nvSpPr>
          <p:cNvPr id="44" name="Text 33"/>
          <p:cNvSpPr txBox="1"/>
          <p:nvPr/>
        </p:nvSpPr>
        <p:spPr>
          <a:xfrm>
            <a:off x="9890608" y="4343400"/>
            <a:ext cx="1615288" cy="548640"/>
          </a:xfrm>
          <a:prstGeom prst="rect">
            <a:avLst/>
          </a:prstGeom>
          <a:noFill/>
          <a:ln/>
        </p:spPr>
        <p:txBody>
          <a:bodyPr wrap="square" lIns="0" tIns="0" rIns="0" bIns="0" rtlCol="0" anchor="ctr"/>
          <a:lstStyle/>
          <a:p>
            <a:pPr indent="0" marL="0">
              <a:buNone/>
            </a:pPr>
            <a:r>
              <a:rPr lang="en-US" sz="1600" b="1" dirty="0">
                <a:solidFill>
                  <a:schemeClr val="tx1"/>
                </a:solidFill>
              </a:rPr>
              <a:t>Office / HR</a:t>
            </a:r>
            <a:endParaRPr lang="en-US" sz="1600" dirty="0"/>
          </a:p>
        </p:txBody>
      </p:sp>
      <p:sp>
        <p:nvSpPr>
          <p:cNvPr id="45" name="Text 34"/>
          <p:cNvSpPr txBox="1"/>
          <p:nvPr/>
        </p:nvSpPr>
        <p:spPr>
          <a:xfrm>
            <a:off x="9204808" y="5029200"/>
            <a:ext cx="2301088" cy="1051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Each request or vacancy is a card</a:t>
            </a:r>
            <a:endParaRPr lang="en-US" sz="1400" dirty="0"/>
          </a:p>
          <a:p>
            <a:pPr marL="342900" indent="-342900">
              <a:spcAft>
                <a:spcPts val="400"/>
              </a:spcAft>
              <a:buSzPct val="100000"/>
              <a:buChar char="•"/>
            </a:pPr>
            <a:r>
              <a:rPr lang="en-US" sz="1400" dirty="0">
                <a:solidFill>
                  <a:schemeClr val="tx2"/>
                </a:solidFill>
              </a:rPr>
              <a:t>Shows where approvals wait</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400">
        <p14:conveyor dir="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hip"/>
          <p:cNvSpPr/>
          <p:nvPr/>
        </p:nvSpPr>
        <p:spPr>
          <a:xfrm>
            <a:off x="548640" y="237744"/>
            <a:ext cx="3182112"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50" b="1" spc="150" kern="0" dirty="0">
                <a:solidFill>
                  <a:schemeClr val="bg1"/>
                </a:solidFill>
              </a:rPr>
              <a:t>TPM · TOTAL PRODUCTIVE MAINTENANCE</a:t>
            </a:r>
            <a:endParaRPr lang="en-US" sz="1050" dirty="0"/>
          </a:p>
        </p:txBody>
      </p:sp>
      <p:sp>
        <p:nvSpPr>
          <p:cNvPr id="3"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TPM: purpose and principles</a:t>
            </a:r>
            <a:endParaRPr lang="en-US" sz="3400" dirty="0"/>
          </a:p>
        </p:txBody>
      </p:sp>
      <p:sp>
        <p:nvSpPr>
          <p:cNvPr id="4" name="3DT_zero"/>
          <p:cNvSpPr/>
          <p:nvPr/>
        </p:nvSpPr>
        <p:spPr>
          <a:xfrm>
            <a:off x="548640" y="1572768"/>
            <a:ext cx="3545738" cy="822960"/>
          </a:xfrm>
          <a:prstGeom prst="roundRect">
            <a:avLst>
              <a:gd name="adj" fmla="val 11111"/>
            </a:avLst>
          </a:prstGeom>
          <a:solidFill>
            <a:schemeClr val="accent2"/>
          </a:solidFill>
          <a:ln>
            <a:solidFill>
              <a:schemeClr val="accent2"/>
            </a:solidFill>
          </a:ln>
          <a:scene3d>
            <a:camera prst="perspectiveAbove"/>
            <a:lightRig rig="threePt" dir="t"/>
          </a:scene3d>
          <a:sp3d extrusionH="152400" prstMaterial="plastic">
            <a:bevelT w="38100" h="38100"/>
            <a:extrusionClr>
              <a:schemeClr val="tx1"/>
            </a:extrusionClr>
          </a:sp3d>
        </p:spPr>
        <p:txBody>
          <a:bodyPr wrap="square" lIns="228600" tIns="0" rIns="0" bIns="0" rtlCol="0" anchor="ctr"/>
          <a:lstStyle/>
          <a:p>
            <a:pPr algn="l" indent="0" marL="0">
              <a:buNone/>
            </a:pPr>
            <a:r>
              <a:rPr lang="en-US" sz="4000" b="1" dirty="0">
                <a:solidFill>
                  <a:schemeClr val="bg1"/>
                </a:solidFill>
                <a:latin typeface="Arial" pitchFamily="34" charset="0"/>
                <a:ea typeface="Arial" pitchFamily="34" charset="-122"/>
                <a:cs typeface="Arial" pitchFamily="34" charset="-120"/>
              </a:rPr>
              <a:t>0</a:t>
            </a:r>
            <a:pPr algn="l" indent="0" marL="0">
              <a:buNone/>
            </a:pPr>
            <a:r>
              <a:rPr lang="en-US" sz="2000" b="1" dirty="0">
                <a:solidFill>
                  <a:schemeClr val="bg1"/>
                </a:solidFill>
                <a:latin typeface="Arial" pitchFamily="34" charset="0"/>
                <a:ea typeface="Arial" pitchFamily="34" charset="-122"/>
                <a:cs typeface="Arial" pitchFamily="34" charset="-120"/>
              </a:rPr>
              <a:t>  breakdowns</a:t>
            </a:r>
            <a:endParaRPr lang="en-US" sz="4000" dirty="0"/>
          </a:p>
        </p:txBody>
      </p:sp>
      <p:sp>
        <p:nvSpPr>
          <p:cNvPr id="5" name="3DT_zero"/>
          <p:cNvSpPr/>
          <p:nvPr/>
        </p:nvSpPr>
        <p:spPr>
          <a:xfrm>
            <a:off x="4322978" y="1572768"/>
            <a:ext cx="3545738" cy="822960"/>
          </a:xfrm>
          <a:prstGeom prst="roundRect">
            <a:avLst>
              <a:gd name="adj" fmla="val 11111"/>
            </a:avLst>
          </a:prstGeom>
          <a:solidFill>
            <a:schemeClr val="accent4"/>
          </a:solidFill>
          <a:ln>
            <a:solidFill>
              <a:schemeClr val="accent4"/>
            </a:solidFill>
          </a:ln>
          <a:scene3d>
            <a:camera prst="perspectiveAbove"/>
            <a:lightRig rig="threePt" dir="t"/>
          </a:scene3d>
          <a:sp3d extrusionH="152400" prstMaterial="plastic">
            <a:bevelT w="38100" h="38100"/>
            <a:extrusionClr>
              <a:schemeClr val="tx1"/>
            </a:extrusionClr>
          </a:sp3d>
        </p:spPr>
        <p:txBody>
          <a:bodyPr wrap="square" lIns="228600" tIns="0" rIns="0" bIns="0" rtlCol="0" anchor="ctr"/>
          <a:lstStyle/>
          <a:p>
            <a:pPr algn="l" indent="0" marL="0">
              <a:buNone/>
            </a:pPr>
            <a:r>
              <a:rPr lang="en-US" sz="4000" b="1" dirty="0">
                <a:solidFill>
                  <a:schemeClr val="bg1"/>
                </a:solidFill>
                <a:latin typeface="Arial" pitchFamily="34" charset="0"/>
                <a:ea typeface="Arial" pitchFamily="34" charset="-122"/>
                <a:cs typeface="Arial" pitchFamily="34" charset="-120"/>
              </a:rPr>
              <a:t>0</a:t>
            </a:r>
            <a:pPr algn="l" indent="0" marL="0">
              <a:buNone/>
            </a:pPr>
            <a:r>
              <a:rPr lang="en-US" sz="2000" b="1" dirty="0">
                <a:solidFill>
                  <a:schemeClr val="bg1"/>
                </a:solidFill>
                <a:latin typeface="Arial" pitchFamily="34" charset="0"/>
                <a:ea typeface="Arial" pitchFamily="34" charset="-122"/>
                <a:cs typeface="Arial" pitchFamily="34" charset="-120"/>
              </a:rPr>
              <a:t>  defects</a:t>
            </a:r>
            <a:endParaRPr lang="en-US" sz="4000" dirty="0"/>
          </a:p>
        </p:txBody>
      </p:sp>
      <p:sp>
        <p:nvSpPr>
          <p:cNvPr id="6" name="3DT_zero"/>
          <p:cNvSpPr/>
          <p:nvPr/>
        </p:nvSpPr>
        <p:spPr>
          <a:xfrm>
            <a:off x="8097317" y="1572768"/>
            <a:ext cx="3545738" cy="822960"/>
          </a:xfrm>
          <a:prstGeom prst="roundRect">
            <a:avLst>
              <a:gd name="adj" fmla="val 11111"/>
            </a:avLst>
          </a:prstGeom>
          <a:solidFill>
            <a:schemeClr val="accent2"/>
          </a:solidFill>
          <a:ln>
            <a:solidFill>
              <a:schemeClr val="accent2"/>
            </a:solidFill>
          </a:ln>
          <a:scene3d>
            <a:camera prst="perspectiveAbove"/>
            <a:lightRig rig="threePt" dir="t"/>
          </a:scene3d>
          <a:sp3d extrusionH="152400" prstMaterial="plastic">
            <a:bevelT w="38100" h="38100"/>
            <a:extrusionClr>
              <a:schemeClr val="tx1"/>
            </a:extrusionClr>
          </a:sp3d>
        </p:spPr>
        <p:txBody>
          <a:bodyPr wrap="square" lIns="228600" tIns="0" rIns="0" bIns="0" rtlCol="0" anchor="ctr"/>
          <a:lstStyle/>
          <a:p>
            <a:pPr algn="l" indent="0" marL="0">
              <a:buNone/>
            </a:pPr>
            <a:r>
              <a:rPr lang="en-US" sz="4000" b="1" dirty="0">
                <a:solidFill>
                  <a:schemeClr val="bg1"/>
                </a:solidFill>
                <a:latin typeface="Arial" pitchFamily="34" charset="0"/>
                <a:ea typeface="Arial" pitchFamily="34" charset="-122"/>
                <a:cs typeface="Arial" pitchFamily="34" charset="-120"/>
              </a:rPr>
              <a:t>0</a:t>
            </a:r>
            <a:pPr algn="l" indent="0" marL="0">
              <a:buNone/>
            </a:pPr>
            <a:r>
              <a:rPr lang="en-US" sz="2000" b="1" dirty="0">
                <a:solidFill>
                  <a:schemeClr val="bg1"/>
                </a:solidFill>
                <a:latin typeface="Arial" pitchFamily="34" charset="0"/>
                <a:ea typeface="Arial" pitchFamily="34" charset="-122"/>
                <a:cs typeface="Arial" pitchFamily="34" charset="-120"/>
              </a:rPr>
              <a:t>  accidents</a:t>
            </a:r>
            <a:endParaRPr lang="en-US" sz="4000" dirty="0"/>
          </a:p>
        </p:txBody>
      </p:sp>
      <p:sp>
        <p:nvSpPr>
          <p:cNvPr id="7" name="Text 5"/>
          <p:cNvSpPr txBox="1"/>
          <p:nvPr/>
        </p:nvSpPr>
        <p:spPr>
          <a:xfrm>
            <a:off x="548640" y="2514600"/>
            <a:ext cx="11094415" cy="457200"/>
          </a:xfrm>
          <a:prstGeom prst="rect">
            <a:avLst/>
          </a:prstGeom>
          <a:noFill/>
          <a:ln/>
        </p:spPr>
        <p:txBody>
          <a:bodyPr wrap="square" lIns="0" tIns="0" rIns="0" bIns="0" rtlCol="0" anchor="ctr"/>
          <a:lstStyle/>
          <a:p>
            <a:pPr indent="0" marL="0">
              <a:buNone/>
            </a:pPr>
            <a:r>
              <a:rPr lang="en-US" sz="1600" b="1" dirty="0">
                <a:solidFill>
                  <a:schemeClr val="accent2"/>
                </a:solidFill>
              </a:rPr>
              <a:t>Purpose: </a:t>
            </a:r>
            <a:pPr indent="0" marL="0">
              <a:buNone/>
            </a:pPr>
            <a:r>
              <a:rPr lang="en-US" sz="1600" dirty="0">
                <a:solidFill>
                  <a:schemeClr val="tx1"/>
                </a:solidFill>
              </a:rPr>
              <a:t>keep equipment reliable and fully effective. Operators and maintenance share ownership: “I take care of my equipment.”</a:t>
            </a:r>
            <a:endParaRPr lang="en-US" sz="1600" dirty="0"/>
          </a:p>
        </p:txBody>
      </p:sp>
      <p:sp>
        <p:nvSpPr>
          <p:cNvPr id="8" name="3DP_roof"/>
          <p:cNvSpPr/>
          <p:nvPr/>
        </p:nvSpPr>
        <p:spPr>
          <a:xfrm>
            <a:off x="548640" y="3090672"/>
            <a:ext cx="11094415" cy="548640"/>
          </a:xfrm>
          <a:prstGeom prst="triangle">
            <a:avLst/>
          </a:prstGeom>
          <a:solidFill>
            <a:schemeClr val="accent2"/>
          </a:solidFill>
          <a:ln w="12700">
            <a:solidFill>
              <a:schemeClr val="accent2"/>
            </a:solidFill>
            <a:prstDash val="solid"/>
          </a:ln>
          <a:scene3d>
            <a:camera prst="orthographicFront"/>
            <a:lightRig rig="threePt" dir="t"/>
          </a:scene3d>
          <a:sp3d prstMaterial="matte">
            <a:bevelT w="44450" h="25400" prst="angle"/>
          </a:sp3d>
        </p:spPr>
      </p:sp>
      <p:sp>
        <p:nvSpPr>
          <p:cNvPr id="9" name="Text 7"/>
          <p:cNvSpPr txBox="1"/>
          <p:nvPr/>
        </p:nvSpPr>
        <p:spPr>
          <a:xfrm>
            <a:off x="4998568" y="3364992"/>
            <a:ext cx="2194560" cy="256032"/>
          </a:xfrm>
          <a:prstGeom prst="rect">
            <a:avLst/>
          </a:prstGeom>
          <a:noFill/>
          <a:ln/>
        </p:spPr>
        <p:txBody>
          <a:bodyPr wrap="square" lIns="0" tIns="0" rIns="0" bIns="0" rtlCol="0" anchor="t"/>
          <a:lstStyle/>
          <a:p>
            <a:pPr algn="ctr" indent="0" marL="0">
              <a:buNone/>
            </a:pPr>
            <a:r>
              <a:rPr lang="en-US" sz="1200" b="1" spc="200" kern="0" dirty="0">
                <a:solidFill>
                  <a:schemeClr val="bg1"/>
                </a:solidFill>
              </a:rPr>
              <a:t>8 PILLARS</a:t>
            </a:r>
            <a:endParaRPr lang="en-US" sz="1200" dirty="0"/>
          </a:p>
        </p:txBody>
      </p:sp>
      <p:sp>
        <p:nvSpPr>
          <p:cNvPr id="10" name="3DP_pillar"/>
          <p:cNvSpPr/>
          <p:nvPr/>
        </p:nvSpPr>
        <p:spPr>
          <a:xfrm>
            <a:off x="548640" y="3685032"/>
            <a:ext cx="1290790" cy="1847088"/>
          </a:xfrm>
          <a:prstGeom prst="rect">
            <a:avLst/>
          </a:prstGeom>
          <a:solidFill>
            <a:schemeClr val="bg2"/>
          </a:solidFill>
          <a:ln w="9525">
            <a:solidFill>
              <a:srgbClr val="D6DCE3"/>
            </a:solidFill>
            <a:prstDash val="solid"/>
          </a:ln>
          <a:scene3d>
            <a:camera prst="orthographicFront"/>
            <a:lightRig rig="threePt" dir="t"/>
          </a:scene3d>
          <a:sp3d prstMaterial="matte">
            <a:bevelT w="44450" h="25400" prst="angle"/>
          </a:sp3d>
        </p:spPr>
      </p:sp>
      <p:sp>
        <p:nvSpPr>
          <p:cNvPr id="11" name="3DB_icon"/>
          <p:cNvSpPr/>
          <p:nvPr/>
        </p:nvSpPr>
        <p:spPr>
          <a:xfrm>
            <a:off x="974579" y="3776472"/>
            <a:ext cx="438912" cy="438912"/>
          </a:xfrm>
          <a:prstGeom prst="ellipse">
            <a:avLst/>
          </a:prstGeom>
          <a:solidFill>
            <a:schemeClr val="accent2"/>
          </a:solidFill>
          <a:ln w="12700">
            <a:solidFill>
              <a:schemeClr val="accent2"/>
            </a:solidFill>
            <a:prstDash val="solid"/>
          </a:ln>
          <a:scene3d>
            <a:camera prst="orthographicFront"/>
            <a:lightRig rig="threePt" dir="t"/>
          </a:scene3d>
          <a:sp3d prstMaterial="plastic">
            <a:bevelT w="88900" h="38100"/>
          </a:sp3d>
        </p:spPr>
      </p:sp>
      <p:pic>
        <p:nvPicPr>
          <p:cNvPr id="12" name="icon_FaBroom" descr="preencoded.png">    </p:cNvPr>
          <p:cNvPicPr>
            <a:picLocks noChangeAspect="1"/>
          </p:cNvPicPr>
          <p:nvPr/>
        </p:nvPicPr>
        <p:blipFill>
          <a:blip r:embed="rId1"/>
          <a:stretch>
            <a:fillRect/>
          </a:stretch>
        </p:blipFill>
        <p:spPr>
          <a:xfrm>
            <a:off x="1093085" y="3894978"/>
            <a:ext cx="201900" cy="201900"/>
          </a:xfrm>
          <a:prstGeom prst="rect">
            <a:avLst/>
          </a:prstGeom>
        </p:spPr>
      </p:pic>
      <p:sp>
        <p:nvSpPr>
          <p:cNvPr id="13" name="Text 10"/>
          <p:cNvSpPr txBox="1"/>
          <p:nvPr/>
        </p:nvSpPr>
        <p:spPr>
          <a:xfrm>
            <a:off x="594360" y="4251960"/>
            <a:ext cx="1199350" cy="457200"/>
          </a:xfrm>
          <a:prstGeom prst="rect">
            <a:avLst/>
          </a:prstGeom>
          <a:noFill/>
          <a:ln/>
        </p:spPr>
        <p:txBody>
          <a:bodyPr wrap="square" lIns="0" tIns="0" rIns="0" bIns="0" rtlCol="0" anchor="ctr"/>
          <a:lstStyle/>
          <a:p>
            <a:pPr algn="ctr" indent="0" marL="0">
              <a:buNone/>
            </a:pPr>
            <a:r>
              <a:rPr lang="en-US" sz="1200" b="1" dirty="0">
                <a:solidFill>
                  <a:schemeClr val="tx1"/>
                </a:solidFill>
              </a:rPr>
              <a:t>Autonomous Maintenance</a:t>
            </a:r>
            <a:endParaRPr lang="en-US" sz="1200" dirty="0"/>
          </a:p>
        </p:txBody>
      </p:sp>
      <p:sp>
        <p:nvSpPr>
          <p:cNvPr id="14" name="Text 11"/>
          <p:cNvSpPr txBox="1"/>
          <p:nvPr/>
        </p:nvSpPr>
        <p:spPr>
          <a:xfrm>
            <a:off x="612648" y="4745736"/>
            <a:ext cx="1162774" cy="731520"/>
          </a:xfrm>
          <a:prstGeom prst="rect">
            <a:avLst/>
          </a:prstGeom>
          <a:noFill/>
          <a:ln/>
        </p:spPr>
        <p:txBody>
          <a:bodyPr wrap="square" lIns="0" tIns="0" rIns="0" bIns="0" rtlCol="0" anchor="t"/>
          <a:lstStyle/>
          <a:p>
            <a:pPr algn="ctr" indent="0" marL="0">
              <a:buNone/>
            </a:pPr>
            <a:r>
              <a:rPr lang="en-US" sz="1200" dirty="0">
                <a:solidFill>
                  <a:schemeClr val="tx2"/>
                </a:solidFill>
              </a:rPr>
              <a:t>Operators clean, inspect, lubricate</a:t>
            </a:r>
            <a:endParaRPr lang="en-US" sz="1200" dirty="0"/>
          </a:p>
        </p:txBody>
      </p:sp>
      <p:sp>
        <p:nvSpPr>
          <p:cNvPr id="15" name="3DP_pillar"/>
          <p:cNvSpPr/>
          <p:nvPr/>
        </p:nvSpPr>
        <p:spPr>
          <a:xfrm>
            <a:off x="1949158" y="3685032"/>
            <a:ext cx="1290790" cy="1847088"/>
          </a:xfrm>
          <a:prstGeom prst="rect">
            <a:avLst/>
          </a:prstGeom>
          <a:solidFill>
            <a:schemeClr val="bg2"/>
          </a:solidFill>
          <a:ln w="9525">
            <a:solidFill>
              <a:srgbClr val="D6DCE3"/>
            </a:solidFill>
            <a:prstDash val="solid"/>
          </a:ln>
          <a:scene3d>
            <a:camera prst="orthographicFront"/>
            <a:lightRig rig="threePt" dir="t"/>
          </a:scene3d>
          <a:sp3d prstMaterial="matte">
            <a:bevelT w="44450" h="25400" prst="angle"/>
          </a:sp3d>
        </p:spPr>
      </p:sp>
      <p:sp>
        <p:nvSpPr>
          <p:cNvPr id="16" name="3DB_icon"/>
          <p:cNvSpPr/>
          <p:nvPr/>
        </p:nvSpPr>
        <p:spPr>
          <a:xfrm>
            <a:off x="2375097" y="3776472"/>
            <a:ext cx="438912" cy="438912"/>
          </a:xfrm>
          <a:prstGeom prst="ellipse">
            <a:avLst/>
          </a:prstGeom>
          <a:solidFill>
            <a:schemeClr val="accent4"/>
          </a:solidFill>
          <a:ln w="12700">
            <a:solidFill>
              <a:schemeClr val="accent4"/>
            </a:solidFill>
            <a:prstDash val="solid"/>
          </a:ln>
          <a:scene3d>
            <a:camera prst="orthographicFront"/>
            <a:lightRig rig="threePt" dir="t"/>
          </a:scene3d>
          <a:sp3d prstMaterial="plastic">
            <a:bevelT w="88900" h="38100"/>
          </a:sp3d>
        </p:spPr>
      </p:sp>
      <p:pic>
        <p:nvPicPr>
          <p:cNvPr id="17" name="icon_FaCalendarAlt" descr="preencoded.png">    </p:cNvPr>
          <p:cNvPicPr>
            <a:picLocks noChangeAspect="1"/>
          </p:cNvPicPr>
          <p:nvPr/>
        </p:nvPicPr>
        <p:blipFill>
          <a:blip r:embed="rId2"/>
          <a:stretch>
            <a:fillRect/>
          </a:stretch>
        </p:blipFill>
        <p:spPr>
          <a:xfrm>
            <a:off x="2493603" y="3894978"/>
            <a:ext cx="201900" cy="201900"/>
          </a:xfrm>
          <a:prstGeom prst="rect">
            <a:avLst/>
          </a:prstGeom>
        </p:spPr>
      </p:pic>
      <p:sp>
        <p:nvSpPr>
          <p:cNvPr id="18" name="Text 14"/>
          <p:cNvSpPr txBox="1"/>
          <p:nvPr/>
        </p:nvSpPr>
        <p:spPr>
          <a:xfrm>
            <a:off x="1994878" y="4251960"/>
            <a:ext cx="1199350" cy="457200"/>
          </a:xfrm>
          <a:prstGeom prst="rect">
            <a:avLst/>
          </a:prstGeom>
          <a:noFill/>
          <a:ln/>
        </p:spPr>
        <p:txBody>
          <a:bodyPr wrap="square" lIns="0" tIns="0" rIns="0" bIns="0" rtlCol="0" anchor="ctr"/>
          <a:lstStyle/>
          <a:p>
            <a:pPr algn="ctr" indent="0" marL="0">
              <a:buNone/>
            </a:pPr>
            <a:r>
              <a:rPr lang="en-US" sz="1200" b="1" dirty="0">
                <a:solidFill>
                  <a:schemeClr val="tx1"/>
                </a:solidFill>
              </a:rPr>
              <a:t>Planned Maintenance</a:t>
            </a:r>
            <a:endParaRPr lang="en-US" sz="1200" dirty="0"/>
          </a:p>
        </p:txBody>
      </p:sp>
      <p:sp>
        <p:nvSpPr>
          <p:cNvPr id="19" name="Text 15"/>
          <p:cNvSpPr txBox="1"/>
          <p:nvPr/>
        </p:nvSpPr>
        <p:spPr>
          <a:xfrm>
            <a:off x="2013166" y="4745736"/>
            <a:ext cx="1162774" cy="731520"/>
          </a:xfrm>
          <a:prstGeom prst="rect">
            <a:avLst/>
          </a:prstGeom>
          <a:noFill/>
          <a:ln/>
        </p:spPr>
        <p:txBody>
          <a:bodyPr wrap="square" lIns="0" tIns="0" rIns="0" bIns="0" rtlCol="0" anchor="t"/>
          <a:lstStyle/>
          <a:p>
            <a:pPr algn="ctr" indent="0" marL="0">
              <a:buNone/>
            </a:pPr>
            <a:r>
              <a:rPr lang="en-US" sz="1200" dirty="0">
                <a:solidFill>
                  <a:schemeClr val="tx2"/>
                </a:solidFill>
              </a:rPr>
              <a:t>Service planned on failure data</a:t>
            </a:r>
            <a:endParaRPr lang="en-US" sz="1200" dirty="0"/>
          </a:p>
        </p:txBody>
      </p:sp>
      <p:sp>
        <p:nvSpPr>
          <p:cNvPr id="20" name="3DP_pillar"/>
          <p:cNvSpPr/>
          <p:nvPr/>
        </p:nvSpPr>
        <p:spPr>
          <a:xfrm>
            <a:off x="3349676" y="3685032"/>
            <a:ext cx="1290790" cy="1847088"/>
          </a:xfrm>
          <a:prstGeom prst="rect">
            <a:avLst/>
          </a:prstGeom>
          <a:solidFill>
            <a:schemeClr val="bg2"/>
          </a:solidFill>
          <a:ln w="9525">
            <a:solidFill>
              <a:srgbClr val="D6DCE3"/>
            </a:solidFill>
            <a:prstDash val="solid"/>
          </a:ln>
          <a:scene3d>
            <a:camera prst="orthographicFront"/>
            <a:lightRig rig="threePt" dir="t"/>
          </a:scene3d>
          <a:sp3d prstMaterial="matte">
            <a:bevelT w="44450" h="25400" prst="angle"/>
          </a:sp3d>
        </p:spPr>
      </p:sp>
      <p:sp>
        <p:nvSpPr>
          <p:cNvPr id="21" name="3DB_icon"/>
          <p:cNvSpPr/>
          <p:nvPr/>
        </p:nvSpPr>
        <p:spPr>
          <a:xfrm>
            <a:off x="3775615" y="3776472"/>
            <a:ext cx="438912" cy="438912"/>
          </a:xfrm>
          <a:prstGeom prst="ellipse">
            <a:avLst/>
          </a:prstGeom>
          <a:solidFill>
            <a:schemeClr val="accent2"/>
          </a:solidFill>
          <a:ln w="12700">
            <a:solidFill>
              <a:schemeClr val="accent2"/>
            </a:solidFill>
            <a:prstDash val="solid"/>
          </a:ln>
          <a:scene3d>
            <a:camera prst="orthographicFront"/>
            <a:lightRig rig="threePt" dir="t"/>
          </a:scene3d>
          <a:sp3d prstMaterial="plastic">
            <a:bevelT w="88900" h="38100"/>
          </a:sp3d>
        </p:spPr>
      </p:sp>
      <p:pic>
        <p:nvPicPr>
          <p:cNvPr id="22" name="icon_FaBullseye" descr="preencoded.png">    </p:cNvPr>
          <p:cNvPicPr>
            <a:picLocks noChangeAspect="1"/>
          </p:cNvPicPr>
          <p:nvPr/>
        </p:nvPicPr>
        <p:blipFill>
          <a:blip r:embed="rId3"/>
          <a:stretch>
            <a:fillRect/>
          </a:stretch>
        </p:blipFill>
        <p:spPr>
          <a:xfrm>
            <a:off x="3894121" y="3894978"/>
            <a:ext cx="201900" cy="201900"/>
          </a:xfrm>
          <a:prstGeom prst="rect">
            <a:avLst/>
          </a:prstGeom>
        </p:spPr>
      </p:pic>
      <p:sp>
        <p:nvSpPr>
          <p:cNvPr id="23" name="Text 18"/>
          <p:cNvSpPr txBox="1"/>
          <p:nvPr/>
        </p:nvSpPr>
        <p:spPr>
          <a:xfrm>
            <a:off x="3395396" y="4251960"/>
            <a:ext cx="1199350" cy="457200"/>
          </a:xfrm>
          <a:prstGeom prst="rect">
            <a:avLst/>
          </a:prstGeom>
          <a:noFill/>
          <a:ln/>
        </p:spPr>
        <p:txBody>
          <a:bodyPr wrap="square" lIns="0" tIns="0" rIns="0" bIns="0" rtlCol="0" anchor="ctr"/>
          <a:lstStyle/>
          <a:p>
            <a:pPr algn="ctr" indent="0" marL="0">
              <a:buNone/>
            </a:pPr>
            <a:r>
              <a:rPr lang="en-US" sz="1200" b="1" dirty="0">
                <a:solidFill>
                  <a:schemeClr val="tx1"/>
                </a:solidFill>
              </a:rPr>
              <a:t>Focused Improvement</a:t>
            </a:r>
            <a:endParaRPr lang="en-US" sz="1200" dirty="0"/>
          </a:p>
        </p:txBody>
      </p:sp>
      <p:sp>
        <p:nvSpPr>
          <p:cNvPr id="24" name="Text 19"/>
          <p:cNvSpPr txBox="1"/>
          <p:nvPr/>
        </p:nvSpPr>
        <p:spPr>
          <a:xfrm>
            <a:off x="3413684" y="4745736"/>
            <a:ext cx="1162774" cy="731520"/>
          </a:xfrm>
          <a:prstGeom prst="rect">
            <a:avLst/>
          </a:prstGeom>
          <a:noFill/>
          <a:ln/>
        </p:spPr>
        <p:txBody>
          <a:bodyPr wrap="square" lIns="0" tIns="0" rIns="0" bIns="0" rtlCol="0" anchor="t"/>
          <a:lstStyle/>
          <a:p>
            <a:pPr algn="ctr" indent="0" marL="0">
              <a:buNone/>
            </a:pPr>
            <a:r>
              <a:rPr lang="en-US" sz="1200" dirty="0">
                <a:solidFill>
                  <a:schemeClr val="tx2"/>
                </a:solidFill>
              </a:rPr>
              <a:t>Teams remove the biggest losses</a:t>
            </a:r>
            <a:endParaRPr lang="en-US" sz="1200" dirty="0"/>
          </a:p>
        </p:txBody>
      </p:sp>
      <p:sp>
        <p:nvSpPr>
          <p:cNvPr id="25" name="3DP_pillar"/>
          <p:cNvSpPr/>
          <p:nvPr/>
        </p:nvSpPr>
        <p:spPr>
          <a:xfrm>
            <a:off x="4750194" y="3685032"/>
            <a:ext cx="1290790" cy="1847088"/>
          </a:xfrm>
          <a:prstGeom prst="rect">
            <a:avLst/>
          </a:prstGeom>
          <a:solidFill>
            <a:schemeClr val="bg2"/>
          </a:solidFill>
          <a:ln w="9525">
            <a:solidFill>
              <a:srgbClr val="D6DCE3"/>
            </a:solidFill>
            <a:prstDash val="solid"/>
          </a:ln>
          <a:scene3d>
            <a:camera prst="orthographicFront"/>
            <a:lightRig rig="threePt" dir="t"/>
          </a:scene3d>
          <a:sp3d prstMaterial="matte">
            <a:bevelT w="44450" h="25400" prst="angle"/>
          </a:sp3d>
        </p:spPr>
      </p:sp>
      <p:sp>
        <p:nvSpPr>
          <p:cNvPr id="26" name="3DB_icon"/>
          <p:cNvSpPr/>
          <p:nvPr/>
        </p:nvSpPr>
        <p:spPr>
          <a:xfrm>
            <a:off x="5176133" y="3776472"/>
            <a:ext cx="438912" cy="438912"/>
          </a:xfrm>
          <a:prstGeom prst="ellipse">
            <a:avLst/>
          </a:prstGeom>
          <a:solidFill>
            <a:schemeClr val="accent4"/>
          </a:solidFill>
          <a:ln w="12700">
            <a:solidFill>
              <a:schemeClr val="accent4"/>
            </a:solidFill>
            <a:prstDash val="solid"/>
          </a:ln>
          <a:scene3d>
            <a:camera prst="orthographicFront"/>
            <a:lightRig rig="threePt" dir="t"/>
          </a:scene3d>
          <a:sp3d prstMaterial="plastic">
            <a:bevelT w="88900" h="38100"/>
          </a:sp3d>
        </p:spPr>
      </p:sp>
      <p:pic>
        <p:nvPicPr>
          <p:cNvPr id="27" name="icon_FaCheckCircle" descr="preencoded.png">    </p:cNvPr>
          <p:cNvPicPr>
            <a:picLocks noChangeAspect="1"/>
          </p:cNvPicPr>
          <p:nvPr/>
        </p:nvPicPr>
        <p:blipFill>
          <a:blip r:embed="rId4"/>
          <a:stretch>
            <a:fillRect/>
          </a:stretch>
        </p:blipFill>
        <p:spPr>
          <a:xfrm>
            <a:off x="5294639" y="3894978"/>
            <a:ext cx="201900" cy="201900"/>
          </a:xfrm>
          <a:prstGeom prst="rect">
            <a:avLst/>
          </a:prstGeom>
        </p:spPr>
      </p:pic>
      <p:sp>
        <p:nvSpPr>
          <p:cNvPr id="28" name="Text 22"/>
          <p:cNvSpPr txBox="1"/>
          <p:nvPr/>
        </p:nvSpPr>
        <p:spPr>
          <a:xfrm>
            <a:off x="4795914" y="4251960"/>
            <a:ext cx="1199350" cy="457200"/>
          </a:xfrm>
          <a:prstGeom prst="rect">
            <a:avLst/>
          </a:prstGeom>
          <a:noFill/>
          <a:ln/>
        </p:spPr>
        <p:txBody>
          <a:bodyPr wrap="square" lIns="0" tIns="0" rIns="0" bIns="0" rtlCol="0" anchor="ctr"/>
          <a:lstStyle/>
          <a:p>
            <a:pPr algn="ctr" indent="0" marL="0">
              <a:buNone/>
            </a:pPr>
            <a:r>
              <a:rPr lang="en-US" sz="1200" b="1" dirty="0">
                <a:solidFill>
                  <a:schemeClr val="tx1"/>
                </a:solidFill>
              </a:rPr>
              <a:t>Quality Maintenance</a:t>
            </a:r>
            <a:endParaRPr lang="en-US" sz="1200" dirty="0"/>
          </a:p>
        </p:txBody>
      </p:sp>
      <p:sp>
        <p:nvSpPr>
          <p:cNvPr id="29" name="Text 23"/>
          <p:cNvSpPr txBox="1"/>
          <p:nvPr/>
        </p:nvSpPr>
        <p:spPr>
          <a:xfrm>
            <a:off x="4814202" y="4745736"/>
            <a:ext cx="1162774" cy="731520"/>
          </a:xfrm>
          <a:prstGeom prst="rect">
            <a:avLst/>
          </a:prstGeom>
          <a:noFill/>
          <a:ln/>
        </p:spPr>
        <p:txBody>
          <a:bodyPr wrap="square" lIns="0" tIns="0" rIns="0" bIns="0" rtlCol="0" anchor="t"/>
          <a:lstStyle/>
          <a:p>
            <a:pPr algn="ctr" indent="0" marL="0">
              <a:buNone/>
            </a:pPr>
            <a:r>
              <a:rPr lang="en-US" sz="1200" dirty="0">
                <a:solidFill>
                  <a:schemeClr val="tx2"/>
                </a:solidFill>
              </a:rPr>
              <a:t>Conditions for zero defects</a:t>
            </a:r>
            <a:endParaRPr lang="en-US" sz="1200" dirty="0"/>
          </a:p>
        </p:txBody>
      </p:sp>
      <p:sp>
        <p:nvSpPr>
          <p:cNvPr id="30" name="3DP_pillar"/>
          <p:cNvSpPr/>
          <p:nvPr/>
        </p:nvSpPr>
        <p:spPr>
          <a:xfrm>
            <a:off x="6150712" y="3685032"/>
            <a:ext cx="1290790" cy="1847088"/>
          </a:xfrm>
          <a:prstGeom prst="rect">
            <a:avLst/>
          </a:prstGeom>
          <a:solidFill>
            <a:schemeClr val="bg2"/>
          </a:solidFill>
          <a:ln w="9525">
            <a:solidFill>
              <a:srgbClr val="D6DCE3"/>
            </a:solidFill>
            <a:prstDash val="solid"/>
          </a:ln>
          <a:scene3d>
            <a:camera prst="orthographicFront"/>
            <a:lightRig rig="threePt" dir="t"/>
          </a:scene3d>
          <a:sp3d prstMaterial="matte">
            <a:bevelT w="44450" h="25400" prst="angle"/>
          </a:sp3d>
        </p:spPr>
      </p:sp>
      <p:sp>
        <p:nvSpPr>
          <p:cNvPr id="31" name="3DB_icon"/>
          <p:cNvSpPr/>
          <p:nvPr/>
        </p:nvSpPr>
        <p:spPr>
          <a:xfrm>
            <a:off x="6576651" y="3776472"/>
            <a:ext cx="438912" cy="438912"/>
          </a:xfrm>
          <a:prstGeom prst="ellipse">
            <a:avLst/>
          </a:prstGeom>
          <a:solidFill>
            <a:schemeClr val="accent2"/>
          </a:solidFill>
          <a:ln w="12700">
            <a:solidFill>
              <a:schemeClr val="accent2"/>
            </a:solidFill>
            <a:prstDash val="solid"/>
          </a:ln>
          <a:scene3d>
            <a:camera prst="orthographicFront"/>
            <a:lightRig rig="threePt" dir="t"/>
          </a:scene3d>
          <a:sp3d prstMaterial="plastic">
            <a:bevelT w="88900" h="38100"/>
          </a:sp3d>
        </p:spPr>
      </p:sp>
      <p:pic>
        <p:nvPicPr>
          <p:cNvPr id="32" name="icon_FaDraftingCompass" descr="preencoded.png">    </p:cNvPr>
          <p:cNvPicPr>
            <a:picLocks noChangeAspect="1"/>
          </p:cNvPicPr>
          <p:nvPr/>
        </p:nvPicPr>
        <p:blipFill>
          <a:blip r:embed="rId5"/>
          <a:stretch>
            <a:fillRect/>
          </a:stretch>
        </p:blipFill>
        <p:spPr>
          <a:xfrm>
            <a:off x="6695157" y="3894978"/>
            <a:ext cx="201900" cy="201900"/>
          </a:xfrm>
          <a:prstGeom prst="rect">
            <a:avLst/>
          </a:prstGeom>
        </p:spPr>
      </p:pic>
      <p:sp>
        <p:nvSpPr>
          <p:cNvPr id="33" name="Text 26"/>
          <p:cNvSpPr txBox="1"/>
          <p:nvPr/>
        </p:nvSpPr>
        <p:spPr>
          <a:xfrm>
            <a:off x="6196432" y="4251960"/>
            <a:ext cx="1199350" cy="457200"/>
          </a:xfrm>
          <a:prstGeom prst="rect">
            <a:avLst/>
          </a:prstGeom>
          <a:noFill/>
          <a:ln/>
        </p:spPr>
        <p:txBody>
          <a:bodyPr wrap="square" lIns="0" tIns="0" rIns="0" bIns="0" rtlCol="0" anchor="ctr"/>
          <a:lstStyle/>
          <a:p>
            <a:pPr algn="ctr" indent="0" marL="0">
              <a:buNone/>
            </a:pPr>
            <a:r>
              <a:rPr lang="en-US" sz="1200" b="1" dirty="0">
                <a:solidFill>
                  <a:schemeClr val="tx1"/>
                </a:solidFill>
              </a:rPr>
              <a:t>Early Equipment Mgmt.</a:t>
            </a:r>
            <a:endParaRPr lang="en-US" sz="1200" dirty="0"/>
          </a:p>
        </p:txBody>
      </p:sp>
      <p:sp>
        <p:nvSpPr>
          <p:cNvPr id="34" name="Text 27"/>
          <p:cNvSpPr txBox="1"/>
          <p:nvPr/>
        </p:nvSpPr>
        <p:spPr>
          <a:xfrm>
            <a:off x="6214720" y="4745736"/>
            <a:ext cx="1162774" cy="731520"/>
          </a:xfrm>
          <a:prstGeom prst="rect">
            <a:avLst/>
          </a:prstGeom>
          <a:noFill/>
          <a:ln/>
        </p:spPr>
        <p:txBody>
          <a:bodyPr wrap="square" lIns="0" tIns="0" rIns="0" bIns="0" rtlCol="0" anchor="t"/>
          <a:lstStyle/>
          <a:p>
            <a:pPr algn="ctr" indent="0" marL="0">
              <a:buNone/>
            </a:pPr>
            <a:r>
              <a:rPr lang="en-US" sz="1200" dirty="0">
                <a:solidFill>
                  <a:schemeClr val="tx2"/>
                </a:solidFill>
              </a:rPr>
              <a:t>New machines easy to run &amp; fix</a:t>
            </a:r>
            <a:endParaRPr lang="en-US" sz="1200" dirty="0"/>
          </a:p>
        </p:txBody>
      </p:sp>
      <p:sp>
        <p:nvSpPr>
          <p:cNvPr id="35" name="3DP_pillar"/>
          <p:cNvSpPr/>
          <p:nvPr/>
        </p:nvSpPr>
        <p:spPr>
          <a:xfrm>
            <a:off x="7551230" y="3685032"/>
            <a:ext cx="1290790" cy="1847088"/>
          </a:xfrm>
          <a:prstGeom prst="rect">
            <a:avLst/>
          </a:prstGeom>
          <a:solidFill>
            <a:schemeClr val="bg2"/>
          </a:solidFill>
          <a:ln w="9525">
            <a:solidFill>
              <a:srgbClr val="D6DCE3"/>
            </a:solidFill>
            <a:prstDash val="solid"/>
          </a:ln>
          <a:scene3d>
            <a:camera prst="orthographicFront"/>
            <a:lightRig rig="threePt" dir="t"/>
          </a:scene3d>
          <a:sp3d prstMaterial="matte">
            <a:bevelT w="44450" h="25400" prst="angle"/>
          </a:sp3d>
        </p:spPr>
      </p:sp>
      <p:sp>
        <p:nvSpPr>
          <p:cNvPr id="36" name="3DB_icon"/>
          <p:cNvSpPr/>
          <p:nvPr/>
        </p:nvSpPr>
        <p:spPr>
          <a:xfrm>
            <a:off x="7977168" y="3776472"/>
            <a:ext cx="438912" cy="438912"/>
          </a:xfrm>
          <a:prstGeom prst="ellipse">
            <a:avLst/>
          </a:prstGeom>
          <a:solidFill>
            <a:schemeClr val="accent4"/>
          </a:solidFill>
          <a:ln w="12700">
            <a:solidFill>
              <a:schemeClr val="accent4"/>
            </a:solidFill>
            <a:prstDash val="solid"/>
          </a:ln>
          <a:scene3d>
            <a:camera prst="orthographicFront"/>
            <a:lightRig rig="threePt" dir="t"/>
          </a:scene3d>
          <a:sp3d prstMaterial="plastic">
            <a:bevelT w="88900" h="38100"/>
          </a:sp3d>
        </p:spPr>
      </p:sp>
      <p:pic>
        <p:nvPicPr>
          <p:cNvPr id="37" name="icon_FaGraduationCap" descr="preencoded.png">    </p:cNvPr>
          <p:cNvPicPr>
            <a:picLocks noChangeAspect="1"/>
          </p:cNvPicPr>
          <p:nvPr/>
        </p:nvPicPr>
        <p:blipFill>
          <a:blip r:embed="rId6"/>
          <a:stretch>
            <a:fillRect/>
          </a:stretch>
        </p:blipFill>
        <p:spPr>
          <a:xfrm>
            <a:off x="8095675" y="3894978"/>
            <a:ext cx="201900" cy="201900"/>
          </a:xfrm>
          <a:prstGeom prst="rect">
            <a:avLst/>
          </a:prstGeom>
        </p:spPr>
      </p:pic>
      <p:sp>
        <p:nvSpPr>
          <p:cNvPr id="38" name="Text 30"/>
          <p:cNvSpPr txBox="1"/>
          <p:nvPr/>
        </p:nvSpPr>
        <p:spPr>
          <a:xfrm>
            <a:off x="7596950" y="4251960"/>
            <a:ext cx="1199350" cy="457200"/>
          </a:xfrm>
          <a:prstGeom prst="rect">
            <a:avLst/>
          </a:prstGeom>
          <a:noFill/>
          <a:ln/>
        </p:spPr>
        <p:txBody>
          <a:bodyPr wrap="square" lIns="0" tIns="0" rIns="0" bIns="0" rtlCol="0" anchor="ctr"/>
          <a:lstStyle/>
          <a:p>
            <a:pPr algn="ctr" indent="0" marL="0">
              <a:buNone/>
            </a:pPr>
            <a:r>
              <a:rPr lang="en-US" sz="1200" b="1" dirty="0">
                <a:solidFill>
                  <a:schemeClr val="tx1"/>
                </a:solidFill>
              </a:rPr>
              <a:t>Training &amp; Education</a:t>
            </a:r>
            <a:endParaRPr lang="en-US" sz="1200" dirty="0"/>
          </a:p>
        </p:txBody>
      </p:sp>
      <p:sp>
        <p:nvSpPr>
          <p:cNvPr id="39" name="Text 31"/>
          <p:cNvSpPr txBox="1"/>
          <p:nvPr/>
        </p:nvSpPr>
        <p:spPr>
          <a:xfrm>
            <a:off x="7615238" y="4745736"/>
            <a:ext cx="1162774" cy="731520"/>
          </a:xfrm>
          <a:prstGeom prst="rect">
            <a:avLst/>
          </a:prstGeom>
          <a:noFill/>
          <a:ln/>
        </p:spPr>
        <p:txBody>
          <a:bodyPr wrap="square" lIns="0" tIns="0" rIns="0" bIns="0" rtlCol="0" anchor="t"/>
          <a:lstStyle/>
          <a:p>
            <a:pPr algn="ctr" indent="0" marL="0">
              <a:buNone/>
            </a:pPr>
            <a:r>
              <a:rPr lang="en-US" sz="1200" dirty="0">
                <a:solidFill>
                  <a:schemeClr val="tx2"/>
                </a:solidFill>
              </a:rPr>
              <a:t>Skills for operators &amp; technicians</a:t>
            </a:r>
            <a:endParaRPr lang="en-US" sz="1200" dirty="0"/>
          </a:p>
        </p:txBody>
      </p:sp>
      <p:sp>
        <p:nvSpPr>
          <p:cNvPr id="40" name="3DP_pillar"/>
          <p:cNvSpPr/>
          <p:nvPr/>
        </p:nvSpPr>
        <p:spPr>
          <a:xfrm>
            <a:off x="8951747" y="3685032"/>
            <a:ext cx="1290790" cy="1847088"/>
          </a:xfrm>
          <a:prstGeom prst="rect">
            <a:avLst/>
          </a:prstGeom>
          <a:solidFill>
            <a:schemeClr val="bg2"/>
          </a:solidFill>
          <a:ln w="9525">
            <a:solidFill>
              <a:srgbClr val="D6DCE3"/>
            </a:solidFill>
            <a:prstDash val="solid"/>
          </a:ln>
          <a:scene3d>
            <a:camera prst="orthographicFront"/>
            <a:lightRig rig="threePt" dir="t"/>
          </a:scene3d>
          <a:sp3d prstMaterial="matte">
            <a:bevelT w="44450" h="25400" prst="angle"/>
          </a:sp3d>
        </p:spPr>
      </p:sp>
      <p:sp>
        <p:nvSpPr>
          <p:cNvPr id="41" name="3DB_icon"/>
          <p:cNvSpPr/>
          <p:nvPr/>
        </p:nvSpPr>
        <p:spPr>
          <a:xfrm>
            <a:off x="9377686" y="3776472"/>
            <a:ext cx="438912" cy="438912"/>
          </a:xfrm>
          <a:prstGeom prst="ellipse">
            <a:avLst/>
          </a:prstGeom>
          <a:solidFill>
            <a:schemeClr val="accent2"/>
          </a:solidFill>
          <a:ln w="12700">
            <a:solidFill>
              <a:schemeClr val="accent2"/>
            </a:solidFill>
            <a:prstDash val="solid"/>
          </a:ln>
          <a:scene3d>
            <a:camera prst="orthographicFront"/>
            <a:lightRig rig="threePt" dir="t"/>
          </a:scene3d>
          <a:sp3d prstMaterial="plastic">
            <a:bevelT w="88900" h="38100"/>
          </a:sp3d>
        </p:spPr>
      </p:sp>
      <p:pic>
        <p:nvPicPr>
          <p:cNvPr id="42" name="icon_FaHardHat" descr="preencoded.png">    </p:cNvPr>
          <p:cNvPicPr>
            <a:picLocks noChangeAspect="1"/>
          </p:cNvPicPr>
          <p:nvPr/>
        </p:nvPicPr>
        <p:blipFill>
          <a:blip r:embed="rId7"/>
          <a:stretch>
            <a:fillRect/>
          </a:stretch>
        </p:blipFill>
        <p:spPr>
          <a:xfrm>
            <a:off x="9496193" y="3894978"/>
            <a:ext cx="201900" cy="201900"/>
          </a:xfrm>
          <a:prstGeom prst="rect">
            <a:avLst/>
          </a:prstGeom>
        </p:spPr>
      </p:pic>
      <p:sp>
        <p:nvSpPr>
          <p:cNvPr id="43" name="Text 34"/>
          <p:cNvSpPr txBox="1"/>
          <p:nvPr/>
        </p:nvSpPr>
        <p:spPr>
          <a:xfrm>
            <a:off x="8997467" y="4251960"/>
            <a:ext cx="1199350" cy="457200"/>
          </a:xfrm>
          <a:prstGeom prst="rect">
            <a:avLst/>
          </a:prstGeom>
          <a:noFill/>
          <a:ln/>
        </p:spPr>
        <p:txBody>
          <a:bodyPr wrap="square" lIns="0" tIns="0" rIns="0" bIns="0" rtlCol="0" anchor="ctr"/>
          <a:lstStyle/>
          <a:p>
            <a:pPr algn="ctr" indent="0" marL="0">
              <a:buNone/>
            </a:pPr>
            <a:r>
              <a:rPr lang="en-US" sz="1200" b="1" dirty="0">
                <a:solidFill>
                  <a:schemeClr val="tx1"/>
                </a:solidFill>
              </a:rPr>
              <a:t>Safety, Health &amp; Env.</a:t>
            </a:r>
            <a:endParaRPr lang="en-US" sz="1200" dirty="0"/>
          </a:p>
        </p:txBody>
      </p:sp>
      <p:sp>
        <p:nvSpPr>
          <p:cNvPr id="44" name="Text 35"/>
          <p:cNvSpPr txBox="1"/>
          <p:nvPr/>
        </p:nvSpPr>
        <p:spPr>
          <a:xfrm>
            <a:off x="9015755" y="4745736"/>
            <a:ext cx="1162774" cy="731520"/>
          </a:xfrm>
          <a:prstGeom prst="rect">
            <a:avLst/>
          </a:prstGeom>
          <a:noFill/>
          <a:ln/>
        </p:spPr>
        <p:txBody>
          <a:bodyPr wrap="square" lIns="0" tIns="0" rIns="0" bIns="0" rtlCol="0" anchor="t"/>
          <a:lstStyle/>
          <a:p>
            <a:pPr algn="ctr" indent="0" marL="0">
              <a:buNone/>
            </a:pPr>
            <a:r>
              <a:rPr lang="en-US" sz="1200" dirty="0">
                <a:solidFill>
                  <a:schemeClr val="tx2"/>
                </a:solidFill>
              </a:rPr>
              <a:t>Zero accidents and pollution</a:t>
            </a:r>
            <a:endParaRPr lang="en-US" sz="1200" dirty="0"/>
          </a:p>
        </p:txBody>
      </p:sp>
      <p:sp>
        <p:nvSpPr>
          <p:cNvPr id="45" name="3DP_pillar"/>
          <p:cNvSpPr/>
          <p:nvPr/>
        </p:nvSpPr>
        <p:spPr>
          <a:xfrm>
            <a:off x="10352265" y="3685032"/>
            <a:ext cx="1290790" cy="1847088"/>
          </a:xfrm>
          <a:prstGeom prst="rect">
            <a:avLst/>
          </a:prstGeom>
          <a:solidFill>
            <a:schemeClr val="bg2"/>
          </a:solidFill>
          <a:ln w="9525">
            <a:solidFill>
              <a:srgbClr val="D6DCE3"/>
            </a:solidFill>
            <a:prstDash val="solid"/>
          </a:ln>
          <a:scene3d>
            <a:camera prst="orthographicFront"/>
            <a:lightRig rig="threePt" dir="t"/>
          </a:scene3d>
          <a:sp3d prstMaterial="matte">
            <a:bevelT w="44450" h="25400" prst="angle"/>
          </a:sp3d>
        </p:spPr>
      </p:sp>
      <p:sp>
        <p:nvSpPr>
          <p:cNvPr id="46" name="3DB_icon"/>
          <p:cNvSpPr/>
          <p:nvPr/>
        </p:nvSpPr>
        <p:spPr>
          <a:xfrm>
            <a:off x="10778204" y="3776472"/>
            <a:ext cx="438912" cy="438912"/>
          </a:xfrm>
          <a:prstGeom prst="ellipse">
            <a:avLst/>
          </a:prstGeom>
          <a:solidFill>
            <a:schemeClr val="accent4"/>
          </a:solidFill>
          <a:ln w="12700">
            <a:solidFill>
              <a:schemeClr val="accent4"/>
            </a:solidFill>
            <a:prstDash val="solid"/>
          </a:ln>
          <a:scene3d>
            <a:camera prst="orthographicFront"/>
            <a:lightRig rig="threePt" dir="t"/>
          </a:scene3d>
          <a:sp3d prstMaterial="plastic">
            <a:bevelT w="88900" h="38100"/>
          </a:sp3d>
        </p:spPr>
      </p:sp>
      <p:pic>
        <p:nvPicPr>
          <p:cNvPr id="47" name="icon_FaBriefcase" descr="preencoded.png">    </p:cNvPr>
          <p:cNvPicPr>
            <a:picLocks noChangeAspect="1"/>
          </p:cNvPicPr>
          <p:nvPr/>
        </p:nvPicPr>
        <p:blipFill>
          <a:blip r:embed="rId8"/>
          <a:stretch>
            <a:fillRect/>
          </a:stretch>
        </p:blipFill>
        <p:spPr>
          <a:xfrm>
            <a:off x="10896710" y="3894978"/>
            <a:ext cx="201900" cy="201900"/>
          </a:xfrm>
          <a:prstGeom prst="rect">
            <a:avLst/>
          </a:prstGeom>
        </p:spPr>
      </p:pic>
      <p:sp>
        <p:nvSpPr>
          <p:cNvPr id="48" name="Text 38"/>
          <p:cNvSpPr txBox="1"/>
          <p:nvPr/>
        </p:nvSpPr>
        <p:spPr>
          <a:xfrm>
            <a:off x="10397985" y="4251960"/>
            <a:ext cx="1199350" cy="457200"/>
          </a:xfrm>
          <a:prstGeom prst="rect">
            <a:avLst/>
          </a:prstGeom>
          <a:noFill/>
          <a:ln/>
        </p:spPr>
        <p:txBody>
          <a:bodyPr wrap="square" lIns="0" tIns="0" rIns="0" bIns="0" rtlCol="0" anchor="ctr"/>
          <a:lstStyle/>
          <a:p>
            <a:pPr algn="ctr" indent="0" marL="0">
              <a:buNone/>
            </a:pPr>
            <a:r>
              <a:rPr lang="en-US" sz="1200" b="1" dirty="0">
                <a:solidFill>
                  <a:schemeClr val="tx1"/>
                </a:solidFill>
              </a:rPr>
              <a:t>Office TPM</a:t>
            </a:r>
            <a:endParaRPr lang="en-US" sz="1200" dirty="0"/>
          </a:p>
        </p:txBody>
      </p:sp>
      <p:sp>
        <p:nvSpPr>
          <p:cNvPr id="49" name="Text 39"/>
          <p:cNvSpPr txBox="1"/>
          <p:nvPr/>
        </p:nvSpPr>
        <p:spPr>
          <a:xfrm>
            <a:off x="10416273" y="4745736"/>
            <a:ext cx="1162774" cy="731520"/>
          </a:xfrm>
          <a:prstGeom prst="rect">
            <a:avLst/>
          </a:prstGeom>
          <a:noFill/>
          <a:ln/>
        </p:spPr>
        <p:txBody>
          <a:bodyPr wrap="square" lIns="0" tIns="0" rIns="0" bIns="0" rtlCol="0" anchor="t"/>
          <a:lstStyle/>
          <a:p>
            <a:pPr algn="ctr" indent="0" marL="0">
              <a:buNone/>
            </a:pPr>
            <a:r>
              <a:rPr lang="en-US" sz="1200" dirty="0">
                <a:solidFill>
                  <a:schemeClr val="tx2"/>
                </a:solidFill>
              </a:rPr>
              <a:t>Fewer losses in admin work</a:t>
            </a:r>
            <a:endParaRPr lang="en-US" sz="1200" dirty="0"/>
          </a:p>
        </p:txBody>
      </p:sp>
      <p:sp>
        <p:nvSpPr>
          <p:cNvPr id="50" name="3DP_base"/>
          <p:cNvSpPr/>
          <p:nvPr/>
        </p:nvSpPr>
        <p:spPr>
          <a:xfrm>
            <a:off x="548640" y="5577840"/>
            <a:ext cx="11094415" cy="530352"/>
          </a:xfrm>
          <a:prstGeom prst="rect">
            <a:avLst/>
          </a:prstGeom>
          <a:solidFill>
            <a:schemeClr val="tx1"/>
          </a:solidFill>
          <a:ln>
            <a:solidFill>
              <a:schemeClr val="tx1"/>
            </a:solidFill>
          </a:ln>
          <a:scene3d>
            <a:camera prst="orthographicFront"/>
            <a:lightRig rig="threePt" dir="t"/>
          </a:scene3d>
          <a:sp3d prstMaterial="matte">
            <a:bevelT w="44450" h="25400" prst="angle"/>
          </a:sp3d>
        </p:spPr>
        <p:txBody>
          <a:bodyPr wrap="square" lIns="50800" tIns="50800" rIns="50800" bIns="50800" rtlCol="0" anchor="ctr"/>
          <a:lstStyle/>
          <a:p>
            <a:pPr algn="ctr" indent="0" marL="0">
              <a:buNone/>
            </a:pPr>
            <a:r>
              <a:rPr lang="en-US" sz="1500" b="1" dirty="0">
                <a:solidFill>
                  <a:schemeClr val="bg1"/>
                </a:solidFill>
              </a:rPr>
              <a:t>Foundation: 5S + small-group team activities</a:t>
            </a:r>
            <a:endParaRPr lang="en-US" sz="15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400">
        <p14:prism/>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hip"/>
          <p:cNvSpPr/>
          <p:nvPr/>
        </p:nvSpPr>
        <p:spPr>
          <a:xfrm>
            <a:off x="548640" y="237744"/>
            <a:ext cx="196596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50" b="1" spc="150" kern="0" dirty="0">
                <a:solidFill>
                  <a:schemeClr val="bg1"/>
                </a:solidFill>
              </a:rPr>
              <a:t>TPM · IMPLEMENTATION</a:t>
            </a:r>
            <a:endParaRPr lang="en-US" sz="1050" dirty="0"/>
          </a:p>
        </p:txBody>
      </p:sp>
      <p:sp>
        <p:nvSpPr>
          <p:cNvPr id="3"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TPM: implementation steps</a:t>
            </a:r>
            <a:endParaRPr lang="en-US" sz="3400" dirty="0"/>
          </a:p>
        </p:txBody>
      </p:sp>
      <p:sp>
        <p:nvSpPr>
          <p:cNvPr id="4" name="3DP_phase"/>
          <p:cNvSpPr/>
          <p:nvPr/>
        </p:nvSpPr>
        <p:spPr>
          <a:xfrm>
            <a:off x="548640" y="1645920"/>
            <a:ext cx="2514600" cy="932688"/>
          </a:xfrm>
          <a:prstGeom prst="homePlate">
            <a:avLst/>
          </a:prstGeom>
          <a:solidFill>
            <a:schemeClr val="accent4"/>
          </a:solidFill>
          <a:ln>
            <a:solidFill>
              <a:schemeClr val="accent4"/>
            </a:solidFill>
          </a:ln>
          <a:scene3d>
            <a:camera prst="orthographicFront"/>
            <a:lightRig rig="threePt" dir="t"/>
          </a:scene3d>
          <a:sp3d prstMaterial="matte">
            <a:bevelT w="44450" h="25400" prst="angle"/>
          </a:sp3d>
        </p:spPr>
        <p:txBody>
          <a:bodyPr wrap="square" lIns="177800" tIns="0" rIns="0" bIns="0" rtlCol="0" anchor="ctr"/>
          <a:lstStyle/>
          <a:p>
            <a:pPr algn="l" indent="0" marL="0">
              <a:buNone/>
            </a:pPr>
            <a:r>
              <a:rPr lang="en-US" sz="1800" b="1" dirty="0">
                <a:solidFill>
                  <a:schemeClr val="bg1"/>
                </a:solidFill>
              </a:rPr>
              <a:t>Preparation</a:t>
            </a:r>
            <a:endParaRPr lang="en-US" sz="1800" dirty="0"/>
          </a:p>
          <a:p>
            <a:pPr algn="l" indent="0" marL="0">
              <a:buNone/>
            </a:pPr>
            <a:r>
              <a:rPr lang="en-US" sz="1300" dirty="0">
                <a:solidFill>
                  <a:schemeClr val="bg1"/>
                </a:solidFill>
              </a:rPr>
              <a:t>Steps 1–5</a:t>
            </a:r>
            <a:endParaRPr lang="en-US" sz="1800" dirty="0"/>
          </a:p>
        </p:txBody>
      </p:sp>
      <p:sp>
        <p:nvSpPr>
          <p:cNvPr id="5" name="3DC_phase"/>
          <p:cNvSpPr/>
          <p:nvPr/>
        </p:nvSpPr>
        <p:spPr>
          <a:xfrm>
            <a:off x="3246120" y="1645920"/>
            <a:ext cx="4069080" cy="932688"/>
          </a:xfrm>
          <a:prstGeom prst="roundRect">
            <a:avLst>
              <a:gd name="adj" fmla="val 11765"/>
            </a:avLst>
          </a:prstGeom>
          <a:solidFill>
            <a:schemeClr val="bg2"/>
          </a:solidFill>
          <a:ln w="12700">
            <a:solidFill>
              <a:schemeClr val="bg2"/>
            </a:solidFill>
            <a:prstDash val="solid"/>
          </a:ln>
          <a:scene3d>
            <a:camera prst="orthographicFront"/>
            <a:lightRig rig="threePt" dir="t"/>
          </a:scene3d>
          <a:sp3d>
            <a:bevelT w="25400" h="12700" prst="softRound"/>
          </a:sp3d>
        </p:spPr>
      </p:sp>
      <p:sp>
        <p:nvSpPr>
          <p:cNvPr id="6" name="Text 4"/>
          <p:cNvSpPr txBox="1"/>
          <p:nvPr/>
        </p:nvSpPr>
        <p:spPr>
          <a:xfrm>
            <a:off x="3429000" y="1645920"/>
            <a:ext cx="3749040" cy="932688"/>
          </a:xfrm>
          <a:prstGeom prst="rect">
            <a:avLst/>
          </a:prstGeom>
          <a:noFill/>
          <a:ln/>
        </p:spPr>
        <p:txBody>
          <a:bodyPr wrap="square" lIns="0" tIns="0" rIns="0" bIns="0" rtlCol="0" anchor="ctr"/>
          <a:lstStyle/>
          <a:p>
            <a:pPr indent="0" marL="0">
              <a:buNone/>
            </a:pPr>
            <a:r>
              <a:rPr lang="en-US" sz="1500" dirty="0">
                <a:solidFill>
                  <a:schemeClr val="tx1"/>
                </a:solidFill>
              </a:rPr>
              <a:t>Management announces TPM, trains staff, sets up a TPM team, sets targets and a master plan</a:t>
            </a:r>
            <a:endParaRPr lang="en-US" sz="1500" dirty="0"/>
          </a:p>
        </p:txBody>
      </p:sp>
      <p:sp>
        <p:nvSpPr>
          <p:cNvPr id="7" name="3DP_phase"/>
          <p:cNvSpPr/>
          <p:nvPr/>
        </p:nvSpPr>
        <p:spPr>
          <a:xfrm>
            <a:off x="548640" y="2761488"/>
            <a:ext cx="2514600" cy="932688"/>
          </a:xfrm>
          <a:prstGeom prst="homePlate">
            <a:avLst/>
          </a:prstGeom>
          <a:solidFill>
            <a:schemeClr val="accent1"/>
          </a:solidFill>
          <a:ln>
            <a:solidFill>
              <a:schemeClr val="accent1"/>
            </a:solidFill>
          </a:ln>
          <a:scene3d>
            <a:camera prst="orthographicFront"/>
            <a:lightRig rig="threePt" dir="t"/>
          </a:scene3d>
          <a:sp3d prstMaterial="matte">
            <a:bevelT w="44450" h="25400" prst="angle"/>
          </a:sp3d>
        </p:spPr>
        <p:txBody>
          <a:bodyPr wrap="square" lIns="177800" tIns="0" rIns="0" bIns="0" rtlCol="0" anchor="ctr"/>
          <a:lstStyle/>
          <a:p>
            <a:pPr algn="l" indent="0" marL="0">
              <a:buNone/>
            </a:pPr>
            <a:r>
              <a:rPr lang="en-US" sz="1800" b="1" dirty="0">
                <a:solidFill>
                  <a:schemeClr val="tx1"/>
                </a:solidFill>
              </a:rPr>
              <a:t>Introduction</a:t>
            </a:r>
            <a:endParaRPr lang="en-US" sz="1800" dirty="0"/>
          </a:p>
          <a:p>
            <a:pPr algn="l" indent="0" marL="0">
              <a:buNone/>
            </a:pPr>
            <a:r>
              <a:rPr lang="en-US" sz="1300" dirty="0">
                <a:solidFill>
                  <a:schemeClr val="tx1"/>
                </a:solidFill>
              </a:rPr>
              <a:t>Step 6</a:t>
            </a:r>
            <a:endParaRPr lang="en-US" sz="1800" dirty="0"/>
          </a:p>
        </p:txBody>
      </p:sp>
      <p:sp>
        <p:nvSpPr>
          <p:cNvPr id="8" name="3DC_phase"/>
          <p:cNvSpPr/>
          <p:nvPr/>
        </p:nvSpPr>
        <p:spPr>
          <a:xfrm>
            <a:off x="3246120" y="2761488"/>
            <a:ext cx="4069080" cy="932688"/>
          </a:xfrm>
          <a:prstGeom prst="roundRect">
            <a:avLst>
              <a:gd name="adj" fmla="val 11765"/>
            </a:avLst>
          </a:prstGeom>
          <a:solidFill>
            <a:schemeClr val="bg2"/>
          </a:solidFill>
          <a:ln w="12700">
            <a:solidFill>
              <a:schemeClr val="bg2"/>
            </a:solidFill>
            <a:prstDash val="solid"/>
          </a:ln>
          <a:scene3d>
            <a:camera prst="orthographicFront"/>
            <a:lightRig rig="threePt" dir="t"/>
          </a:scene3d>
          <a:sp3d>
            <a:bevelT w="25400" h="12700" prst="softRound"/>
          </a:sp3d>
        </p:spPr>
      </p:sp>
      <p:sp>
        <p:nvSpPr>
          <p:cNvPr id="9" name="Text 7"/>
          <p:cNvSpPr txBox="1"/>
          <p:nvPr/>
        </p:nvSpPr>
        <p:spPr>
          <a:xfrm>
            <a:off x="3429000" y="2761488"/>
            <a:ext cx="3749040" cy="932688"/>
          </a:xfrm>
          <a:prstGeom prst="rect">
            <a:avLst/>
          </a:prstGeom>
          <a:noFill/>
          <a:ln/>
        </p:spPr>
        <p:txBody>
          <a:bodyPr wrap="square" lIns="0" tIns="0" rIns="0" bIns="0" rtlCol="0" anchor="ctr"/>
          <a:lstStyle/>
          <a:p>
            <a:pPr indent="0" marL="0">
              <a:buNone/>
            </a:pPr>
            <a:r>
              <a:rPr lang="en-US" sz="1500" dirty="0">
                <a:solidFill>
                  <a:schemeClr val="tx1"/>
                </a:solidFill>
              </a:rPr>
              <a:t>Kick-off with all employees; pilot on one model machine</a:t>
            </a:r>
            <a:endParaRPr lang="en-US" sz="1500" dirty="0"/>
          </a:p>
        </p:txBody>
      </p:sp>
      <p:sp>
        <p:nvSpPr>
          <p:cNvPr id="10" name="3DP_phase"/>
          <p:cNvSpPr/>
          <p:nvPr/>
        </p:nvSpPr>
        <p:spPr>
          <a:xfrm>
            <a:off x="548640" y="3877056"/>
            <a:ext cx="2514600" cy="932688"/>
          </a:xfrm>
          <a:prstGeom prst="homePlate">
            <a:avLst/>
          </a:prstGeom>
          <a:solidFill>
            <a:schemeClr val="accent2"/>
          </a:solidFill>
          <a:ln>
            <a:solidFill>
              <a:schemeClr val="accent2"/>
            </a:solidFill>
          </a:ln>
          <a:scene3d>
            <a:camera prst="orthographicFront"/>
            <a:lightRig rig="threePt" dir="t"/>
          </a:scene3d>
          <a:sp3d prstMaterial="matte">
            <a:bevelT w="44450" h="25400" prst="angle"/>
          </a:sp3d>
        </p:spPr>
        <p:txBody>
          <a:bodyPr wrap="square" lIns="177800" tIns="0" rIns="0" bIns="0" rtlCol="0" anchor="ctr"/>
          <a:lstStyle/>
          <a:p>
            <a:pPr algn="l" indent="0" marL="0">
              <a:buNone/>
            </a:pPr>
            <a:r>
              <a:rPr lang="en-US" sz="1800" b="1" dirty="0">
                <a:solidFill>
                  <a:schemeClr val="bg1"/>
                </a:solidFill>
              </a:rPr>
              <a:t>Implementation</a:t>
            </a:r>
            <a:endParaRPr lang="en-US" sz="1800" dirty="0"/>
          </a:p>
          <a:p>
            <a:pPr algn="l" indent="0" marL="0">
              <a:buNone/>
            </a:pPr>
            <a:r>
              <a:rPr lang="en-US" sz="1300" dirty="0">
                <a:solidFill>
                  <a:schemeClr val="bg1"/>
                </a:solidFill>
              </a:rPr>
              <a:t>Steps 7–11</a:t>
            </a:r>
            <a:endParaRPr lang="en-US" sz="1800" dirty="0"/>
          </a:p>
        </p:txBody>
      </p:sp>
      <p:sp>
        <p:nvSpPr>
          <p:cNvPr id="11" name="3DC_phase"/>
          <p:cNvSpPr/>
          <p:nvPr/>
        </p:nvSpPr>
        <p:spPr>
          <a:xfrm>
            <a:off x="3246120" y="3877056"/>
            <a:ext cx="4069080" cy="932688"/>
          </a:xfrm>
          <a:prstGeom prst="roundRect">
            <a:avLst>
              <a:gd name="adj" fmla="val 11765"/>
            </a:avLst>
          </a:prstGeom>
          <a:solidFill>
            <a:schemeClr val="bg2"/>
          </a:solidFill>
          <a:ln w="12700">
            <a:solidFill>
              <a:schemeClr val="bg2"/>
            </a:solidFill>
            <a:prstDash val="solid"/>
          </a:ln>
          <a:scene3d>
            <a:camera prst="orthographicFront"/>
            <a:lightRig rig="threePt" dir="t"/>
          </a:scene3d>
          <a:sp3d>
            <a:bevelT w="25400" h="12700" prst="softRound"/>
          </a:sp3d>
        </p:spPr>
      </p:sp>
      <p:sp>
        <p:nvSpPr>
          <p:cNvPr id="12" name="Text 10"/>
          <p:cNvSpPr txBox="1"/>
          <p:nvPr/>
        </p:nvSpPr>
        <p:spPr>
          <a:xfrm>
            <a:off x="3429000" y="3877056"/>
            <a:ext cx="3749040" cy="932688"/>
          </a:xfrm>
          <a:prstGeom prst="rect">
            <a:avLst/>
          </a:prstGeom>
          <a:noFill/>
          <a:ln/>
        </p:spPr>
        <p:txBody>
          <a:bodyPr wrap="square" lIns="0" tIns="0" rIns="0" bIns="0" rtlCol="0" anchor="ctr"/>
          <a:lstStyle/>
          <a:p>
            <a:pPr indent="0" marL="0">
              <a:buNone/>
            </a:pPr>
            <a:r>
              <a:rPr lang="en-US" sz="1500" dirty="0">
                <a:solidFill>
                  <a:schemeClr val="tx1"/>
                </a:solidFill>
              </a:rPr>
              <a:t>Roll out the pillars: autonomous and planned maintenance, focused improvement, training, quality, safety</a:t>
            </a:r>
            <a:endParaRPr lang="en-US" sz="1500" dirty="0"/>
          </a:p>
        </p:txBody>
      </p:sp>
      <p:sp>
        <p:nvSpPr>
          <p:cNvPr id="13" name="3DP_phase"/>
          <p:cNvSpPr/>
          <p:nvPr/>
        </p:nvSpPr>
        <p:spPr>
          <a:xfrm>
            <a:off x="548640" y="4992624"/>
            <a:ext cx="2514600" cy="932688"/>
          </a:xfrm>
          <a:prstGeom prst="homePlate">
            <a:avLst/>
          </a:prstGeom>
          <a:solidFill>
            <a:schemeClr val="tx2"/>
          </a:solidFill>
          <a:ln>
            <a:solidFill>
              <a:schemeClr val="tx2"/>
            </a:solidFill>
          </a:ln>
          <a:scene3d>
            <a:camera prst="orthographicFront"/>
            <a:lightRig rig="threePt" dir="t"/>
          </a:scene3d>
          <a:sp3d prstMaterial="matte">
            <a:bevelT w="44450" h="25400" prst="angle"/>
          </a:sp3d>
        </p:spPr>
        <p:txBody>
          <a:bodyPr wrap="square" lIns="177800" tIns="0" rIns="0" bIns="0" rtlCol="0" anchor="ctr"/>
          <a:lstStyle/>
          <a:p>
            <a:pPr algn="l" indent="0" marL="0">
              <a:buNone/>
            </a:pPr>
            <a:r>
              <a:rPr lang="en-US" sz="1800" b="1" dirty="0">
                <a:solidFill>
                  <a:schemeClr val="bg1"/>
                </a:solidFill>
              </a:rPr>
              <a:t>Stabilization</a:t>
            </a:r>
            <a:endParaRPr lang="en-US" sz="1800" dirty="0"/>
          </a:p>
          <a:p>
            <a:pPr algn="l" indent="0" marL="0">
              <a:buNone/>
            </a:pPr>
            <a:r>
              <a:rPr lang="en-US" sz="1300" dirty="0">
                <a:solidFill>
                  <a:schemeClr val="bg1"/>
                </a:solidFill>
              </a:rPr>
              <a:t>Step 12</a:t>
            </a:r>
            <a:endParaRPr lang="en-US" sz="1800" dirty="0"/>
          </a:p>
        </p:txBody>
      </p:sp>
      <p:sp>
        <p:nvSpPr>
          <p:cNvPr id="14" name="3DC_phase"/>
          <p:cNvSpPr/>
          <p:nvPr/>
        </p:nvSpPr>
        <p:spPr>
          <a:xfrm>
            <a:off x="3246120" y="4992624"/>
            <a:ext cx="4069080" cy="932688"/>
          </a:xfrm>
          <a:prstGeom prst="roundRect">
            <a:avLst>
              <a:gd name="adj" fmla="val 11765"/>
            </a:avLst>
          </a:prstGeom>
          <a:solidFill>
            <a:schemeClr val="bg2"/>
          </a:solidFill>
          <a:ln w="12700">
            <a:solidFill>
              <a:schemeClr val="bg2"/>
            </a:solidFill>
            <a:prstDash val="solid"/>
          </a:ln>
          <a:scene3d>
            <a:camera prst="orthographicFront"/>
            <a:lightRig rig="threePt" dir="t"/>
          </a:scene3d>
          <a:sp3d>
            <a:bevelT w="25400" h="12700" prst="softRound"/>
          </a:sp3d>
        </p:spPr>
      </p:sp>
      <p:sp>
        <p:nvSpPr>
          <p:cNvPr id="15" name="Text 13"/>
          <p:cNvSpPr txBox="1"/>
          <p:nvPr/>
        </p:nvSpPr>
        <p:spPr>
          <a:xfrm>
            <a:off x="3429000" y="4992624"/>
            <a:ext cx="3749040" cy="932688"/>
          </a:xfrm>
          <a:prstGeom prst="rect">
            <a:avLst/>
          </a:prstGeom>
          <a:noFill/>
          <a:ln/>
        </p:spPr>
        <p:txBody>
          <a:bodyPr wrap="square" lIns="0" tIns="0" rIns="0" bIns="0" rtlCol="0" anchor="ctr"/>
          <a:lstStyle/>
          <a:p>
            <a:pPr indent="0" marL="0">
              <a:buNone/>
            </a:pPr>
            <a:r>
              <a:rPr lang="en-US" sz="1500" dirty="0">
                <a:solidFill>
                  <a:schemeClr val="tx1"/>
                </a:solidFill>
              </a:rPr>
              <a:t>Sustain the system, audit results and raise targets</a:t>
            </a:r>
            <a:endParaRPr lang="en-US" sz="1500" dirty="0"/>
          </a:p>
        </p:txBody>
      </p:sp>
      <p:pic>
        <p:nvPicPr>
          <p:cNvPr id="16" name="render3d_gears" descr="3D illustration of three interlocking gears and a wrench">    </p:cNvPr>
          <p:cNvPicPr>
            <a:picLocks noChangeAspect="1"/>
          </p:cNvPicPr>
          <p:nvPr/>
        </p:nvPicPr>
        <p:blipFill>
          <a:blip r:embed="rId1"/>
          <a:stretch>
            <a:fillRect/>
          </a:stretch>
        </p:blipFill>
        <p:spPr>
          <a:xfrm>
            <a:off x="7635240" y="1965960"/>
            <a:ext cx="4007815" cy="2940611"/>
          </a:xfrm>
          <a:prstGeom prst="rect">
            <a:avLst/>
          </a:prstGeom>
        </p:spPr>
      </p:pic>
      <p:sp>
        <p:nvSpPr>
          <p:cNvPr id="17" name="Text 14"/>
          <p:cNvSpPr txBox="1"/>
          <p:nvPr/>
        </p:nvSpPr>
        <p:spPr>
          <a:xfrm>
            <a:off x="7635240" y="5120640"/>
            <a:ext cx="4007815" cy="640080"/>
          </a:xfrm>
          <a:prstGeom prst="rect">
            <a:avLst/>
          </a:prstGeom>
          <a:noFill/>
          <a:ln/>
        </p:spPr>
        <p:txBody>
          <a:bodyPr wrap="square" lIns="0" tIns="0" rIns="0" bIns="0" rtlCol="0" anchor="t"/>
          <a:lstStyle/>
          <a:p>
            <a:pPr indent="0" marL="0">
              <a:buNone/>
            </a:pPr>
            <a:r>
              <a:rPr lang="en-US" sz="1400" dirty="0">
                <a:solidFill>
                  <a:schemeClr val="tx2"/>
                </a:solidFill>
              </a:rPr>
              <a:t>12 steps of the Japan Institute of Plant Maintenance (JIPM), grouped in four phases</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400">
        <p14:prism isContent="1"/>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hip"/>
          <p:cNvSpPr/>
          <p:nvPr/>
        </p:nvSpPr>
        <p:spPr>
          <a:xfrm>
            <a:off x="548640" y="237744"/>
            <a:ext cx="240030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50" b="1" spc="150" kern="0" dirty="0">
                <a:solidFill>
                  <a:schemeClr val="bg1"/>
                </a:solidFill>
              </a:rPr>
              <a:t>TPM · PROBLEMS &amp; EXAMPLES</a:t>
            </a:r>
            <a:endParaRPr lang="en-US" sz="1050" dirty="0"/>
          </a:p>
        </p:txBody>
      </p:sp>
      <p:sp>
        <p:nvSpPr>
          <p:cNvPr id="3"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TPM: problems solved and examples</a:t>
            </a:r>
            <a:endParaRPr lang="en-US" sz="3400" dirty="0"/>
          </a:p>
        </p:txBody>
      </p:sp>
      <p:sp>
        <p:nvSpPr>
          <p:cNvPr id="4" name="Text 2"/>
          <p:cNvSpPr txBox="1"/>
          <p:nvPr/>
        </p:nvSpPr>
        <p:spPr>
          <a:xfrm>
            <a:off x="548640" y="1572768"/>
            <a:ext cx="54864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PROBLEMS IT SOLVES</a:t>
            </a:r>
            <a:endParaRPr lang="en-US" sz="1200" dirty="0"/>
          </a:p>
        </p:txBody>
      </p:sp>
      <p:sp>
        <p:nvSpPr>
          <p:cNvPr id="5" name="3DB_icon"/>
          <p:cNvSpPr/>
          <p:nvPr/>
        </p:nvSpPr>
        <p:spPr>
          <a:xfrm>
            <a:off x="548640" y="1947672"/>
            <a:ext cx="475488" cy="475488"/>
          </a:xfrm>
          <a:prstGeom prst="ellipse">
            <a:avLst/>
          </a:prstGeom>
          <a:solidFill>
            <a:schemeClr val="accent3"/>
          </a:solidFill>
          <a:ln w="12700">
            <a:solidFill>
              <a:schemeClr val="accent3"/>
            </a:solidFill>
            <a:prstDash val="solid"/>
          </a:ln>
          <a:scene3d>
            <a:camera prst="orthographicFront"/>
            <a:lightRig rig="threePt" dir="t"/>
          </a:scene3d>
          <a:sp3d prstMaterial="plastic">
            <a:bevelT w="88900" h="38100"/>
          </a:sp3d>
        </p:spPr>
      </p:sp>
      <p:pic>
        <p:nvPicPr>
          <p:cNvPr id="6" name="icon_FaBolt" descr="preencoded.png">    </p:cNvPr>
          <p:cNvPicPr>
            <a:picLocks noChangeAspect="1"/>
          </p:cNvPicPr>
          <p:nvPr/>
        </p:nvPicPr>
        <p:blipFill>
          <a:blip r:embed="rId1"/>
          <a:stretch>
            <a:fillRect/>
          </a:stretch>
        </p:blipFill>
        <p:spPr>
          <a:xfrm>
            <a:off x="677022" y="2076054"/>
            <a:ext cx="218724" cy="218724"/>
          </a:xfrm>
          <a:prstGeom prst="rect">
            <a:avLst/>
          </a:prstGeom>
        </p:spPr>
      </p:pic>
      <p:sp>
        <p:nvSpPr>
          <p:cNvPr id="7" name="Text 4"/>
          <p:cNvSpPr txBox="1"/>
          <p:nvPr/>
        </p:nvSpPr>
        <p:spPr>
          <a:xfrm>
            <a:off x="1207008" y="1892808"/>
            <a:ext cx="4846320" cy="310896"/>
          </a:xfrm>
          <a:prstGeom prst="rect">
            <a:avLst/>
          </a:prstGeom>
          <a:noFill/>
          <a:ln/>
        </p:spPr>
        <p:txBody>
          <a:bodyPr wrap="square" lIns="0" tIns="0" rIns="0" bIns="0" rtlCol="0" anchor="t"/>
          <a:lstStyle/>
          <a:p>
            <a:pPr indent="0" marL="0">
              <a:buNone/>
            </a:pPr>
            <a:r>
              <a:rPr lang="en-US" sz="1500" b="1" dirty="0">
                <a:solidFill>
                  <a:schemeClr val="tx1"/>
                </a:solidFill>
              </a:rPr>
              <a:t>Unplanned breakdowns</a:t>
            </a:r>
            <a:endParaRPr lang="en-US" sz="1500" dirty="0"/>
          </a:p>
        </p:txBody>
      </p:sp>
      <p:sp>
        <p:nvSpPr>
          <p:cNvPr id="8" name="Text 5"/>
          <p:cNvSpPr txBox="1"/>
          <p:nvPr/>
        </p:nvSpPr>
        <p:spPr>
          <a:xfrm>
            <a:off x="1207008" y="2212848"/>
            <a:ext cx="4846320" cy="292608"/>
          </a:xfrm>
          <a:prstGeom prst="rect">
            <a:avLst/>
          </a:prstGeom>
          <a:noFill/>
          <a:ln/>
        </p:spPr>
        <p:txBody>
          <a:bodyPr wrap="square" lIns="0" tIns="0" rIns="0" bIns="0" rtlCol="0" anchor="t"/>
          <a:lstStyle/>
          <a:p>
            <a:pPr indent="0" marL="0">
              <a:buNone/>
            </a:pPr>
            <a:r>
              <a:rPr lang="en-US" sz="1300" dirty="0">
                <a:solidFill>
                  <a:schemeClr val="tx2"/>
                </a:solidFill>
              </a:rPr>
              <a:t>Daily checks and planned service prevent failures</a:t>
            </a:r>
            <a:endParaRPr lang="en-US" sz="1300" dirty="0"/>
          </a:p>
        </p:txBody>
      </p:sp>
      <p:sp>
        <p:nvSpPr>
          <p:cNvPr id="9" name="3DB_icon"/>
          <p:cNvSpPr/>
          <p:nvPr/>
        </p:nvSpPr>
        <p:spPr>
          <a:xfrm>
            <a:off x="548640" y="2651760"/>
            <a:ext cx="475488" cy="475488"/>
          </a:xfrm>
          <a:prstGeom prst="ellipse">
            <a:avLst/>
          </a:prstGeom>
          <a:solidFill>
            <a:schemeClr val="accent3"/>
          </a:solidFill>
          <a:ln w="12700">
            <a:solidFill>
              <a:schemeClr val="accent3"/>
            </a:solidFill>
            <a:prstDash val="solid"/>
          </a:ln>
          <a:scene3d>
            <a:camera prst="orthographicFront"/>
            <a:lightRig rig="threePt" dir="t"/>
          </a:scene3d>
          <a:sp3d prstMaterial="plastic">
            <a:bevelT w="88900" h="38100"/>
          </a:sp3d>
        </p:spPr>
      </p:sp>
      <p:pic>
        <p:nvPicPr>
          <p:cNvPr id="10" name="icon_FaHourglassHalf" descr="preencoded.png">    </p:cNvPr>
          <p:cNvPicPr>
            <a:picLocks noChangeAspect="1"/>
          </p:cNvPicPr>
          <p:nvPr/>
        </p:nvPicPr>
        <p:blipFill>
          <a:blip r:embed="rId2"/>
          <a:stretch>
            <a:fillRect/>
          </a:stretch>
        </p:blipFill>
        <p:spPr>
          <a:xfrm>
            <a:off x="677022" y="2780142"/>
            <a:ext cx="218724" cy="218724"/>
          </a:xfrm>
          <a:prstGeom prst="rect">
            <a:avLst/>
          </a:prstGeom>
        </p:spPr>
      </p:pic>
      <p:sp>
        <p:nvSpPr>
          <p:cNvPr id="11" name="Text 7"/>
          <p:cNvSpPr txBox="1"/>
          <p:nvPr/>
        </p:nvSpPr>
        <p:spPr>
          <a:xfrm>
            <a:off x="1207008" y="2596896"/>
            <a:ext cx="4846320" cy="310896"/>
          </a:xfrm>
          <a:prstGeom prst="rect">
            <a:avLst/>
          </a:prstGeom>
          <a:noFill/>
          <a:ln/>
        </p:spPr>
        <p:txBody>
          <a:bodyPr wrap="square" lIns="0" tIns="0" rIns="0" bIns="0" rtlCol="0" anchor="t"/>
          <a:lstStyle/>
          <a:p>
            <a:pPr indent="0" marL="0">
              <a:buNone/>
            </a:pPr>
            <a:r>
              <a:rPr lang="en-US" sz="1500" b="1" dirty="0">
                <a:solidFill>
                  <a:schemeClr val="tx1"/>
                </a:solidFill>
              </a:rPr>
              <a:t>Minor stops &amp; slow running</a:t>
            </a:r>
            <a:endParaRPr lang="en-US" sz="1500" dirty="0"/>
          </a:p>
        </p:txBody>
      </p:sp>
      <p:sp>
        <p:nvSpPr>
          <p:cNvPr id="12" name="Text 8"/>
          <p:cNvSpPr txBox="1"/>
          <p:nvPr/>
        </p:nvSpPr>
        <p:spPr>
          <a:xfrm>
            <a:off x="1207008" y="2916936"/>
            <a:ext cx="4846320" cy="292608"/>
          </a:xfrm>
          <a:prstGeom prst="rect">
            <a:avLst/>
          </a:prstGeom>
          <a:noFill/>
          <a:ln/>
        </p:spPr>
        <p:txBody>
          <a:bodyPr wrap="square" lIns="0" tIns="0" rIns="0" bIns="0" rtlCol="0" anchor="t"/>
          <a:lstStyle/>
          <a:p>
            <a:pPr indent="0" marL="0">
              <a:buNone/>
            </a:pPr>
            <a:r>
              <a:rPr lang="en-US" sz="1300" dirty="0">
                <a:solidFill>
                  <a:schemeClr val="tx2"/>
                </a:solidFill>
              </a:rPr>
              <a:t>Focused improvement removes chronic losses</a:t>
            </a:r>
            <a:endParaRPr lang="en-US" sz="1300" dirty="0"/>
          </a:p>
        </p:txBody>
      </p:sp>
      <p:sp>
        <p:nvSpPr>
          <p:cNvPr id="13" name="3DB_icon"/>
          <p:cNvSpPr/>
          <p:nvPr/>
        </p:nvSpPr>
        <p:spPr>
          <a:xfrm>
            <a:off x="548640" y="3355848"/>
            <a:ext cx="475488" cy="475488"/>
          </a:xfrm>
          <a:prstGeom prst="ellipse">
            <a:avLst/>
          </a:prstGeom>
          <a:solidFill>
            <a:schemeClr val="accent3"/>
          </a:solidFill>
          <a:ln w="12700">
            <a:solidFill>
              <a:schemeClr val="accent3"/>
            </a:solidFill>
            <a:prstDash val="solid"/>
          </a:ln>
          <a:scene3d>
            <a:camera prst="orthographicFront"/>
            <a:lightRig rig="threePt" dir="t"/>
          </a:scene3d>
          <a:sp3d prstMaterial="plastic">
            <a:bevelT w="88900" h="38100"/>
          </a:sp3d>
        </p:spPr>
      </p:sp>
      <p:pic>
        <p:nvPicPr>
          <p:cNvPr id="14" name="icon_FaTimesCircle" descr="preencoded.png">    </p:cNvPr>
          <p:cNvPicPr>
            <a:picLocks noChangeAspect="1"/>
          </p:cNvPicPr>
          <p:nvPr/>
        </p:nvPicPr>
        <p:blipFill>
          <a:blip r:embed="rId3"/>
          <a:stretch>
            <a:fillRect/>
          </a:stretch>
        </p:blipFill>
        <p:spPr>
          <a:xfrm>
            <a:off x="677022" y="3484230"/>
            <a:ext cx="218724" cy="218724"/>
          </a:xfrm>
          <a:prstGeom prst="rect">
            <a:avLst/>
          </a:prstGeom>
        </p:spPr>
      </p:pic>
      <p:sp>
        <p:nvSpPr>
          <p:cNvPr id="15" name="Text 10"/>
          <p:cNvSpPr txBox="1"/>
          <p:nvPr/>
        </p:nvSpPr>
        <p:spPr>
          <a:xfrm>
            <a:off x="1207008" y="3300984"/>
            <a:ext cx="4846320" cy="310896"/>
          </a:xfrm>
          <a:prstGeom prst="rect">
            <a:avLst/>
          </a:prstGeom>
          <a:noFill/>
          <a:ln/>
        </p:spPr>
        <p:txBody>
          <a:bodyPr wrap="square" lIns="0" tIns="0" rIns="0" bIns="0" rtlCol="0" anchor="t"/>
          <a:lstStyle/>
          <a:p>
            <a:pPr indent="0" marL="0">
              <a:buNone/>
            </a:pPr>
            <a:r>
              <a:rPr lang="en-US" sz="1500" b="1" dirty="0">
                <a:solidFill>
                  <a:schemeClr val="tx1"/>
                </a:solidFill>
              </a:rPr>
              <a:t>Defects caused by machines</a:t>
            </a:r>
            <a:endParaRPr lang="en-US" sz="1500" dirty="0"/>
          </a:p>
        </p:txBody>
      </p:sp>
      <p:sp>
        <p:nvSpPr>
          <p:cNvPr id="16" name="Text 11"/>
          <p:cNvSpPr txBox="1"/>
          <p:nvPr/>
        </p:nvSpPr>
        <p:spPr>
          <a:xfrm>
            <a:off x="1207008" y="3621024"/>
            <a:ext cx="4846320" cy="292608"/>
          </a:xfrm>
          <a:prstGeom prst="rect">
            <a:avLst/>
          </a:prstGeom>
          <a:noFill/>
          <a:ln/>
        </p:spPr>
        <p:txBody>
          <a:bodyPr wrap="square" lIns="0" tIns="0" rIns="0" bIns="0" rtlCol="0" anchor="t"/>
          <a:lstStyle/>
          <a:p>
            <a:pPr indent="0" marL="0">
              <a:buNone/>
            </a:pPr>
            <a:r>
              <a:rPr lang="en-US" sz="1300" dirty="0">
                <a:solidFill>
                  <a:schemeClr val="tx2"/>
                </a:solidFill>
              </a:rPr>
              <a:t>Stable equipment conditions mean fewer defects</a:t>
            </a:r>
            <a:endParaRPr lang="en-US" sz="1300" dirty="0"/>
          </a:p>
        </p:txBody>
      </p:sp>
      <p:sp>
        <p:nvSpPr>
          <p:cNvPr id="17" name="3DB_icon"/>
          <p:cNvSpPr/>
          <p:nvPr/>
        </p:nvSpPr>
        <p:spPr>
          <a:xfrm>
            <a:off x="548640" y="4059936"/>
            <a:ext cx="475488" cy="475488"/>
          </a:xfrm>
          <a:prstGeom prst="ellipse">
            <a:avLst/>
          </a:prstGeom>
          <a:solidFill>
            <a:schemeClr val="accent3"/>
          </a:solidFill>
          <a:ln w="12700">
            <a:solidFill>
              <a:schemeClr val="accent3"/>
            </a:solidFill>
            <a:prstDash val="solid"/>
          </a:ln>
          <a:scene3d>
            <a:camera prst="orthographicFront"/>
            <a:lightRig rig="threePt" dir="t"/>
          </a:scene3d>
          <a:sp3d prstMaterial="plastic">
            <a:bevelT w="88900" h="38100"/>
          </a:sp3d>
        </p:spPr>
      </p:sp>
      <p:pic>
        <p:nvPicPr>
          <p:cNvPr id="18" name="icon_FaMoneyBillWave" descr="preencoded.png">    </p:cNvPr>
          <p:cNvPicPr>
            <a:picLocks noChangeAspect="1"/>
          </p:cNvPicPr>
          <p:nvPr/>
        </p:nvPicPr>
        <p:blipFill>
          <a:blip r:embed="rId4"/>
          <a:stretch>
            <a:fillRect/>
          </a:stretch>
        </p:blipFill>
        <p:spPr>
          <a:xfrm>
            <a:off x="677022" y="4188318"/>
            <a:ext cx="218724" cy="218724"/>
          </a:xfrm>
          <a:prstGeom prst="rect">
            <a:avLst/>
          </a:prstGeom>
        </p:spPr>
      </p:pic>
      <p:sp>
        <p:nvSpPr>
          <p:cNvPr id="19" name="Text 13"/>
          <p:cNvSpPr txBox="1"/>
          <p:nvPr/>
        </p:nvSpPr>
        <p:spPr>
          <a:xfrm>
            <a:off x="1207008" y="4005072"/>
            <a:ext cx="4846320" cy="310896"/>
          </a:xfrm>
          <a:prstGeom prst="rect">
            <a:avLst/>
          </a:prstGeom>
          <a:noFill/>
          <a:ln/>
        </p:spPr>
        <p:txBody>
          <a:bodyPr wrap="square" lIns="0" tIns="0" rIns="0" bIns="0" rtlCol="0" anchor="t"/>
          <a:lstStyle/>
          <a:p>
            <a:pPr indent="0" marL="0">
              <a:buNone/>
            </a:pPr>
            <a:r>
              <a:rPr lang="en-US" sz="1500" b="1" dirty="0">
                <a:solidFill>
                  <a:schemeClr val="tx1"/>
                </a:solidFill>
              </a:rPr>
              <a:t>High maintenance costs</a:t>
            </a:r>
            <a:endParaRPr lang="en-US" sz="1500" dirty="0"/>
          </a:p>
        </p:txBody>
      </p:sp>
      <p:sp>
        <p:nvSpPr>
          <p:cNvPr id="20" name="Text 14"/>
          <p:cNvSpPr txBox="1"/>
          <p:nvPr/>
        </p:nvSpPr>
        <p:spPr>
          <a:xfrm>
            <a:off x="1207008" y="4325112"/>
            <a:ext cx="4846320" cy="292608"/>
          </a:xfrm>
          <a:prstGeom prst="rect">
            <a:avLst/>
          </a:prstGeom>
          <a:noFill/>
          <a:ln/>
        </p:spPr>
        <p:txBody>
          <a:bodyPr wrap="square" lIns="0" tIns="0" rIns="0" bIns="0" rtlCol="0" anchor="t"/>
          <a:lstStyle/>
          <a:p>
            <a:pPr indent="0" marL="0">
              <a:buNone/>
            </a:pPr>
            <a:r>
              <a:rPr lang="en-US" sz="1300" dirty="0">
                <a:solidFill>
                  <a:schemeClr val="tx2"/>
                </a:solidFill>
              </a:rPr>
              <a:t>Fewer emergency repairs and rush spare parts</a:t>
            </a:r>
            <a:endParaRPr lang="en-US" sz="1300" dirty="0"/>
          </a:p>
        </p:txBody>
      </p:sp>
      <p:sp>
        <p:nvSpPr>
          <p:cNvPr id="21" name="3DB_icon"/>
          <p:cNvSpPr/>
          <p:nvPr/>
        </p:nvSpPr>
        <p:spPr>
          <a:xfrm>
            <a:off x="548640" y="4764024"/>
            <a:ext cx="475488" cy="475488"/>
          </a:xfrm>
          <a:prstGeom prst="ellipse">
            <a:avLst/>
          </a:prstGeom>
          <a:solidFill>
            <a:schemeClr val="accent3"/>
          </a:solidFill>
          <a:ln w="12700">
            <a:solidFill>
              <a:schemeClr val="accent3"/>
            </a:solidFill>
            <a:prstDash val="solid"/>
          </a:ln>
          <a:scene3d>
            <a:camera prst="orthographicFront"/>
            <a:lightRig rig="threePt" dir="t"/>
          </a:scene3d>
          <a:sp3d prstMaterial="plastic">
            <a:bevelT w="88900" h="38100"/>
          </a:sp3d>
        </p:spPr>
      </p:sp>
      <p:pic>
        <p:nvPicPr>
          <p:cNvPr id="22" name="icon_FaHardHat" descr="preencoded.png">    </p:cNvPr>
          <p:cNvPicPr>
            <a:picLocks noChangeAspect="1"/>
          </p:cNvPicPr>
          <p:nvPr/>
        </p:nvPicPr>
        <p:blipFill>
          <a:blip r:embed="rId5"/>
          <a:stretch>
            <a:fillRect/>
          </a:stretch>
        </p:blipFill>
        <p:spPr>
          <a:xfrm>
            <a:off x="677022" y="4892406"/>
            <a:ext cx="218724" cy="218724"/>
          </a:xfrm>
          <a:prstGeom prst="rect">
            <a:avLst/>
          </a:prstGeom>
        </p:spPr>
      </p:pic>
      <p:sp>
        <p:nvSpPr>
          <p:cNvPr id="23" name="Text 16"/>
          <p:cNvSpPr txBox="1"/>
          <p:nvPr/>
        </p:nvSpPr>
        <p:spPr>
          <a:xfrm>
            <a:off x="1207008" y="4709160"/>
            <a:ext cx="4846320" cy="310896"/>
          </a:xfrm>
          <a:prstGeom prst="rect">
            <a:avLst/>
          </a:prstGeom>
          <a:noFill/>
          <a:ln/>
        </p:spPr>
        <p:txBody>
          <a:bodyPr wrap="square" lIns="0" tIns="0" rIns="0" bIns="0" rtlCol="0" anchor="t"/>
          <a:lstStyle/>
          <a:p>
            <a:pPr indent="0" marL="0">
              <a:buNone/>
            </a:pPr>
            <a:r>
              <a:rPr lang="en-US" sz="1500" b="1" dirty="0">
                <a:solidFill>
                  <a:schemeClr val="tx1"/>
                </a:solidFill>
              </a:rPr>
              <a:t>Safety incidents</a:t>
            </a:r>
            <a:endParaRPr lang="en-US" sz="1500" dirty="0"/>
          </a:p>
        </p:txBody>
      </p:sp>
      <p:sp>
        <p:nvSpPr>
          <p:cNvPr id="24" name="Text 17"/>
          <p:cNvSpPr txBox="1"/>
          <p:nvPr/>
        </p:nvSpPr>
        <p:spPr>
          <a:xfrm>
            <a:off x="1207008" y="5029200"/>
            <a:ext cx="4846320" cy="292608"/>
          </a:xfrm>
          <a:prstGeom prst="rect">
            <a:avLst/>
          </a:prstGeom>
          <a:noFill/>
          <a:ln/>
        </p:spPr>
        <p:txBody>
          <a:bodyPr wrap="square" lIns="0" tIns="0" rIns="0" bIns="0" rtlCol="0" anchor="t"/>
          <a:lstStyle/>
          <a:p>
            <a:pPr indent="0" marL="0">
              <a:buNone/>
            </a:pPr>
            <a:r>
              <a:rPr lang="en-US" sz="1300" dirty="0">
                <a:solidFill>
                  <a:schemeClr val="tx2"/>
                </a:solidFill>
              </a:rPr>
              <a:t>Clean, inspected machines reveal hazards early</a:t>
            </a:r>
            <a:endParaRPr lang="en-US" sz="1300" dirty="0"/>
          </a:p>
        </p:txBody>
      </p:sp>
      <p:sp>
        <p:nvSpPr>
          <p:cNvPr id="25" name="3DB_icon"/>
          <p:cNvSpPr/>
          <p:nvPr/>
        </p:nvSpPr>
        <p:spPr>
          <a:xfrm>
            <a:off x="548640" y="5468112"/>
            <a:ext cx="475488" cy="475488"/>
          </a:xfrm>
          <a:prstGeom prst="ellipse">
            <a:avLst/>
          </a:prstGeom>
          <a:solidFill>
            <a:schemeClr val="accent3"/>
          </a:solidFill>
          <a:ln w="12700">
            <a:solidFill>
              <a:schemeClr val="accent3"/>
            </a:solidFill>
            <a:prstDash val="solid"/>
          </a:ln>
          <a:scene3d>
            <a:camera prst="orthographicFront"/>
            <a:lightRig rig="threePt" dir="t"/>
          </a:scene3d>
          <a:sp3d prstMaterial="plastic">
            <a:bevelT w="88900" h="38100"/>
          </a:sp3d>
        </p:spPr>
      </p:sp>
      <p:pic>
        <p:nvPicPr>
          <p:cNvPr id="26" name="icon_FaUsers" descr="preencoded.png">    </p:cNvPr>
          <p:cNvPicPr>
            <a:picLocks noChangeAspect="1"/>
          </p:cNvPicPr>
          <p:nvPr/>
        </p:nvPicPr>
        <p:blipFill>
          <a:blip r:embed="rId6"/>
          <a:stretch>
            <a:fillRect/>
          </a:stretch>
        </p:blipFill>
        <p:spPr>
          <a:xfrm>
            <a:off x="677022" y="5596494"/>
            <a:ext cx="218724" cy="218724"/>
          </a:xfrm>
          <a:prstGeom prst="rect">
            <a:avLst/>
          </a:prstGeom>
        </p:spPr>
      </p:pic>
      <p:sp>
        <p:nvSpPr>
          <p:cNvPr id="27" name="Text 19"/>
          <p:cNvSpPr txBox="1"/>
          <p:nvPr/>
        </p:nvSpPr>
        <p:spPr>
          <a:xfrm>
            <a:off x="1207008" y="5413248"/>
            <a:ext cx="4846320" cy="310896"/>
          </a:xfrm>
          <a:prstGeom prst="rect">
            <a:avLst/>
          </a:prstGeom>
          <a:noFill/>
          <a:ln/>
        </p:spPr>
        <p:txBody>
          <a:bodyPr wrap="square" lIns="0" tIns="0" rIns="0" bIns="0" rtlCol="0" anchor="t"/>
          <a:lstStyle/>
          <a:p>
            <a:pPr indent="0" marL="0">
              <a:buNone/>
            </a:pPr>
            <a:r>
              <a:rPr lang="en-US" sz="1500" b="1" dirty="0">
                <a:solidFill>
                  <a:schemeClr val="tx1"/>
                </a:solidFill>
              </a:rPr>
              <a:t>“I operate, you fix” silos</a:t>
            </a:r>
            <a:endParaRPr lang="en-US" sz="1500" dirty="0"/>
          </a:p>
        </p:txBody>
      </p:sp>
      <p:sp>
        <p:nvSpPr>
          <p:cNvPr id="28" name="Text 20"/>
          <p:cNvSpPr txBox="1"/>
          <p:nvPr/>
        </p:nvSpPr>
        <p:spPr>
          <a:xfrm>
            <a:off x="1207008" y="5733288"/>
            <a:ext cx="4846320" cy="292608"/>
          </a:xfrm>
          <a:prstGeom prst="rect">
            <a:avLst/>
          </a:prstGeom>
          <a:noFill/>
          <a:ln/>
        </p:spPr>
        <p:txBody>
          <a:bodyPr wrap="square" lIns="0" tIns="0" rIns="0" bIns="0" rtlCol="0" anchor="t"/>
          <a:lstStyle/>
          <a:p>
            <a:pPr indent="0" marL="0">
              <a:buNone/>
            </a:pPr>
            <a:r>
              <a:rPr lang="en-US" sz="1300" dirty="0">
                <a:solidFill>
                  <a:schemeClr val="tx2"/>
                </a:solidFill>
              </a:rPr>
              <a:t>Production and maintenance share goals</a:t>
            </a:r>
            <a:endParaRPr lang="en-US" sz="1300" dirty="0"/>
          </a:p>
        </p:txBody>
      </p:sp>
      <p:sp>
        <p:nvSpPr>
          <p:cNvPr id="29" name="Text 21"/>
          <p:cNvSpPr txBox="1"/>
          <p:nvPr/>
        </p:nvSpPr>
        <p:spPr>
          <a:xfrm>
            <a:off x="6309360" y="1572768"/>
            <a:ext cx="5333695"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PRACTICAL EXAMPLES</a:t>
            </a:r>
            <a:endParaRPr lang="en-US" sz="1200" dirty="0"/>
          </a:p>
        </p:txBody>
      </p:sp>
      <p:sp>
        <p:nvSpPr>
          <p:cNvPr id="30" name="3DC_card"/>
          <p:cNvSpPr/>
          <p:nvPr/>
        </p:nvSpPr>
        <p:spPr>
          <a:xfrm>
            <a:off x="6309360" y="1892808"/>
            <a:ext cx="5333695" cy="914400"/>
          </a:xfrm>
          <a:prstGeom prst="roundRect">
            <a:avLst>
              <a:gd name="adj" fmla="val 12000"/>
            </a:avLst>
          </a:prstGeom>
          <a:solidFill>
            <a:schemeClr val="bg2"/>
          </a:solidFill>
          <a:ln w="12700">
            <a:solidFill>
              <a:schemeClr val="bg2"/>
            </a:solidFill>
            <a:prstDash val="solid"/>
          </a:ln>
          <a:effectLst>
            <a:outerShdw sx="100000" sy="100000" kx="0" ky="0" algn="bl" rotWithShape="0" blurRad="127000" dist="38100" dir="5400000">
              <a:srgbClr val="16212E">
                <a:alpha val="16000"/>
              </a:srgbClr>
            </a:outerShdw>
          </a:effectLst>
          <a:scene3d>
            <a:camera prst="orthographicFront"/>
            <a:lightRig rig="threePt" dir="t"/>
          </a:scene3d>
          <a:sp3d>
            <a:bevelT w="25400" h="12700" prst="softRound"/>
          </a:sp3d>
        </p:spPr>
      </p:sp>
      <p:sp>
        <p:nvSpPr>
          <p:cNvPr id="31" name="3DB_icon"/>
          <p:cNvSpPr/>
          <p:nvPr/>
        </p:nvSpPr>
        <p:spPr>
          <a:xfrm>
            <a:off x="6492240" y="2075688"/>
            <a:ext cx="548640" cy="548640"/>
          </a:xfrm>
          <a:prstGeom prst="ellipse">
            <a:avLst/>
          </a:prstGeom>
          <a:solidFill>
            <a:schemeClr val="accent2"/>
          </a:solidFill>
          <a:ln w="12700">
            <a:solidFill>
              <a:schemeClr val="accent2"/>
            </a:solidFill>
            <a:prstDash val="solid"/>
          </a:ln>
          <a:scene3d>
            <a:camera prst="orthographicFront"/>
            <a:lightRig rig="threePt" dir="t"/>
          </a:scene3d>
          <a:sp3d prstMaterial="plastic">
            <a:bevelT w="88900" h="38100"/>
          </a:sp3d>
        </p:spPr>
      </p:sp>
      <p:pic>
        <p:nvPicPr>
          <p:cNvPr id="32" name="icon_FaClipboardCheck" descr="preencoded.png">    </p:cNvPr>
          <p:cNvPicPr>
            <a:picLocks noChangeAspect="1"/>
          </p:cNvPicPr>
          <p:nvPr/>
        </p:nvPicPr>
        <p:blipFill>
          <a:blip r:embed="rId7"/>
          <a:stretch>
            <a:fillRect/>
          </a:stretch>
        </p:blipFill>
        <p:spPr>
          <a:xfrm>
            <a:off x="6640373" y="2223821"/>
            <a:ext cx="252374" cy="252374"/>
          </a:xfrm>
          <a:prstGeom prst="rect">
            <a:avLst/>
          </a:prstGeom>
        </p:spPr>
      </p:pic>
      <p:sp>
        <p:nvSpPr>
          <p:cNvPr id="33" name="Text 24"/>
          <p:cNvSpPr txBox="1"/>
          <p:nvPr/>
        </p:nvSpPr>
        <p:spPr>
          <a:xfrm>
            <a:off x="7223760" y="2020824"/>
            <a:ext cx="4282135" cy="329184"/>
          </a:xfrm>
          <a:prstGeom prst="rect">
            <a:avLst/>
          </a:prstGeom>
          <a:noFill/>
          <a:ln/>
        </p:spPr>
        <p:txBody>
          <a:bodyPr wrap="square" lIns="0" tIns="0" rIns="0" bIns="0" rtlCol="0" anchor="t"/>
          <a:lstStyle/>
          <a:p>
            <a:pPr indent="0" marL="0">
              <a:buNone/>
            </a:pPr>
            <a:r>
              <a:rPr lang="en-US" sz="1600" b="1" dirty="0">
                <a:solidFill>
                  <a:schemeClr val="tx1"/>
                </a:solidFill>
              </a:rPr>
              <a:t>Every shift: 5-minute CILT check</a:t>
            </a:r>
            <a:endParaRPr lang="en-US" sz="1600" dirty="0"/>
          </a:p>
        </p:txBody>
      </p:sp>
      <p:sp>
        <p:nvSpPr>
          <p:cNvPr id="34" name="Text 25"/>
          <p:cNvSpPr txBox="1"/>
          <p:nvPr/>
        </p:nvSpPr>
        <p:spPr>
          <a:xfrm>
            <a:off x="7223760" y="2368296"/>
            <a:ext cx="4282135" cy="329184"/>
          </a:xfrm>
          <a:prstGeom prst="rect">
            <a:avLst/>
          </a:prstGeom>
          <a:noFill/>
          <a:ln/>
        </p:spPr>
        <p:txBody>
          <a:bodyPr wrap="square" lIns="0" tIns="0" rIns="0" bIns="0" rtlCol="0" anchor="t"/>
          <a:lstStyle/>
          <a:p>
            <a:pPr indent="0" marL="0">
              <a:buNone/>
            </a:pPr>
            <a:r>
              <a:rPr lang="en-US" sz="1400" dirty="0">
                <a:solidFill>
                  <a:schemeClr val="tx2"/>
                </a:solidFill>
              </a:rPr>
              <a:t>Clean, inspect, lubricate, tighten marked points</a:t>
            </a:r>
            <a:endParaRPr lang="en-US" sz="1400" dirty="0"/>
          </a:p>
        </p:txBody>
      </p:sp>
      <p:sp>
        <p:nvSpPr>
          <p:cNvPr id="35" name="3DC_card"/>
          <p:cNvSpPr/>
          <p:nvPr/>
        </p:nvSpPr>
        <p:spPr>
          <a:xfrm>
            <a:off x="6309360" y="2944368"/>
            <a:ext cx="5333695" cy="914400"/>
          </a:xfrm>
          <a:prstGeom prst="roundRect">
            <a:avLst>
              <a:gd name="adj" fmla="val 12000"/>
            </a:avLst>
          </a:prstGeom>
          <a:solidFill>
            <a:schemeClr val="bg2"/>
          </a:solidFill>
          <a:ln w="12700">
            <a:solidFill>
              <a:schemeClr val="bg2"/>
            </a:solidFill>
            <a:prstDash val="solid"/>
          </a:ln>
          <a:effectLst>
            <a:outerShdw sx="100000" sy="100000" kx="0" ky="0" algn="bl" rotWithShape="0" blurRad="127000" dist="38100" dir="5400000">
              <a:srgbClr val="16212E">
                <a:alpha val="16000"/>
              </a:srgbClr>
            </a:outerShdw>
          </a:effectLst>
          <a:scene3d>
            <a:camera prst="orthographicFront"/>
            <a:lightRig rig="threePt" dir="t"/>
          </a:scene3d>
          <a:sp3d>
            <a:bevelT w="25400" h="12700" prst="softRound"/>
          </a:sp3d>
        </p:spPr>
      </p:sp>
      <p:sp>
        <p:nvSpPr>
          <p:cNvPr id="36" name="3DB_icon"/>
          <p:cNvSpPr/>
          <p:nvPr/>
        </p:nvSpPr>
        <p:spPr>
          <a:xfrm>
            <a:off x="6492240" y="3127248"/>
            <a:ext cx="548640" cy="548640"/>
          </a:xfrm>
          <a:prstGeom prst="ellipse">
            <a:avLst/>
          </a:prstGeom>
          <a:solidFill>
            <a:schemeClr val="accent2"/>
          </a:solidFill>
          <a:ln w="12700">
            <a:solidFill>
              <a:schemeClr val="accent2"/>
            </a:solidFill>
            <a:prstDash val="solid"/>
          </a:ln>
          <a:scene3d>
            <a:camera prst="orthographicFront"/>
            <a:lightRig rig="threePt" dir="t"/>
          </a:scene3d>
          <a:sp3d prstMaterial="plastic">
            <a:bevelT w="88900" h="38100"/>
          </a:sp3d>
        </p:spPr>
      </p:sp>
      <p:pic>
        <p:nvPicPr>
          <p:cNvPr id="37" name="icon_FaTag" descr="preencoded.png">    </p:cNvPr>
          <p:cNvPicPr>
            <a:picLocks noChangeAspect="1"/>
          </p:cNvPicPr>
          <p:nvPr/>
        </p:nvPicPr>
        <p:blipFill>
          <a:blip r:embed="rId8"/>
          <a:stretch>
            <a:fillRect/>
          </a:stretch>
        </p:blipFill>
        <p:spPr>
          <a:xfrm>
            <a:off x="6640373" y="3275381"/>
            <a:ext cx="252374" cy="252374"/>
          </a:xfrm>
          <a:prstGeom prst="rect">
            <a:avLst/>
          </a:prstGeom>
        </p:spPr>
      </p:pic>
      <p:sp>
        <p:nvSpPr>
          <p:cNvPr id="38" name="Text 28"/>
          <p:cNvSpPr txBox="1"/>
          <p:nvPr/>
        </p:nvSpPr>
        <p:spPr>
          <a:xfrm>
            <a:off x="7223760" y="3072384"/>
            <a:ext cx="4282135" cy="329184"/>
          </a:xfrm>
          <a:prstGeom prst="rect">
            <a:avLst/>
          </a:prstGeom>
          <a:noFill/>
          <a:ln/>
        </p:spPr>
        <p:txBody>
          <a:bodyPr wrap="square" lIns="0" tIns="0" rIns="0" bIns="0" rtlCol="0" anchor="t"/>
          <a:lstStyle/>
          <a:p>
            <a:pPr indent="0" marL="0">
              <a:buNone/>
            </a:pPr>
            <a:r>
              <a:rPr lang="en-US" sz="1600" b="1" dirty="0">
                <a:solidFill>
                  <a:schemeClr val="tx1"/>
                </a:solidFill>
              </a:rPr>
              <a:t>Abnormality tags</a:t>
            </a:r>
            <a:endParaRPr lang="en-US" sz="1600" dirty="0"/>
          </a:p>
        </p:txBody>
      </p:sp>
      <p:sp>
        <p:nvSpPr>
          <p:cNvPr id="39" name="Text 29"/>
          <p:cNvSpPr txBox="1"/>
          <p:nvPr/>
        </p:nvSpPr>
        <p:spPr>
          <a:xfrm>
            <a:off x="7223760" y="3419856"/>
            <a:ext cx="4282135" cy="329184"/>
          </a:xfrm>
          <a:prstGeom prst="rect">
            <a:avLst/>
          </a:prstGeom>
          <a:noFill/>
          <a:ln/>
        </p:spPr>
        <p:txBody>
          <a:bodyPr wrap="square" lIns="0" tIns="0" rIns="0" bIns="0" rtlCol="0" anchor="t"/>
          <a:lstStyle/>
          <a:p>
            <a:pPr indent="0" marL="0">
              <a:buNone/>
            </a:pPr>
            <a:r>
              <a:rPr lang="en-US" sz="1400" dirty="0">
                <a:solidFill>
                  <a:schemeClr val="tx2"/>
                </a:solidFill>
              </a:rPr>
              <a:t>Operators tag leaks and loose parts for repair</a:t>
            </a:r>
            <a:endParaRPr lang="en-US" sz="1400" dirty="0"/>
          </a:p>
        </p:txBody>
      </p:sp>
      <p:sp>
        <p:nvSpPr>
          <p:cNvPr id="40" name="3DC_card"/>
          <p:cNvSpPr/>
          <p:nvPr/>
        </p:nvSpPr>
        <p:spPr>
          <a:xfrm>
            <a:off x="6309360" y="3995928"/>
            <a:ext cx="5333695" cy="914400"/>
          </a:xfrm>
          <a:prstGeom prst="roundRect">
            <a:avLst>
              <a:gd name="adj" fmla="val 12000"/>
            </a:avLst>
          </a:prstGeom>
          <a:solidFill>
            <a:schemeClr val="bg2"/>
          </a:solidFill>
          <a:ln w="12700">
            <a:solidFill>
              <a:schemeClr val="bg2"/>
            </a:solidFill>
            <a:prstDash val="solid"/>
          </a:ln>
          <a:effectLst>
            <a:outerShdw sx="100000" sy="100000" kx="0" ky="0" algn="bl" rotWithShape="0" blurRad="127000" dist="38100" dir="5400000">
              <a:srgbClr val="16212E">
                <a:alpha val="16000"/>
              </a:srgbClr>
            </a:outerShdw>
          </a:effectLst>
          <a:scene3d>
            <a:camera prst="orthographicFront"/>
            <a:lightRig rig="threePt" dir="t"/>
          </a:scene3d>
          <a:sp3d>
            <a:bevelT w="25400" h="12700" prst="softRound"/>
          </a:sp3d>
        </p:spPr>
      </p:sp>
      <p:sp>
        <p:nvSpPr>
          <p:cNvPr id="41" name="3DB_icon"/>
          <p:cNvSpPr/>
          <p:nvPr/>
        </p:nvSpPr>
        <p:spPr>
          <a:xfrm>
            <a:off x="6492240" y="4178808"/>
            <a:ext cx="548640" cy="548640"/>
          </a:xfrm>
          <a:prstGeom prst="ellipse">
            <a:avLst/>
          </a:prstGeom>
          <a:solidFill>
            <a:schemeClr val="accent2"/>
          </a:solidFill>
          <a:ln w="12700">
            <a:solidFill>
              <a:schemeClr val="accent2"/>
            </a:solidFill>
            <a:prstDash val="solid"/>
          </a:ln>
          <a:scene3d>
            <a:camera prst="orthographicFront"/>
            <a:lightRig rig="threePt" dir="t"/>
          </a:scene3d>
          <a:sp3d prstMaterial="plastic">
            <a:bevelT w="88900" h="38100"/>
          </a:sp3d>
        </p:spPr>
      </p:sp>
      <p:pic>
        <p:nvPicPr>
          <p:cNvPr id="42" name="icon_FaWrench" descr="preencoded.png">    </p:cNvPr>
          <p:cNvPicPr>
            <a:picLocks noChangeAspect="1"/>
          </p:cNvPicPr>
          <p:nvPr/>
        </p:nvPicPr>
        <p:blipFill>
          <a:blip r:embed="rId9"/>
          <a:stretch>
            <a:fillRect/>
          </a:stretch>
        </p:blipFill>
        <p:spPr>
          <a:xfrm>
            <a:off x="6640373" y="4326941"/>
            <a:ext cx="252374" cy="252374"/>
          </a:xfrm>
          <a:prstGeom prst="rect">
            <a:avLst/>
          </a:prstGeom>
        </p:spPr>
      </p:pic>
      <p:sp>
        <p:nvSpPr>
          <p:cNvPr id="43" name="Text 32"/>
          <p:cNvSpPr txBox="1"/>
          <p:nvPr/>
        </p:nvSpPr>
        <p:spPr>
          <a:xfrm>
            <a:off x="7223760" y="4123944"/>
            <a:ext cx="4282135" cy="329184"/>
          </a:xfrm>
          <a:prstGeom prst="rect">
            <a:avLst/>
          </a:prstGeom>
          <a:noFill/>
          <a:ln/>
        </p:spPr>
        <p:txBody>
          <a:bodyPr wrap="square" lIns="0" tIns="0" rIns="0" bIns="0" rtlCol="0" anchor="t"/>
          <a:lstStyle/>
          <a:p>
            <a:pPr indent="0" marL="0">
              <a:buNone/>
            </a:pPr>
            <a:r>
              <a:rPr lang="en-US" sz="1600" b="1" dirty="0">
                <a:solidFill>
                  <a:schemeClr val="tx1"/>
                </a:solidFill>
              </a:rPr>
              <a:t>Planned maintenance calendar</a:t>
            </a:r>
            <a:endParaRPr lang="en-US" sz="1600" dirty="0"/>
          </a:p>
        </p:txBody>
      </p:sp>
      <p:sp>
        <p:nvSpPr>
          <p:cNvPr id="44" name="Text 33"/>
          <p:cNvSpPr txBox="1"/>
          <p:nvPr/>
        </p:nvSpPr>
        <p:spPr>
          <a:xfrm>
            <a:off x="7223760" y="4471416"/>
            <a:ext cx="4282135" cy="329184"/>
          </a:xfrm>
          <a:prstGeom prst="rect">
            <a:avLst/>
          </a:prstGeom>
          <a:noFill/>
          <a:ln/>
        </p:spPr>
        <p:txBody>
          <a:bodyPr wrap="square" lIns="0" tIns="0" rIns="0" bIns="0" rtlCol="0" anchor="t"/>
          <a:lstStyle/>
          <a:p>
            <a:pPr indent="0" marL="0">
              <a:buNone/>
            </a:pPr>
            <a:r>
              <a:rPr lang="en-US" sz="1400" dirty="0">
                <a:solidFill>
                  <a:schemeClr val="tx2"/>
                </a:solidFill>
              </a:rPr>
              <a:t>Service based on failure history, not breakdowns</a:t>
            </a:r>
            <a:endParaRPr lang="en-US" sz="1400" dirty="0"/>
          </a:p>
        </p:txBody>
      </p:sp>
      <p:sp>
        <p:nvSpPr>
          <p:cNvPr id="45" name="3DC_card"/>
          <p:cNvSpPr/>
          <p:nvPr/>
        </p:nvSpPr>
        <p:spPr>
          <a:xfrm>
            <a:off x="6309360" y="5047488"/>
            <a:ext cx="5333695" cy="914400"/>
          </a:xfrm>
          <a:prstGeom prst="roundRect">
            <a:avLst>
              <a:gd name="adj" fmla="val 12000"/>
            </a:avLst>
          </a:prstGeom>
          <a:solidFill>
            <a:schemeClr val="bg2"/>
          </a:solidFill>
          <a:ln w="12700">
            <a:solidFill>
              <a:schemeClr val="bg2"/>
            </a:solidFill>
            <a:prstDash val="solid"/>
          </a:ln>
          <a:effectLst>
            <a:outerShdw sx="100000" sy="100000" kx="0" ky="0" algn="bl" rotWithShape="0" blurRad="127000" dist="38100" dir="5400000">
              <a:srgbClr val="16212E">
                <a:alpha val="16000"/>
              </a:srgbClr>
            </a:outerShdw>
          </a:effectLst>
          <a:scene3d>
            <a:camera prst="orthographicFront"/>
            <a:lightRig rig="threePt" dir="t"/>
          </a:scene3d>
          <a:sp3d>
            <a:bevelT w="25400" h="12700" prst="softRound"/>
          </a:sp3d>
        </p:spPr>
      </p:sp>
      <p:sp>
        <p:nvSpPr>
          <p:cNvPr id="46" name="3DB_icon"/>
          <p:cNvSpPr/>
          <p:nvPr/>
        </p:nvSpPr>
        <p:spPr>
          <a:xfrm>
            <a:off x="6492240" y="5230368"/>
            <a:ext cx="548640" cy="548640"/>
          </a:xfrm>
          <a:prstGeom prst="ellipse">
            <a:avLst/>
          </a:prstGeom>
          <a:solidFill>
            <a:schemeClr val="accent2"/>
          </a:solidFill>
          <a:ln w="12700">
            <a:solidFill>
              <a:schemeClr val="accent2"/>
            </a:solidFill>
            <a:prstDash val="solid"/>
          </a:ln>
          <a:scene3d>
            <a:camera prst="orthographicFront"/>
            <a:lightRig rig="threePt" dir="t"/>
          </a:scene3d>
          <a:sp3d prstMaterial="plastic">
            <a:bevelT w="88900" h="38100"/>
          </a:sp3d>
        </p:spPr>
      </p:sp>
      <p:pic>
        <p:nvPicPr>
          <p:cNvPr id="47" name="icon_FaChartLine" descr="preencoded.png">    </p:cNvPr>
          <p:cNvPicPr>
            <a:picLocks noChangeAspect="1"/>
          </p:cNvPicPr>
          <p:nvPr/>
        </p:nvPicPr>
        <p:blipFill>
          <a:blip r:embed="rId10"/>
          <a:stretch>
            <a:fillRect/>
          </a:stretch>
        </p:blipFill>
        <p:spPr>
          <a:xfrm>
            <a:off x="6640373" y="5378501"/>
            <a:ext cx="252374" cy="252374"/>
          </a:xfrm>
          <a:prstGeom prst="rect">
            <a:avLst/>
          </a:prstGeom>
        </p:spPr>
      </p:pic>
      <p:sp>
        <p:nvSpPr>
          <p:cNvPr id="48" name="Text 36"/>
          <p:cNvSpPr txBox="1"/>
          <p:nvPr/>
        </p:nvSpPr>
        <p:spPr>
          <a:xfrm>
            <a:off x="7223760" y="5175504"/>
            <a:ext cx="4282135" cy="329184"/>
          </a:xfrm>
          <a:prstGeom prst="rect">
            <a:avLst/>
          </a:prstGeom>
          <a:noFill/>
          <a:ln/>
        </p:spPr>
        <p:txBody>
          <a:bodyPr wrap="square" lIns="0" tIns="0" rIns="0" bIns="0" rtlCol="0" anchor="t"/>
          <a:lstStyle/>
          <a:p>
            <a:pPr indent="0" marL="0">
              <a:buNone/>
            </a:pPr>
            <a:r>
              <a:rPr lang="en-US" sz="1600" b="1" dirty="0">
                <a:solidFill>
                  <a:schemeClr val="tx1"/>
                </a:solidFill>
              </a:rPr>
              <a:t>Monthly OEE review</a:t>
            </a:r>
            <a:endParaRPr lang="en-US" sz="1600" dirty="0"/>
          </a:p>
        </p:txBody>
      </p:sp>
      <p:sp>
        <p:nvSpPr>
          <p:cNvPr id="49" name="Text 37"/>
          <p:cNvSpPr txBox="1"/>
          <p:nvPr/>
        </p:nvSpPr>
        <p:spPr>
          <a:xfrm>
            <a:off x="7223760" y="5522976"/>
            <a:ext cx="4282135" cy="329184"/>
          </a:xfrm>
          <a:prstGeom prst="rect">
            <a:avLst/>
          </a:prstGeom>
          <a:noFill/>
          <a:ln/>
        </p:spPr>
        <p:txBody>
          <a:bodyPr wrap="square" lIns="0" tIns="0" rIns="0" bIns="0" rtlCol="0" anchor="t"/>
          <a:lstStyle/>
          <a:p>
            <a:pPr indent="0" marL="0">
              <a:buNone/>
            </a:pPr>
            <a:r>
              <a:rPr lang="en-US" sz="1400" dirty="0">
                <a:solidFill>
                  <a:schemeClr val="tx2"/>
                </a:solidFill>
              </a:rPr>
              <a:t>The team picks the biggest loss and fixes it</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400">
        <p14:prism isContent="1"/>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hip"/>
          <p:cNvSpPr/>
          <p:nvPr/>
        </p:nvSpPr>
        <p:spPr>
          <a:xfrm>
            <a:off x="548640" y="237744"/>
            <a:ext cx="1531620" cy="274320"/>
          </a:xfrm>
          <a:prstGeom prst="roundRect">
            <a:avLst>
              <a:gd name="adj" fmla="val 50000"/>
            </a:avLst>
          </a:prstGeom>
          <a:solidFill>
            <a:schemeClr val="accent4"/>
          </a:solidFill>
          <a:ln/>
        </p:spPr>
        <p:txBody>
          <a:bodyPr wrap="square" lIns="0" tIns="0" rIns="0" bIns="0" rtlCol="0" anchor="ctr"/>
          <a:lstStyle/>
          <a:p>
            <a:pPr algn="ctr" indent="0" marL="0">
              <a:buNone/>
            </a:pPr>
            <a:r>
              <a:rPr lang="en-US" sz="1050" b="1" spc="150" kern="0" dirty="0">
                <a:solidFill>
                  <a:schemeClr val="bg1"/>
                </a:solidFill>
              </a:rPr>
              <a:t>QUESTIONS 1 &amp; 2</a:t>
            </a:r>
            <a:endParaRPr lang="en-US" sz="1050" dirty="0"/>
          </a:p>
        </p:txBody>
      </p:sp>
      <p:sp>
        <p:nvSpPr>
          <p:cNvPr id="3"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400" b="1" dirty="0">
                <a:solidFill>
                  <a:schemeClr val="tx1"/>
                </a:solidFill>
              </a:rPr>
              <a:t>Why Lean, and how to overcome its challenges</a:t>
            </a:r>
            <a:endParaRPr lang="en-US" sz="3400" dirty="0"/>
          </a:p>
        </p:txBody>
      </p:sp>
      <p:sp>
        <p:nvSpPr>
          <p:cNvPr id="4" name="Text 2"/>
          <p:cNvSpPr txBox="1"/>
          <p:nvPr/>
        </p:nvSpPr>
        <p:spPr>
          <a:xfrm>
            <a:off x="548640" y="1572768"/>
            <a:ext cx="480060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1 · WHY ORGANIZATIONS IMPLEMENT LEAN</a:t>
            </a:r>
            <a:endParaRPr lang="en-US" sz="1200" dirty="0"/>
          </a:p>
        </p:txBody>
      </p:sp>
      <p:sp>
        <p:nvSpPr>
          <p:cNvPr id="5" name="3DB_icon"/>
          <p:cNvSpPr/>
          <p:nvPr/>
        </p:nvSpPr>
        <p:spPr>
          <a:xfrm>
            <a:off x="548640" y="1947672"/>
            <a:ext cx="475488" cy="475488"/>
          </a:xfrm>
          <a:prstGeom prst="ellipse">
            <a:avLst/>
          </a:prstGeom>
          <a:solidFill>
            <a:schemeClr val="accent4"/>
          </a:solidFill>
          <a:ln w="12700">
            <a:solidFill>
              <a:schemeClr val="accent4"/>
            </a:solidFill>
            <a:prstDash val="solid"/>
          </a:ln>
          <a:scene3d>
            <a:camera prst="orthographicFront"/>
            <a:lightRig rig="threePt" dir="t"/>
          </a:scene3d>
          <a:sp3d prstMaterial="plastic">
            <a:bevelT w="88900" h="38100"/>
          </a:sp3d>
        </p:spPr>
      </p:sp>
      <p:pic>
        <p:nvPicPr>
          <p:cNvPr id="6" name="icon_FaTrashAlt" descr="preencoded.png">    </p:cNvPr>
          <p:cNvPicPr>
            <a:picLocks noChangeAspect="1"/>
          </p:cNvPicPr>
          <p:nvPr/>
        </p:nvPicPr>
        <p:blipFill>
          <a:blip r:embed="rId1"/>
          <a:stretch>
            <a:fillRect/>
          </a:stretch>
        </p:blipFill>
        <p:spPr>
          <a:xfrm>
            <a:off x="677022" y="2076054"/>
            <a:ext cx="218724" cy="218724"/>
          </a:xfrm>
          <a:prstGeom prst="rect">
            <a:avLst/>
          </a:prstGeom>
        </p:spPr>
      </p:pic>
      <p:sp>
        <p:nvSpPr>
          <p:cNvPr id="7" name="Text 4"/>
          <p:cNvSpPr txBox="1"/>
          <p:nvPr/>
        </p:nvSpPr>
        <p:spPr>
          <a:xfrm>
            <a:off x="1207008" y="1892808"/>
            <a:ext cx="3685032" cy="310896"/>
          </a:xfrm>
          <a:prstGeom prst="rect">
            <a:avLst/>
          </a:prstGeom>
          <a:noFill/>
          <a:ln/>
        </p:spPr>
        <p:txBody>
          <a:bodyPr wrap="square" lIns="0" tIns="0" rIns="0" bIns="0" rtlCol="0" anchor="t"/>
          <a:lstStyle/>
          <a:p>
            <a:pPr indent="0" marL="0">
              <a:buNone/>
            </a:pPr>
            <a:r>
              <a:rPr lang="en-US" sz="1500" b="1" dirty="0">
                <a:solidFill>
                  <a:schemeClr val="tx1"/>
                </a:solidFill>
              </a:rPr>
              <a:t>Eliminate waste</a:t>
            </a:r>
            <a:endParaRPr lang="en-US" sz="1500" dirty="0"/>
          </a:p>
        </p:txBody>
      </p:sp>
      <p:sp>
        <p:nvSpPr>
          <p:cNvPr id="8" name="Text 5"/>
          <p:cNvSpPr txBox="1"/>
          <p:nvPr/>
        </p:nvSpPr>
        <p:spPr>
          <a:xfrm>
            <a:off x="1207008" y="2212848"/>
            <a:ext cx="3685032" cy="292608"/>
          </a:xfrm>
          <a:prstGeom prst="rect">
            <a:avLst/>
          </a:prstGeom>
          <a:noFill/>
          <a:ln/>
        </p:spPr>
        <p:txBody>
          <a:bodyPr wrap="square" lIns="0" tIns="0" rIns="0" bIns="0" rtlCol="0" anchor="t"/>
          <a:lstStyle/>
          <a:p>
            <a:pPr indent="0" marL="0">
              <a:buNone/>
            </a:pPr>
            <a:r>
              <a:rPr lang="en-US" sz="1300" dirty="0">
                <a:solidFill>
                  <a:schemeClr val="tx2"/>
                </a:solidFill>
              </a:rPr>
              <a:t>Remove what the customer does not pay for</a:t>
            </a:r>
            <a:endParaRPr lang="en-US" sz="1300" dirty="0"/>
          </a:p>
        </p:txBody>
      </p:sp>
      <p:sp>
        <p:nvSpPr>
          <p:cNvPr id="9" name="3DB_icon"/>
          <p:cNvSpPr/>
          <p:nvPr/>
        </p:nvSpPr>
        <p:spPr>
          <a:xfrm>
            <a:off x="548640" y="2642616"/>
            <a:ext cx="475488" cy="475488"/>
          </a:xfrm>
          <a:prstGeom prst="ellipse">
            <a:avLst/>
          </a:prstGeom>
          <a:solidFill>
            <a:schemeClr val="accent4"/>
          </a:solidFill>
          <a:ln w="12700">
            <a:solidFill>
              <a:schemeClr val="accent4"/>
            </a:solidFill>
            <a:prstDash val="solid"/>
          </a:ln>
          <a:scene3d>
            <a:camera prst="orthographicFront"/>
            <a:lightRig rig="threePt" dir="t"/>
          </a:scene3d>
          <a:sp3d prstMaterial="plastic">
            <a:bevelT w="88900" h="38100"/>
          </a:sp3d>
        </p:spPr>
      </p:sp>
      <p:pic>
        <p:nvPicPr>
          <p:cNvPr id="10" name="icon_FaCoins" descr="preencoded.png">    </p:cNvPr>
          <p:cNvPicPr>
            <a:picLocks noChangeAspect="1"/>
          </p:cNvPicPr>
          <p:nvPr/>
        </p:nvPicPr>
        <p:blipFill>
          <a:blip r:embed="rId2"/>
          <a:stretch>
            <a:fillRect/>
          </a:stretch>
        </p:blipFill>
        <p:spPr>
          <a:xfrm>
            <a:off x="677022" y="2770998"/>
            <a:ext cx="218724" cy="218724"/>
          </a:xfrm>
          <a:prstGeom prst="rect">
            <a:avLst/>
          </a:prstGeom>
        </p:spPr>
      </p:pic>
      <p:sp>
        <p:nvSpPr>
          <p:cNvPr id="11" name="Text 7"/>
          <p:cNvSpPr txBox="1"/>
          <p:nvPr/>
        </p:nvSpPr>
        <p:spPr>
          <a:xfrm>
            <a:off x="1207008" y="2587752"/>
            <a:ext cx="3685032" cy="310896"/>
          </a:xfrm>
          <a:prstGeom prst="rect">
            <a:avLst/>
          </a:prstGeom>
          <a:noFill/>
          <a:ln/>
        </p:spPr>
        <p:txBody>
          <a:bodyPr wrap="square" lIns="0" tIns="0" rIns="0" bIns="0" rtlCol="0" anchor="t"/>
          <a:lstStyle/>
          <a:p>
            <a:pPr indent="0" marL="0">
              <a:buNone/>
            </a:pPr>
            <a:r>
              <a:rPr lang="en-US" sz="1500" b="1" dirty="0">
                <a:solidFill>
                  <a:schemeClr val="tx1"/>
                </a:solidFill>
              </a:rPr>
              <a:t>Lower costs</a:t>
            </a:r>
            <a:endParaRPr lang="en-US" sz="1500" dirty="0"/>
          </a:p>
        </p:txBody>
      </p:sp>
      <p:sp>
        <p:nvSpPr>
          <p:cNvPr id="12" name="Text 8"/>
          <p:cNvSpPr txBox="1"/>
          <p:nvPr/>
        </p:nvSpPr>
        <p:spPr>
          <a:xfrm>
            <a:off x="1207008" y="2907792"/>
            <a:ext cx="3685032" cy="292608"/>
          </a:xfrm>
          <a:prstGeom prst="rect">
            <a:avLst/>
          </a:prstGeom>
          <a:noFill/>
          <a:ln/>
        </p:spPr>
        <p:txBody>
          <a:bodyPr wrap="square" lIns="0" tIns="0" rIns="0" bIns="0" rtlCol="0" anchor="t"/>
          <a:lstStyle/>
          <a:p>
            <a:pPr indent="0" marL="0">
              <a:buNone/>
            </a:pPr>
            <a:r>
              <a:rPr lang="en-US" sz="1300" dirty="0">
                <a:solidFill>
                  <a:schemeClr val="tx2"/>
                </a:solidFill>
              </a:rPr>
              <a:t>Less inventory, scrap, rework, overtime</a:t>
            </a:r>
            <a:endParaRPr lang="en-US" sz="1300" dirty="0"/>
          </a:p>
        </p:txBody>
      </p:sp>
      <p:sp>
        <p:nvSpPr>
          <p:cNvPr id="13" name="3DB_icon"/>
          <p:cNvSpPr/>
          <p:nvPr/>
        </p:nvSpPr>
        <p:spPr>
          <a:xfrm>
            <a:off x="548640" y="3337560"/>
            <a:ext cx="475488" cy="475488"/>
          </a:xfrm>
          <a:prstGeom prst="ellipse">
            <a:avLst/>
          </a:prstGeom>
          <a:solidFill>
            <a:schemeClr val="accent4"/>
          </a:solidFill>
          <a:ln w="12700">
            <a:solidFill>
              <a:schemeClr val="accent4"/>
            </a:solidFill>
            <a:prstDash val="solid"/>
          </a:ln>
          <a:scene3d>
            <a:camera prst="orthographicFront"/>
            <a:lightRig rig="threePt" dir="t"/>
          </a:scene3d>
          <a:sp3d prstMaterial="plastic">
            <a:bevelT w="88900" h="38100"/>
          </a:sp3d>
        </p:spPr>
      </p:sp>
      <p:pic>
        <p:nvPicPr>
          <p:cNvPr id="14" name="icon_FaShippingFast" descr="preencoded.png">    </p:cNvPr>
          <p:cNvPicPr>
            <a:picLocks noChangeAspect="1"/>
          </p:cNvPicPr>
          <p:nvPr/>
        </p:nvPicPr>
        <p:blipFill>
          <a:blip r:embed="rId3"/>
          <a:stretch>
            <a:fillRect/>
          </a:stretch>
        </p:blipFill>
        <p:spPr>
          <a:xfrm>
            <a:off x="677022" y="3465942"/>
            <a:ext cx="218724" cy="218724"/>
          </a:xfrm>
          <a:prstGeom prst="rect">
            <a:avLst/>
          </a:prstGeom>
        </p:spPr>
      </p:pic>
      <p:sp>
        <p:nvSpPr>
          <p:cNvPr id="15" name="Text 10"/>
          <p:cNvSpPr txBox="1"/>
          <p:nvPr/>
        </p:nvSpPr>
        <p:spPr>
          <a:xfrm>
            <a:off x="1207008" y="3282696"/>
            <a:ext cx="3685032" cy="310896"/>
          </a:xfrm>
          <a:prstGeom prst="rect">
            <a:avLst/>
          </a:prstGeom>
          <a:noFill/>
          <a:ln/>
        </p:spPr>
        <p:txBody>
          <a:bodyPr wrap="square" lIns="0" tIns="0" rIns="0" bIns="0" rtlCol="0" anchor="t"/>
          <a:lstStyle/>
          <a:p>
            <a:pPr indent="0" marL="0">
              <a:buNone/>
            </a:pPr>
            <a:r>
              <a:rPr lang="en-US" sz="1500" b="1" dirty="0">
                <a:solidFill>
                  <a:schemeClr val="tx1"/>
                </a:solidFill>
              </a:rPr>
              <a:t>Faster delivery</a:t>
            </a:r>
            <a:endParaRPr lang="en-US" sz="1500" dirty="0"/>
          </a:p>
        </p:txBody>
      </p:sp>
      <p:sp>
        <p:nvSpPr>
          <p:cNvPr id="16" name="Text 11"/>
          <p:cNvSpPr txBox="1"/>
          <p:nvPr/>
        </p:nvSpPr>
        <p:spPr>
          <a:xfrm>
            <a:off x="1207008" y="3602736"/>
            <a:ext cx="3685032" cy="292608"/>
          </a:xfrm>
          <a:prstGeom prst="rect">
            <a:avLst/>
          </a:prstGeom>
          <a:noFill/>
          <a:ln/>
        </p:spPr>
        <p:txBody>
          <a:bodyPr wrap="square" lIns="0" tIns="0" rIns="0" bIns="0" rtlCol="0" anchor="t"/>
          <a:lstStyle/>
          <a:p>
            <a:pPr indent="0" marL="0">
              <a:buNone/>
            </a:pPr>
            <a:r>
              <a:rPr lang="en-US" sz="1300" dirty="0">
                <a:solidFill>
                  <a:schemeClr val="tx2"/>
                </a:solidFill>
              </a:rPr>
              <a:t>Shorter, more reliable lead times</a:t>
            </a:r>
            <a:endParaRPr lang="en-US" sz="1300" dirty="0"/>
          </a:p>
        </p:txBody>
      </p:sp>
      <p:sp>
        <p:nvSpPr>
          <p:cNvPr id="17" name="3DB_icon"/>
          <p:cNvSpPr/>
          <p:nvPr/>
        </p:nvSpPr>
        <p:spPr>
          <a:xfrm>
            <a:off x="548640" y="4032504"/>
            <a:ext cx="475488" cy="475488"/>
          </a:xfrm>
          <a:prstGeom prst="ellipse">
            <a:avLst/>
          </a:prstGeom>
          <a:solidFill>
            <a:schemeClr val="accent4"/>
          </a:solidFill>
          <a:ln w="12700">
            <a:solidFill>
              <a:schemeClr val="accent4"/>
            </a:solidFill>
            <a:prstDash val="solid"/>
          </a:ln>
          <a:scene3d>
            <a:camera prst="orthographicFront"/>
            <a:lightRig rig="threePt" dir="t"/>
          </a:scene3d>
          <a:sp3d prstMaterial="plastic">
            <a:bevelT w="88900" h="38100"/>
          </a:sp3d>
        </p:spPr>
      </p:sp>
      <p:pic>
        <p:nvPicPr>
          <p:cNvPr id="18" name="icon_FaCheckDouble" descr="preencoded.png">    </p:cNvPr>
          <p:cNvPicPr>
            <a:picLocks noChangeAspect="1"/>
          </p:cNvPicPr>
          <p:nvPr/>
        </p:nvPicPr>
        <p:blipFill>
          <a:blip r:embed="rId4"/>
          <a:stretch>
            <a:fillRect/>
          </a:stretch>
        </p:blipFill>
        <p:spPr>
          <a:xfrm>
            <a:off x="677022" y="4160886"/>
            <a:ext cx="218724" cy="218724"/>
          </a:xfrm>
          <a:prstGeom prst="rect">
            <a:avLst/>
          </a:prstGeom>
        </p:spPr>
      </p:pic>
      <p:sp>
        <p:nvSpPr>
          <p:cNvPr id="19" name="Text 13"/>
          <p:cNvSpPr txBox="1"/>
          <p:nvPr/>
        </p:nvSpPr>
        <p:spPr>
          <a:xfrm>
            <a:off x="1207008" y="3977640"/>
            <a:ext cx="3685032" cy="310896"/>
          </a:xfrm>
          <a:prstGeom prst="rect">
            <a:avLst/>
          </a:prstGeom>
          <a:noFill/>
          <a:ln/>
        </p:spPr>
        <p:txBody>
          <a:bodyPr wrap="square" lIns="0" tIns="0" rIns="0" bIns="0" rtlCol="0" anchor="t"/>
          <a:lstStyle/>
          <a:p>
            <a:pPr indent="0" marL="0">
              <a:buNone/>
            </a:pPr>
            <a:r>
              <a:rPr lang="en-US" sz="1500" b="1" dirty="0">
                <a:solidFill>
                  <a:schemeClr val="tx1"/>
                </a:solidFill>
              </a:rPr>
              <a:t>Higher quality</a:t>
            </a:r>
            <a:endParaRPr lang="en-US" sz="1500" dirty="0"/>
          </a:p>
        </p:txBody>
      </p:sp>
      <p:sp>
        <p:nvSpPr>
          <p:cNvPr id="20" name="Text 14"/>
          <p:cNvSpPr txBox="1"/>
          <p:nvPr/>
        </p:nvSpPr>
        <p:spPr>
          <a:xfrm>
            <a:off x="1207008" y="4297680"/>
            <a:ext cx="3685032" cy="292608"/>
          </a:xfrm>
          <a:prstGeom prst="rect">
            <a:avLst/>
          </a:prstGeom>
          <a:noFill/>
          <a:ln/>
        </p:spPr>
        <p:txBody>
          <a:bodyPr wrap="square" lIns="0" tIns="0" rIns="0" bIns="0" rtlCol="0" anchor="t"/>
          <a:lstStyle/>
          <a:p>
            <a:pPr indent="0" marL="0">
              <a:buNone/>
            </a:pPr>
            <a:r>
              <a:rPr lang="en-US" sz="1300" dirty="0">
                <a:solidFill>
                  <a:schemeClr val="tx2"/>
                </a:solidFill>
              </a:rPr>
              <a:t>Problems fixed at the source</a:t>
            </a:r>
            <a:endParaRPr lang="en-US" sz="1300" dirty="0"/>
          </a:p>
        </p:txBody>
      </p:sp>
      <p:sp>
        <p:nvSpPr>
          <p:cNvPr id="21" name="3DB_icon"/>
          <p:cNvSpPr/>
          <p:nvPr/>
        </p:nvSpPr>
        <p:spPr>
          <a:xfrm>
            <a:off x="548640" y="4727448"/>
            <a:ext cx="475488" cy="475488"/>
          </a:xfrm>
          <a:prstGeom prst="ellipse">
            <a:avLst/>
          </a:prstGeom>
          <a:solidFill>
            <a:schemeClr val="accent4"/>
          </a:solidFill>
          <a:ln w="12700">
            <a:solidFill>
              <a:schemeClr val="accent4"/>
            </a:solidFill>
            <a:prstDash val="solid"/>
          </a:ln>
          <a:scene3d>
            <a:camera prst="orthographicFront"/>
            <a:lightRig rig="threePt" dir="t"/>
          </a:scene3d>
          <a:sp3d prstMaterial="plastic">
            <a:bevelT w="88900" h="38100"/>
          </a:sp3d>
        </p:spPr>
      </p:sp>
      <p:pic>
        <p:nvPicPr>
          <p:cNvPr id="22" name="icon_FaUsers" descr="preencoded.png">    </p:cNvPr>
          <p:cNvPicPr>
            <a:picLocks noChangeAspect="1"/>
          </p:cNvPicPr>
          <p:nvPr/>
        </p:nvPicPr>
        <p:blipFill>
          <a:blip r:embed="rId5"/>
          <a:stretch>
            <a:fillRect/>
          </a:stretch>
        </p:blipFill>
        <p:spPr>
          <a:xfrm>
            <a:off x="677022" y="4855830"/>
            <a:ext cx="218724" cy="218724"/>
          </a:xfrm>
          <a:prstGeom prst="rect">
            <a:avLst/>
          </a:prstGeom>
        </p:spPr>
      </p:pic>
      <p:sp>
        <p:nvSpPr>
          <p:cNvPr id="23" name="Text 16"/>
          <p:cNvSpPr txBox="1"/>
          <p:nvPr/>
        </p:nvSpPr>
        <p:spPr>
          <a:xfrm>
            <a:off x="1207008" y="4672584"/>
            <a:ext cx="3685032" cy="310896"/>
          </a:xfrm>
          <a:prstGeom prst="rect">
            <a:avLst/>
          </a:prstGeom>
          <a:noFill/>
          <a:ln/>
        </p:spPr>
        <p:txBody>
          <a:bodyPr wrap="square" lIns="0" tIns="0" rIns="0" bIns="0" rtlCol="0" anchor="t"/>
          <a:lstStyle/>
          <a:p>
            <a:pPr indent="0" marL="0">
              <a:buNone/>
            </a:pPr>
            <a:r>
              <a:rPr lang="en-US" sz="1500" b="1" dirty="0">
                <a:solidFill>
                  <a:schemeClr val="tx1"/>
                </a:solidFill>
              </a:rPr>
              <a:t>Engaged employees</a:t>
            </a:r>
            <a:endParaRPr lang="en-US" sz="1500" dirty="0"/>
          </a:p>
        </p:txBody>
      </p:sp>
      <p:sp>
        <p:nvSpPr>
          <p:cNvPr id="24" name="Text 17"/>
          <p:cNvSpPr txBox="1"/>
          <p:nvPr/>
        </p:nvSpPr>
        <p:spPr>
          <a:xfrm>
            <a:off x="1207008" y="4992624"/>
            <a:ext cx="3685032" cy="292608"/>
          </a:xfrm>
          <a:prstGeom prst="rect">
            <a:avLst/>
          </a:prstGeom>
          <a:noFill/>
          <a:ln/>
        </p:spPr>
        <p:txBody>
          <a:bodyPr wrap="square" lIns="0" tIns="0" rIns="0" bIns="0" rtlCol="0" anchor="t"/>
          <a:lstStyle/>
          <a:p>
            <a:pPr indent="0" marL="0">
              <a:buNone/>
            </a:pPr>
            <a:r>
              <a:rPr lang="en-US" sz="1300" dirty="0">
                <a:solidFill>
                  <a:schemeClr val="tx2"/>
                </a:solidFill>
              </a:rPr>
              <a:t>Daily problem-solving and teamwork</a:t>
            </a:r>
            <a:endParaRPr lang="en-US" sz="1300" dirty="0"/>
          </a:p>
        </p:txBody>
      </p:sp>
      <p:sp>
        <p:nvSpPr>
          <p:cNvPr id="25" name="3DB_icon"/>
          <p:cNvSpPr/>
          <p:nvPr/>
        </p:nvSpPr>
        <p:spPr>
          <a:xfrm>
            <a:off x="548640" y="5422392"/>
            <a:ext cx="475488" cy="475488"/>
          </a:xfrm>
          <a:prstGeom prst="ellipse">
            <a:avLst/>
          </a:prstGeom>
          <a:solidFill>
            <a:schemeClr val="accent4"/>
          </a:solidFill>
          <a:ln w="12700">
            <a:solidFill>
              <a:schemeClr val="accent4"/>
            </a:solidFill>
            <a:prstDash val="solid"/>
          </a:ln>
          <a:scene3d>
            <a:camera prst="orthographicFront"/>
            <a:lightRig rig="threePt" dir="t"/>
          </a:scene3d>
          <a:sp3d prstMaterial="plastic">
            <a:bevelT w="88900" h="38100"/>
          </a:sp3d>
        </p:spPr>
      </p:sp>
      <p:pic>
        <p:nvPicPr>
          <p:cNvPr id="26" name="icon_FaChessKnight" descr="preencoded.png">    </p:cNvPr>
          <p:cNvPicPr>
            <a:picLocks noChangeAspect="1"/>
          </p:cNvPicPr>
          <p:nvPr/>
        </p:nvPicPr>
        <p:blipFill>
          <a:blip r:embed="rId6"/>
          <a:stretch>
            <a:fillRect/>
          </a:stretch>
        </p:blipFill>
        <p:spPr>
          <a:xfrm>
            <a:off x="677022" y="5550774"/>
            <a:ext cx="218724" cy="218724"/>
          </a:xfrm>
          <a:prstGeom prst="rect">
            <a:avLst/>
          </a:prstGeom>
        </p:spPr>
      </p:pic>
      <p:sp>
        <p:nvSpPr>
          <p:cNvPr id="27" name="Text 19"/>
          <p:cNvSpPr txBox="1"/>
          <p:nvPr/>
        </p:nvSpPr>
        <p:spPr>
          <a:xfrm>
            <a:off x="1207008" y="5367528"/>
            <a:ext cx="3685032" cy="310896"/>
          </a:xfrm>
          <a:prstGeom prst="rect">
            <a:avLst/>
          </a:prstGeom>
          <a:noFill/>
          <a:ln/>
        </p:spPr>
        <p:txBody>
          <a:bodyPr wrap="square" lIns="0" tIns="0" rIns="0" bIns="0" rtlCol="0" anchor="t"/>
          <a:lstStyle/>
          <a:p>
            <a:pPr indent="0" marL="0">
              <a:buNone/>
            </a:pPr>
            <a:r>
              <a:rPr lang="en-US" sz="1500" b="1" dirty="0">
                <a:solidFill>
                  <a:schemeClr val="tx1"/>
                </a:solidFill>
              </a:rPr>
              <a:t>Competitiveness</a:t>
            </a:r>
            <a:endParaRPr lang="en-US" sz="1500" dirty="0"/>
          </a:p>
        </p:txBody>
      </p:sp>
      <p:sp>
        <p:nvSpPr>
          <p:cNvPr id="28" name="Text 20"/>
          <p:cNvSpPr txBox="1"/>
          <p:nvPr/>
        </p:nvSpPr>
        <p:spPr>
          <a:xfrm>
            <a:off x="1207008" y="5687568"/>
            <a:ext cx="3685032" cy="292608"/>
          </a:xfrm>
          <a:prstGeom prst="rect">
            <a:avLst/>
          </a:prstGeom>
          <a:noFill/>
          <a:ln/>
        </p:spPr>
        <p:txBody>
          <a:bodyPr wrap="square" lIns="0" tIns="0" rIns="0" bIns="0" rtlCol="0" anchor="t"/>
          <a:lstStyle/>
          <a:p>
            <a:pPr indent="0" marL="0">
              <a:buNone/>
            </a:pPr>
            <a:r>
              <a:rPr lang="en-US" sz="1300" dirty="0">
                <a:solidFill>
                  <a:schemeClr val="tx2"/>
                </a:solidFill>
              </a:rPr>
              <a:t>Flexibility when demand changes</a:t>
            </a:r>
            <a:endParaRPr lang="en-US" sz="1300" dirty="0"/>
          </a:p>
        </p:txBody>
      </p:sp>
      <p:sp>
        <p:nvSpPr>
          <p:cNvPr id="29" name="Text 21"/>
          <p:cNvSpPr txBox="1"/>
          <p:nvPr/>
        </p:nvSpPr>
        <p:spPr>
          <a:xfrm>
            <a:off x="5166360" y="1572768"/>
            <a:ext cx="6476695"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2 · MAIN CHALLENGES AND HOW TO OVERCOME THEM</a:t>
            </a:r>
            <a:endParaRPr lang="en-US" sz="1200" dirty="0"/>
          </a:p>
        </p:txBody>
      </p:sp>
      <p:graphicFrame>
        <p:nvGraphicFramePr>
          <p:cNvPr id="9" name="table_challenges"/>
          <p:cNvGraphicFramePr>
            <a:graphicFrameLocks noGrp="1"/>
          </p:cNvGraphicFramePr>
          <p:nvPr>
            <p:extLst>
              <p:ext uri="{D42A27DB-BD31-4B8C-83A1-F6EECF244321}">
                <p14:modId xmlns:p14="http://schemas.microsoft.com/office/powerpoint/2010/main" val="1579011935"/>
              </p:ext>
            </p:extLst>
          </p:nvPr>
        </p:nvGraphicFramePr>
        <p:xfrm>
          <a:off x="5166360" y="1892808"/>
          <a:ext cx="6476695" cy="914400"/>
        </p:xfrm>
        <a:graphic>
          <a:graphicData uri="http://schemas.openxmlformats.org/drawingml/2006/table">
            <a:tbl>
              <a:tblPr/>
              <a:tblGrid>
                <a:gridCol w="2331720"/>
                <a:gridCol w="4144975"/>
              </a:tblGrid>
              <a:tr h="41148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Challenge</a:t>
                      </a:r>
                      <a:endParaRPr lang="en-US" sz="1400" dirty="0">
                        <a:latin typeface="Calibri" charset="0"/>
                        <a:ea typeface="Calibri" charset="0"/>
                        <a:cs typeface="Calibri" charset="0"/>
                      </a:endParaRPr>
                    </a:p>
                  </a:txBody>
                  <a:tcPr marL="101600" marR="101600" marT="50800" marB="50800" anchor="ctr">
                    <a:lnL w="9525" cap="flat" cmpd="sng" algn="ctr">
                      <a:solidFill>
                        <a:srgbClr val="D6DCE3"/>
                      </a:solidFill>
                      <a:prstDash val="solid"/>
                      <a:round/>
                      <a:headEnd type="none" w="med" len="med"/>
                      <a:tailEnd type="none" w="med" len="med"/>
                    </a:lnL>
                    <a:lnR w="9525" cap="flat" cmpd="sng" algn="ctr">
                      <a:solidFill>
                        <a:srgbClr val="D6DCE3"/>
                      </a:solidFill>
                      <a:prstDash val="solid"/>
                      <a:round/>
                      <a:headEnd type="none" w="med" len="med"/>
                      <a:tailEnd type="none" w="med" len="med"/>
                    </a:lnR>
                    <a:lnT w="9525" cap="flat" cmpd="sng" algn="ctr">
                      <a:solidFill>
                        <a:srgbClr val="D6DCE3"/>
                      </a:solidFill>
                      <a:prstDash val="solid"/>
                      <a:round/>
                      <a:headEnd type="none" w="med" len="med"/>
                      <a:tailEnd type="none" w="med" len="med"/>
                    </a:lnT>
                    <a:lnB w="9525" cap="flat" cmpd="sng" algn="ctr">
                      <a:solidFill>
                        <a:srgbClr val="D6DCE3"/>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How to overcome it</a:t>
                      </a:r>
                      <a:endParaRPr lang="en-US" sz="1400" dirty="0">
                        <a:latin typeface="Calibri" charset="0"/>
                        <a:ea typeface="Calibri" charset="0"/>
                        <a:cs typeface="Calibri" charset="0"/>
                      </a:endParaRPr>
                    </a:p>
                  </a:txBody>
                  <a:tcPr marL="101600" marR="101600" marT="50800" marB="50800" anchor="ctr">
                    <a:lnL w="9525" cap="flat" cmpd="sng" algn="ctr">
                      <a:solidFill>
                        <a:srgbClr val="D6DCE3"/>
                      </a:solidFill>
                      <a:prstDash val="solid"/>
                      <a:round/>
                      <a:headEnd type="none" w="med" len="med"/>
                      <a:tailEnd type="none" w="med" len="med"/>
                    </a:lnL>
                    <a:lnR w="9525" cap="flat" cmpd="sng" algn="ctr">
                      <a:solidFill>
                        <a:srgbClr val="D6DCE3"/>
                      </a:solidFill>
                      <a:prstDash val="solid"/>
                      <a:round/>
                      <a:headEnd type="none" w="med" len="med"/>
                      <a:tailEnd type="none" w="med" len="med"/>
                    </a:lnR>
                    <a:lnT w="9525" cap="flat" cmpd="sng" algn="ctr">
                      <a:solidFill>
                        <a:srgbClr val="D6DCE3"/>
                      </a:solidFill>
                      <a:prstDash val="solid"/>
                      <a:round/>
                      <a:headEnd type="none" w="med" len="med"/>
                      <a:tailEnd type="none" w="med" len="med"/>
                    </a:lnT>
                    <a:lnB w="9525" cap="flat" cmpd="sng" algn="ctr">
                      <a:solidFill>
                        <a:srgbClr val="D6DCE3"/>
                      </a:solidFill>
                      <a:prstDash val="solid"/>
                      <a:round/>
                      <a:headEnd type="none" w="med" len="med"/>
                      <a:tailEnd type="none" w="med" len="med"/>
                    </a:lnB>
                    <a:solidFill>
                      <a:schemeClr val="tx1"/>
                    </a:solidFill>
                  </a:tcPr>
                </a:tc>
              </a:tr>
              <a:tr h="64008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Resistance to change</a:t>
                      </a:r>
                      <a:endParaRPr lang="en-US" sz="1400" dirty="0">
                        <a:latin typeface="Calibri" charset="0"/>
                        <a:ea typeface="Calibri" charset="0"/>
                        <a:cs typeface="Calibri" charset="0"/>
                      </a:endParaRPr>
                    </a:p>
                  </a:txBody>
                  <a:tcPr marL="101600" marR="101600" marT="50800" marB="50800" anchor="ctr">
                    <a:lnL w="9525" cap="flat" cmpd="sng" algn="ctr">
                      <a:solidFill>
                        <a:srgbClr val="D6DCE3"/>
                      </a:solidFill>
                      <a:prstDash val="solid"/>
                      <a:round/>
                      <a:headEnd type="none" w="med" len="med"/>
                      <a:tailEnd type="none" w="med" len="med"/>
                    </a:lnL>
                    <a:lnR w="9525" cap="flat" cmpd="sng" algn="ctr">
                      <a:solidFill>
                        <a:srgbClr val="D6DCE3"/>
                      </a:solidFill>
                      <a:prstDash val="solid"/>
                      <a:round/>
                      <a:headEnd type="none" w="med" len="med"/>
                      <a:tailEnd type="none" w="med" len="med"/>
                    </a:lnR>
                    <a:lnT w="9525" cap="flat" cmpd="sng" algn="ctr">
                      <a:solidFill>
                        <a:srgbClr val="D6DCE3"/>
                      </a:solidFill>
                      <a:prstDash val="solid"/>
                      <a:round/>
                      <a:headEnd type="none" w="med" len="med"/>
                      <a:tailEnd type="none" w="med" len="med"/>
                    </a:lnT>
                    <a:lnB w="9525" cap="flat" cmpd="sng" algn="ctr">
                      <a:solidFill>
                        <a:srgbClr val="D6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Involve staff early, show quick wins, no layoffs from improvement</a:t>
                      </a:r>
                      <a:endParaRPr lang="en-US" sz="1400" dirty="0">
                        <a:latin typeface="Calibri" charset="0"/>
                        <a:ea typeface="Calibri" charset="0"/>
                        <a:cs typeface="Calibri" charset="0"/>
                      </a:endParaRPr>
                    </a:p>
                  </a:txBody>
                  <a:tcPr marL="101600" marR="101600" marT="50800" marB="50800" anchor="ctr">
                    <a:lnL w="9525" cap="flat" cmpd="sng" algn="ctr">
                      <a:solidFill>
                        <a:srgbClr val="D6DCE3"/>
                      </a:solidFill>
                      <a:prstDash val="solid"/>
                      <a:round/>
                      <a:headEnd type="none" w="med" len="med"/>
                      <a:tailEnd type="none" w="med" len="med"/>
                    </a:lnL>
                    <a:lnR w="9525" cap="flat" cmpd="sng" algn="ctr">
                      <a:solidFill>
                        <a:srgbClr val="D6DCE3"/>
                      </a:solidFill>
                      <a:prstDash val="solid"/>
                      <a:round/>
                      <a:headEnd type="none" w="med" len="med"/>
                      <a:tailEnd type="none" w="med" len="med"/>
                    </a:lnR>
                    <a:lnT w="9525" cap="flat" cmpd="sng" algn="ctr">
                      <a:solidFill>
                        <a:srgbClr val="D6DCE3"/>
                      </a:solidFill>
                      <a:prstDash val="solid"/>
                      <a:round/>
                      <a:headEnd type="none" w="med" len="med"/>
                      <a:tailEnd type="none" w="med" len="med"/>
                    </a:lnT>
                    <a:lnB w="9525" cap="flat" cmpd="sng" algn="ctr">
                      <a:solidFill>
                        <a:srgbClr val="D6DCE3"/>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Weak leadership support</a:t>
                      </a:r>
                      <a:endParaRPr lang="en-US" sz="1400" dirty="0">
                        <a:latin typeface="Calibri" charset="0"/>
                        <a:ea typeface="Calibri" charset="0"/>
                        <a:cs typeface="Calibri" charset="0"/>
                      </a:endParaRPr>
                    </a:p>
                  </a:txBody>
                  <a:tcPr marL="101600" marR="101600" marT="50800" marB="50800" anchor="ctr">
                    <a:lnL w="9525" cap="flat" cmpd="sng" algn="ctr">
                      <a:solidFill>
                        <a:srgbClr val="D6DCE3"/>
                      </a:solidFill>
                      <a:prstDash val="solid"/>
                      <a:round/>
                      <a:headEnd type="none" w="med" len="med"/>
                      <a:tailEnd type="none" w="med" len="med"/>
                    </a:lnL>
                    <a:lnR w="9525" cap="flat" cmpd="sng" algn="ctr">
                      <a:solidFill>
                        <a:srgbClr val="D6DCE3"/>
                      </a:solidFill>
                      <a:prstDash val="solid"/>
                      <a:round/>
                      <a:headEnd type="none" w="med" len="med"/>
                      <a:tailEnd type="none" w="med" len="med"/>
                    </a:lnR>
                    <a:lnT w="9525" cap="flat" cmpd="sng" algn="ctr">
                      <a:solidFill>
                        <a:srgbClr val="D6DCE3"/>
                      </a:solidFill>
                      <a:prstDash val="solid"/>
                      <a:round/>
                      <a:headEnd type="none" w="med" len="med"/>
                      <a:tailEnd type="none" w="med" len="med"/>
                    </a:lnT>
                    <a:lnB w="9525" cap="flat" cmpd="sng" algn="ctr">
                      <a:solidFill>
                        <a:srgbClr val="D6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Leaders visit the shop floor and review the boards themselves</a:t>
                      </a:r>
                      <a:endParaRPr lang="en-US" sz="1400" dirty="0">
                        <a:latin typeface="Calibri" charset="0"/>
                        <a:ea typeface="Calibri" charset="0"/>
                        <a:cs typeface="Calibri" charset="0"/>
                      </a:endParaRPr>
                    </a:p>
                  </a:txBody>
                  <a:tcPr marL="101600" marR="101600" marT="50800" marB="50800" anchor="ctr">
                    <a:lnL w="9525" cap="flat" cmpd="sng" algn="ctr">
                      <a:solidFill>
                        <a:srgbClr val="D6DCE3"/>
                      </a:solidFill>
                      <a:prstDash val="solid"/>
                      <a:round/>
                      <a:headEnd type="none" w="med" len="med"/>
                      <a:tailEnd type="none" w="med" len="med"/>
                    </a:lnL>
                    <a:lnR w="9525" cap="flat" cmpd="sng" algn="ctr">
                      <a:solidFill>
                        <a:srgbClr val="D6DCE3"/>
                      </a:solidFill>
                      <a:prstDash val="solid"/>
                      <a:round/>
                      <a:headEnd type="none" w="med" len="med"/>
                      <a:tailEnd type="none" w="med" len="med"/>
                    </a:lnR>
                    <a:lnT w="9525" cap="flat" cmpd="sng" algn="ctr">
                      <a:solidFill>
                        <a:srgbClr val="D6DCE3"/>
                      </a:solidFill>
                      <a:prstDash val="solid"/>
                      <a:round/>
                      <a:headEnd type="none" w="med" len="med"/>
                      <a:tailEnd type="none" w="med" len="med"/>
                    </a:lnT>
                    <a:lnB w="9525" cap="flat" cmpd="sng" algn="ctr">
                      <a:solidFill>
                        <a:srgbClr val="D6DCE3"/>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Lean seen as just tools</a:t>
                      </a:r>
                      <a:endParaRPr lang="en-US" sz="1400" dirty="0">
                        <a:latin typeface="Calibri" charset="0"/>
                        <a:ea typeface="Calibri" charset="0"/>
                        <a:cs typeface="Calibri" charset="0"/>
                      </a:endParaRPr>
                    </a:p>
                  </a:txBody>
                  <a:tcPr marL="101600" marR="101600" marT="50800" marB="50800" anchor="ctr">
                    <a:lnL w="9525" cap="flat" cmpd="sng" algn="ctr">
                      <a:solidFill>
                        <a:srgbClr val="D6DCE3"/>
                      </a:solidFill>
                      <a:prstDash val="solid"/>
                      <a:round/>
                      <a:headEnd type="none" w="med" len="med"/>
                      <a:tailEnd type="none" w="med" len="med"/>
                    </a:lnL>
                    <a:lnR w="9525" cap="flat" cmpd="sng" algn="ctr">
                      <a:solidFill>
                        <a:srgbClr val="D6DCE3"/>
                      </a:solidFill>
                      <a:prstDash val="solid"/>
                      <a:round/>
                      <a:headEnd type="none" w="med" len="med"/>
                      <a:tailEnd type="none" w="med" len="med"/>
                    </a:lnR>
                    <a:lnT w="9525" cap="flat" cmpd="sng" algn="ctr">
                      <a:solidFill>
                        <a:srgbClr val="D6DCE3"/>
                      </a:solidFill>
                      <a:prstDash val="solid"/>
                      <a:round/>
                      <a:headEnd type="none" w="med" len="med"/>
                      <a:tailEnd type="none" w="med" len="med"/>
                    </a:lnT>
                    <a:lnB w="9525" cap="flat" cmpd="sng" algn="ctr">
                      <a:solidFill>
                        <a:srgbClr val="D6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Explain the “why” and link every tool to a real problem</a:t>
                      </a:r>
                      <a:endParaRPr lang="en-US" sz="1400" dirty="0">
                        <a:latin typeface="Calibri" charset="0"/>
                        <a:ea typeface="Calibri" charset="0"/>
                        <a:cs typeface="Calibri" charset="0"/>
                      </a:endParaRPr>
                    </a:p>
                  </a:txBody>
                  <a:tcPr marL="101600" marR="101600" marT="50800" marB="50800" anchor="ctr">
                    <a:lnL w="9525" cap="flat" cmpd="sng" algn="ctr">
                      <a:solidFill>
                        <a:srgbClr val="D6DCE3"/>
                      </a:solidFill>
                      <a:prstDash val="solid"/>
                      <a:round/>
                      <a:headEnd type="none" w="med" len="med"/>
                      <a:tailEnd type="none" w="med" len="med"/>
                    </a:lnL>
                    <a:lnR w="9525" cap="flat" cmpd="sng" algn="ctr">
                      <a:solidFill>
                        <a:srgbClr val="D6DCE3"/>
                      </a:solidFill>
                      <a:prstDash val="solid"/>
                      <a:round/>
                      <a:headEnd type="none" w="med" len="med"/>
                      <a:tailEnd type="none" w="med" len="med"/>
                    </a:lnR>
                    <a:lnT w="9525" cap="flat" cmpd="sng" algn="ctr">
                      <a:solidFill>
                        <a:srgbClr val="D6DCE3"/>
                      </a:solidFill>
                      <a:prstDash val="solid"/>
                      <a:round/>
                      <a:headEnd type="none" w="med" len="med"/>
                      <a:tailEnd type="none" w="med" len="med"/>
                    </a:lnT>
                    <a:lnB w="9525" cap="flat" cmpd="sng" algn="ctr">
                      <a:solidFill>
                        <a:srgbClr val="D6DCE3"/>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No time for training</a:t>
                      </a:r>
                      <a:endParaRPr lang="en-US" sz="1400" dirty="0">
                        <a:latin typeface="Calibri" charset="0"/>
                        <a:ea typeface="Calibri" charset="0"/>
                        <a:cs typeface="Calibri" charset="0"/>
                      </a:endParaRPr>
                    </a:p>
                  </a:txBody>
                  <a:tcPr marL="101600" marR="101600" marT="50800" marB="50800" anchor="ctr">
                    <a:lnL w="9525" cap="flat" cmpd="sng" algn="ctr">
                      <a:solidFill>
                        <a:srgbClr val="D6DCE3"/>
                      </a:solidFill>
                      <a:prstDash val="solid"/>
                      <a:round/>
                      <a:headEnd type="none" w="med" len="med"/>
                      <a:tailEnd type="none" w="med" len="med"/>
                    </a:lnL>
                    <a:lnR w="9525" cap="flat" cmpd="sng" algn="ctr">
                      <a:solidFill>
                        <a:srgbClr val="D6DCE3"/>
                      </a:solidFill>
                      <a:prstDash val="solid"/>
                      <a:round/>
                      <a:headEnd type="none" w="med" len="med"/>
                      <a:tailEnd type="none" w="med" len="med"/>
                    </a:lnR>
                    <a:lnT w="9525" cap="flat" cmpd="sng" algn="ctr">
                      <a:solidFill>
                        <a:srgbClr val="D6DCE3"/>
                      </a:solidFill>
                      <a:prstDash val="solid"/>
                      <a:round/>
                      <a:headEnd type="none" w="med" len="med"/>
                      <a:tailEnd type="none" w="med" len="med"/>
                    </a:lnT>
                    <a:lnB w="9525" cap="flat" cmpd="sng" algn="ctr">
                      <a:solidFill>
                        <a:srgbClr val="D6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Plan training time; one-point lessons; internal coaches</a:t>
                      </a:r>
                      <a:endParaRPr lang="en-US" sz="1400" dirty="0">
                        <a:latin typeface="Calibri" charset="0"/>
                        <a:ea typeface="Calibri" charset="0"/>
                        <a:cs typeface="Calibri" charset="0"/>
                      </a:endParaRPr>
                    </a:p>
                  </a:txBody>
                  <a:tcPr marL="101600" marR="101600" marT="50800" marB="50800" anchor="ctr">
                    <a:lnL w="9525" cap="flat" cmpd="sng" algn="ctr">
                      <a:solidFill>
                        <a:srgbClr val="D6DCE3"/>
                      </a:solidFill>
                      <a:prstDash val="solid"/>
                      <a:round/>
                      <a:headEnd type="none" w="med" len="med"/>
                      <a:tailEnd type="none" w="med" len="med"/>
                    </a:lnL>
                    <a:lnR w="9525" cap="flat" cmpd="sng" algn="ctr">
                      <a:solidFill>
                        <a:srgbClr val="D6DCE3"/>
                      </a:solidFill>
                      <a:prstDash val="solid"/>
                      <a:round/>
                      <a:headEnd type="none" w="med" len="med"/>
                      <a:tailEnd type="none" w="med" len="med"/>
                    </a:lnR>
                    <a:lnT w="9525" cap="flat" cmpd="sng" algn="ctr">
                      <a:solidFill>
                        <a:srgbClr val="D6DCE3"/>
                      </a:solidFill>
                      <a:prstDash val="solid"/>
                      <a:round/>
                      <a:headEnd type="none" w="med" len="med"/>
                      <a:tailEnd type="none" w="med" len="med"/>
                    </a:lnT>
                    <a:lnB w="9525" cap="flat" cmpd="sng" algn="ctr">
                      <a:solidFill>
                        <a:srgbClr val="D6DCE3"/>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Gains not sustained</a:t>
                      </a:r>
                      <a:endParaRPr lang="en-US" sz="1400" dirty="0">
                        <a:latin typeface="Calibri" charset="0"/>
                        <a:ea typeface="Calibri" charset="0"/>
                        <a:cs typeface="Calibri" charset="0"/>
                      </a:endParaRPr>
                    </a:p>
                  </a:txBody>
                  <a:tcPr marL="101600" marR="101600" marT="50800" marB="50800" anchor="ctr">
                    <a:lnL w="9525" cap="flat" cmpd="sng" algn="ctr">
                      <a:solidFill>
                        <a:srgbClr val="D6DCE3"/>
                      </a:solidFill>
                      <a:prstDash val="solid"/>
                      <a:round/>
                      <a:headEnd type="none" w="med" len="med"/>
                      <a:tailEnd type="none" w="med" len="med"/>
                    </a:lnL>
                    <a:lnR w="9525" cap="flat" cmpd="sng" algn="ctr">
                      <a:solidFill>
                        <a:srgbClr val="D6DCE3"/>
                      </a:solidFill>
                      <a:prstDash val="solid"/>
                      <a:round/>
                      <a:headEnd type="none" w="med" len="med"/>
                      <a:tailEnd type="none" w="med" len="med"/>
                    </a:lnR>
                    <a:lnT w="9525" cap="flat" cmpd="sng" algn="ctr">
                      <a:solidFill>
                        <a:srgbClr val="D6DCE3"/>
                      </a:solidFill>
                      <a:prstDash val="solid"/>
                      <a:round/>
                      <a:headEnd type="none" w="med" len="med"/>
                      <a:tailEnd type="none" w="med" len="med"/>
                    </a:lnT>
                    <a:lnB w="9525" cap="flat" cmpd="sng" algn="ctr">
                      <a:solidFill>
                        <a:srgbClr val="D6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Standards, daily audits and regular reviews</a:t>
                      </a:r>
                      <a:endParaRPr lang="en-US" sz="1400" dirty="0">
                        <a:latin typeface="Calibri" charset="0"/>
                        <a:ea typeface="Calibri" charset="0"/>
                        <a:cs typeface="Calibri" charset="0"/>
                      </a:endParaRPr>
                    </a:p>
                  </a:txBody>
                  <a:tcPr marL="101600" marR="101600" marT="50800" marB="50800" anchor="ctr">
                    <a:lnL w="9525" cap="flat" cmpd="sng" algn="ctr">
                      <a:solidFill>
                        <a:srgbClr val="D6DCE3"/>
                      </a:solidFill>
                      <a:prstDash val="solid"/>
                      <a:round/>
                      <a:headEnd type="none" w="med" len="med"/>
                      <a:tailEnd type="none" w="med" len="med"/>
                    </a:lnL>
                    <a:lnR w="9525" cap="flat" cmpd="sng" algn="ctr">
                      <a:solidFill>
                        <a:srgbClr val="D6DCE3"/>
                      </a:solidFill>
                      <a:prstDash val="solid"/>
                      <a:round/>
                      <a:headEnd type="none" w="med" len="med"/>
                      <a:tailEnd type="none" w="med" len="med"/>
                    </a:lnR>
                    <a:lnT w="9525" cap="flat" cmpd="sng" algn="ctr">
                      <a:solidFill>
                        <a:srgbClr val="D6DCE3"/>
                      </a:solidFill>
                      <a:prstDash val="solid"/>
                      <a:round/>
                      <a:headEnd type="none" w="med" len="med"/>
                      <a:tailEnd type="none" w="med" len="med"/>
                    </a:lnT>
                    <a:lnB w="9525" cap="flat" cmpd="sng" algn="ctr">
                      <a:solidFill>
                        <a:srgbClr val="D6DCE3"/>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Unreliable machines or supply</a:t>
                      </a:r>
                      <a:endParaRPr lang="en-US" sz="1400" dirty="0">
                        <a:latin typeface="Calibri" charset="0"/>
                        <a:ea typeface="Calibri" charset="0"/>
                        <a:cs typeface="Calibri" charset="0"/>
                      </a:endParaRPr>
                    </a:p>
                  </a:txBody>
                  <a:tcPr marL="101600" marR="101600" marT="50800" marB="50800" anchor="ctr">
                    <a:lnL w="9525" cap="flat" cmpd="sng" algn="ctr">
                      <a:solidFill>
                        <a:srgbClr val="D6DCE3"/>
                      </a:solidFill>
                      <a:prstDash val="solid"/>
                      <a:round/>
                      <a:headEnd type="none" w="med" len="med"/>
                      <a:tailEnd type="none" w="med" len="med"/>
                    </a:lnL>
                    <a:lnR w="9525" cap="flat" cmpd="sng" algn="ctr">
                      <a:solidFill>
                        <a:srgbClr val="D6DCE3"/>
                      </a:solidFill>
                      <a:prstDash val="solid"/>
                      <a:round/>
                      <a:headEnd type="none" w="med" len="med"/>
                      <a:tailEnd type="none" w="med" len="med"/>
                    </a:lnR>
                    <a:lnT w="9525" cap="flat" cmpd="sng" algn="ctr">
                      <a:solidFill>
                        <a:srgbClr val="D6DCE3"/>
                      </a:solidFill>
                      <a:prstDash val="solid"/>
                      <a:round/>
                      <a:headEnd type="none" w="med" len="med"/>
                      <a:tailEnd type="none" w="med" len="med"/>
                    </a:lnT>
                    <a:lnB w="9525" cap="flat" cmpd="sng" algn="ctr">
                      <a:solidFill>
                        <a:srgbClr val="D6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Calibri" pitchFamily="34" charset="0"/>
                          <a:ea typeface="Calibri" pitchFamily="34" charset="-122"/>
                          <a:cs typeface="Calibri" pitchFamily="34" charset="-120"/>
                        </a:rPr>
                        <a:t>Start TPM on bottlenecks; work with suppliers; pilot first</a:t>
                      </a:r>
                      <a:endParaRPr lang="en-US" sz="1400" dirty="0">
                        <a:latin typeface="Calibri" charset="0"/>
                        <a:ea typeface="Calibri" charset="0"/>
                        <a:cs typeface="Calibri" charset="0"/>
                      </a:endParaRPr>
                    </a:p>
                  </a:txBody>
                  <a:tcPr marL="101600" marR="101600" marT="50800" marB="50800" anchor="ctr">
                    <a:lnL w="9525" cap="flat" cmpd="sng" algn="ctr">
                      <a:solidFill>
                        <a:srgbClr val="D6DCE3"/>
                      </a:solidFill>
                      <a:prstDash val="solid"/>
                      <a:round/>
                      <a:headEnd type="none" w="med" len="med"/>
                      <a:tailEnd type="none" w="med" len="med"/>
                    </a:lnL>
                    <a:lnR w="9525" cap="flat" cmpd="sng" algn="ctr">
                      <a:solidFill>
                        <a:srgbClr val="D6DCE3"/>
                      </a:solidFill>
                      <a:prstDash val="solid"/>
                      <a:round/>
                      <a:headEnd type="none" w="med" len="med"/>
                      <a:tailEnd type="none" w="med" len="med"/>
                    </a:lnR>
                    <a:lnT w="9525" cap="flat" cmpd="sng" algn="ctr">
                      <a:solidFill>
                        <a:srgbClr val="D6DCE3"/>
                      </a:solidFill>
                      <a:prstDash val="solid"/>
                      <a:round/>
                      <a:headEnd type="none" w="med" len="med"/>
                      <a:tailEnd type="none" w="med" len="med"/>
                    </a:lnT>
                    <a:lnB w="9525" cap="flat" cmpd="sng" algn="ctr">
                      <a:solidFill>
                        <a:srgbClr val="D6DCE3"/>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400">
        <p14:gallery dir="l"/>
      </p:transition>
    </mc:Choice>
    <mc:Fallback>
      <p:transition spd="slow">
        <p:fade/>
      </p:transition>
    </mc:Fallback>
  </mc:AlternateContent>
</p:sld>
</file>

<file path=ppt/theme/theme1.xml><?xml version="1.0" encoding="utf-8"?>
<a:theme xmlns:a="http://schemas.openxmlformats.org/drawingml/2006/main" name="Lean Flow">
  <a:themeElements>
    <a:clrScheme name="Lean Flow">
      <a:dk1>
        <a:srgbClr val="16212E"/>
      </a:dk1>
      <a:lt1>
        <a:srgbClr val="FFFFFF"/>
      </a:lt1>
      <a:dk2>
        <a:srgbClr val="2B3A4A"/>
      </a:dk2>
      <a:lt2>
        <a:srgbClr val="F1F4F7"/>
      </a:lt2>
      <a:accent1>
        <a:srgbClr val="F5A623"/>
      </a:accent1>
      <a:accent2>
        <a:srgbClr val="14A38B"/>
      </a:accent2>
      <a:accent3>
        <a:srgbClr val="E4572E"/>
      </a:accent3>
      <a:accent4>
        <a:srgbClr val="3D6FA8"/>
      </a:accent4>
      <a:accent5>
        <a:srgbClr val="7A8794"/>
      </a:accent5>
      <a:accent6>
        <a:srgbClr val="8E5CC4"/>
      </a:accent6>
      <a:hlink>
        <a:srgbClr val="3D6FA8"/>
      </a:hlink>
      <a:folHlink>
        <a:srgbClr val="7A8794"/>
      </a:folHlink>
    </a:clrScheme>
    <a:fontScheme name="Lean Flo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Kanban and TPM – Lean Methods</dc:title>
  <dc:subject>Lean Methods practical assignment – Group 1</dc:subject>
  <dc:creator>Group 1</dc:creator>
  <cp:lastModifiedBy>Group 1</cp:lastModifiedBy>
  <cp:revision>1</cp:revision>
  <dcterms:created xsi:type="dcterms:W3CDTF">2026-10-06T11:29:22Z</dcterms:created>
  <dcterms:modified xsi:type="dcterms:W3CDTF">2026-10-06T11:29:22Z</dcterms:modified>
</cp:coreProperties>
</file>