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ed3a9993-d7a7-c116-2aaf-6b5e9b8556d6}">
          <p14:sldIdLst>
            <p14:sldId id="256"/>
          </p14:sldIdLst>
        </p14:section>
        <p14:section name="Kanban" id="{6e32f8b7-9427-bac5-a72c-d2f005402e22}">
          <p14:sldIdLst>
            <p14:sldId id="257"/>
            <p14:sldId id="258"/>
            <p14:sldId id="259"/>
          </p14:sldIdLst>
        </p14:section>
        <p14:section name="TPM" id="{def5defe-8e8c-5ea6-ad36-cb2d9056f6a1}">
          <p14:sldIdLst>
            <p14:sldId id="260"/>
            <p14:sldId id="261"/>
            <p14:sldId id="262"/>
          </p14:sldIdLst>
        </p14:section>
        <p14:section name="Lean" id="{d109cd3f-b39b-ac39-4d17-8f47375cd8a1}">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we are Group 1. Today we present two Lean methods: Kanban and TPM, Total Productive Maintenance. For each one we explain what it is, its purpose and principles, how to implement it, which problems it solves, and real examples. At the end we answer why organizations implement Lean and what the main challenges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Kanban is a Lean method that uses visual signals, like cards, boards or bins, to control work and inventory. Each step makes only what the next step needs. The word means signboard in Japanese, and the method comes from Toyota.
</a:t>
            </a:r>
          </a:p>
          <a:p>
            <a:r>
              <a:rPr lang="en-US" dirty="0"/>
              <a:t>[Click] The purpose is smooth flow, with no overproduction and low stock: work is pulled, not pushed.
</a:t>
            </a:r>
          </a:p>
          <a:p>
            <a:r>
              <a:rPr lang="en-US" dirty="0"/>
              <a:t>[Click] There are six main principles: make the work visible, pull instead of push, limit work in progress, make nothing without a kanban, never pass defects on, and keep improving.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There are seven steps to implement Kanban. Map the process to see where stock and waiting build up. Choose the signal: a card, two bins or an electronic kanban. Calculate how many cards you need. Build the board and the cards. Set WIP limits and clear rules. Train people and start with a pilot. Then review and improve, for example by removing cards over time.
</a:t>
            </a:r>
          </a:p>
          <a:p>
            <a:r>
              <a:rPr lang="en-US" dirty="0"/>
              <a:t>[Click] The picture shows the simplest form, the two-bin system: when the first bin is empty, its card triggers a refill while work continues from the second bin.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Kanban solves five common problems: overproduction and excess stock, stockouts, long lead times, hidden bottlenecks, and overload from multitasking.
</a:t>
            </a:r>
          </a:p>
          <a:p>
            <a:r>
              <a:rPr lang="en-US" dirty="0"/>
              <a:t>[Click] Some examples: car plants keep parts in two-bin racks and use supplier kanbans; hospitals use two-bin cabinets for supplies; software teams use a board with a limit on tasks per column; and offices track each request or vacancy as a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TPM, Total Productive Maintenance, is a Lean method where operators and maintenance staff work together to keep every machine in perfect working condition. Operators take care of their own machines, instead of saying: I operate, you fix.
</a:t>
            </a:r>
          </a:p>
          <a:p>
            <a:r>
              <a:rPr lang="en-US" dirty="0"/>
              <a:t>[Click] The purpose is zero breakdowns, zero defects and zero accidents.
</a:t>
            </a:r>
          </a:p>
          <a:p>
            <a:r>
              <a:rPr lang="en-US" dirty="0"/>
              <a:t>[Click] TPM rests on eight pillars built on a 5S foundation, for example autonomous maintenance by operators, planned maintenance, focused improvement, training, and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TPM is introduced in twelve steps, grouped in four phases.
</a:t>
            </a:r>
          </a:p>
          <a:p>
            <a:r>
              <a:rPr lang="en-US" dirty="0"/>
              <a:t>[Click] Preparation: management announces TPM, trains the staff, sets up a TPM team, and sets targets and a master plan.
</a:t>
            </a:r>
          </a:p>
          <a:p>
            <a:r>
              <a:rPr lang="en-US" dirty="0"/>
              <a:t>[Click] Introduction: a kick-off with all employees, often with a pilot on one model machine.
</a:t>
            </a:r>
          </a:p>
          <a:p>
            <a:r>
              <a:rPr lang="en-US" dirty="0"/>
              <a:t>[Click] Implementation: the pillars are rolled out across the plant.
</a:t>
            </a:r>
          </a:p>
          <a:p>
            <a:r>
              <a:rPr lang="en-US" dirty="0"/>
              <a:t>[Click] Stabilization: keep the system running, audit the results and raise the targets.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TPM solves unplanned breakdowns, minor stops and slow running, defects caused by machines, high maintenance costs and safety incidents. It also ends the split where production says: I operate, you fix.
</a:t>
            </a:r>
          </a:p>
          <a:p>
            <a:r>
              <a:rPr lang="en-US" dirty="0"/>
              <a:t>[Click] In practice: operators do a five-minute check every shift, which means clean, inspect, lubricate and tighten. They put a tag on any abnormality, such as a leak. Maintenance follows a planned calendar. And every month the team reviews OEE, overall equipment effectiveness, and fixes the biggest loss.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Why do organizations implement Lean? Mainly to eliminate waste. That lowers costs, speeds up delivery and improves quality, while employees solve problems every day and the company becomes more competitive.
</a:t>
            </a:r>
          </a:p>
          <a:p>
            <a:r>
              <a:rPr lang="en-US" dirty="0"/>
              <a:t>[Click] The main challenges are resistance to change, weak leadership support, treating Lean as just a set of tools, no time for training, losing the gains, and unreliable machines or suppliers. The right column shows how to overcome each one. Thank you. Do you have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5669280" cy="173736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548640" y="3886200"/>
            <a:ext cx="5486400" cy="10058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4415" cy="73152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5"/>
                </a:solidFill>
              </a:rPr>
              <a:t>Lean Methods · Group 1 · Kanban &amp; TPM</a:t>
            </a:r>
            <a:endParaRPr lang="en-US" sz="10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3.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3.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3.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slideLayout" Target="../slideLayouts/slideLayout3.xml"/><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5669280" cy="1737360"/>
          </a:xfrm>
          <a:prstGeom prst="rect">
            <a:avLst/>
          </a:prstGeom>
          <a:noFill/>
          <a:ln/>
        </p:spPr>
        <p:txBody>
          <a:bodyPr wrap="square" lIns="0" tIns="0" rIns="0" bIns="0" rtlCol="0" anchor="b"/>
          <a:lstStyle/>
          <a:p>
            <a:pPr algn="l" indent="0" marL="0">
              <a:buNone/>
            </a:pPr>
            <a:r>
              <a:rPr lang="en-US" sz="5400" b="1" dirty="0">
                <a:solidFill>
                  <a:schemeClr val="bg1"/>
                </a:solidFill>
              </a:rPr>
              <a:t>Kanban &amp; TPM</a:t>
            </a:r>
            <a:endParaRPr lang="en-US" sz="5400" dirty="0"/>
          </a:p>
        </p:txBody>
      </p:sp>
      <p:sp>
        <p:nvSpPr>
          <p:cNvPr id="3" name="Text 0"/>
          <p:cNvSpPr/>
          <p:nvPr>
            <p:ph idx="101" type="body" hasCustomPrompt="1"/>
          </p:nvPr>
        </p:nvSpPr>
        <p:spPr>
          <a:xfrm>
            <a:off x="548640" y="3886200"/>
            <a:ext cx="5486400" cy="1005840"/>
          </a:xfrm>
          <a:prstGeom prst="rect">
            <a:avLst/>
          </a:prstGeom>
          <a:noFill/>
          <a:ln/>
        </p:spPr>
        <p:txBody>
          <a:bodyPr wrap="square" lIns="0" tIns="0" rIns="0" bIns="0" rtlCol="0" anchor="t"/>
          <a:lstStyle/>
          <a:p>
            <a:pPr algn="l" indent="0" marL="0">
              <a:buNone/>
            </a:pPr>
            <a:r>
              <a:rPr lang="en-US" sz="2000" dirty="0">
                <a:solidFill>
                  <a:schemeClr val="bg2"/>
                </a:solidFill>
              </a:rPr>
              <a:t>Kanban: visual workflow and inventory management. TPM (Total Productive Maintenance): equipment maintenance and reliability.</a:t>
            </a:r>
            <a:endParaRPr lang="en-US" sz="2000" dirty="0"/>
          </a:p>
        </p:txBody>
      </p:sp>
      <p:sp>
        <p:nvSpPr>
          <p:cNvPr id="4" name="text"/>
          <p:cNvSpPr txBox="1"/>
          <p:nvPr/>
        </p:nvSpPr>
        <p:spPr>
          <a:xfrm>
            <a:off x="548640" y="1600200"/>
            <a:ext cx="5669280" cy="320040"/>
          </a:xfrm>
          <a:prstGeom prst="rect">
            <a:avLst/>
          </a:prstGeom>
          <a:noFill/>
          <a:ln/>
        </p:spPr>
        <p:txBody>
          <a:bodyPr wrap="square" lIns="0" tIns="0" rIns="0" bIns="0" rtlCol="0" anchor="t"/>
          <a:lstStyle/>
          <a:p>
            <a:pPr indent="0" marL="0">
              <a:buNone/>
            </a:pPr>
            <a:r>
              <a:rPr lang="en-US" sz="1300" b="1" spc="200" kern="0" dirty="0">
                <a:solidFill>
                  <a:schemeClr val="accent1"/>
                </a:solidFill>
              </a:rPr>
              <a:t>LEAN METHODS · PRACTICAL ASSIGNMENT · GROUP 1</a:t>
            </a:r>
            <a:endParaRPr lang="en-US" sz="1300" dirty="0"/>
          </a:p>
        </p:txBody>
      </p:sp>
      <p:pic>
        <p:nvPicPr>
          <p:cNvPr id="5" name="render3d_hero" descr="3D illustration: kanban cards flowing from a parts bin into turning gears">    </p:cNvPr>
          <p:cNvPicPr>
            <a:picLocks noChangeAspect="1"/>
          </p:cNvPicPr>
          <p:nvPr/>
        </p:nvPicPr>
        <p:blipFill>
          <a:blip r:embed="rId1"/>
          <a:stretch>
            <a:fillRect/>
          </a:stretch>
        </p:blipFill>
        <p:spPr>
          <a:xfrm>
            <a:off x="6035040" y="1234440"/>
            <a:ext cx="5852160" cy="3838738"/>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400">
        <p14:flythrough/>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500" fill="hold"/>
                                        <p:tgtEl>
                                          <p:spTgt spid="5"/>
                                        </p:tgtEl>
                                        <p:attrNameLst>
                                          <p:attrName>ppt_w</p:attrName>
                                        </p:attrNameLst>
                                      </p:cBhvr>
                                      <p:tavLst>
                                        <p:tav tm="0">
                                          <p:val>
                                            <p:fltVal val="0"/>
                                          </p:val>
                                        </p:tav>
                                        <p:tav tm="100000">
                                          <p:val>
                                            <p:strVal val="#ppt_w"/>
                                          </p:val>
                                        </p:tav>
                                      </p:tavLst>
                                    </p:anim>
                                    <p:anim calcmode="lin" valueType="num">
                                      <p:cBhvr>
                                        <p:cTn id="8" dur="500" fill="hold"/>
                                        <p:tgtEl>
                                          <p:spTgt spid="5"/>
                                        </p:tgtEl>
                                        <p:attrNameLst>
                                          <p:attrName>ppt_h</p:attrName>
                                        </p:attrNameLst>
                                      </p:cBhvr>
                                      <p:tavLst>
                                        <p:tav tm="0">
                                          <p:val>
                                            <p:fltVal val="0"/>
                                          </p:val>
                                        </p:tav>
                                        <p:tav tm="100000">
                                          <p:val>
                                            <p:strVal val="#ppt_h"/>
                                          </p:val>
                                        </p:tav>
                                      </p:tavLst>
                                    </p:anim>
                                    <p:animEffect transition="in" filter="fade">
                                      <p:cBhvr>
                                        <p:cTn id="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chip"/>
          <p:cNvSpPr/>
          <p:nvPr/>
        </p:nvSpPr>
        <p:spPr>
          <a:xfrm>
            <a:off x="548640" y="237744"/>
            <a:ext cx="170535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050" b="1" spc="150" kern="0" dirty="0">
                <a:solidFill>
                  <a:schemeClr val="bg1"/>
                </a:solidFill>
              </a:rPr>
              <a:t>KANBAN · OVERVIEW</a:t>
            </a:r>
            <a:endParaRPr lang="en-US" sz="1050" dirty="0"/>
          </a:p>
        </p:txBody>
      </p:sp>
      <p:sp>
        <p:nvSpPr>
          <p:cNvPr id="3" name="Text 0"/>
          <p:cNvSpPr/>
          <p:nvPr>
            <p:ph idx="100" type="title" hasCustomPrompt="1"/>
          </p:nvPr>
        </p:nvSpPr>
        <p:spPr>
          <a:xfrm>
            <a:off x="548640" y="566928"/>
            <a:ext cx="11094415" cy="731520"/>
          </a:xfrm>
          <a:prstGeom prst="rect">
            <a:avLst/>
          </a:prstGeom>
          <a:noFill/>
          <a:ln/>
        </p:spPr>
        <p:txBody>
          <a:bodyPr wrap="square" lIns="0" tIns="0" rIns="0" bIns="0" rtlCol="0" anchor="ctr"/>
          <a:lstStyle/>
          <a:p>
            <a:pPr algn="l" indent="0" marL="0">
              <a:buNone/>
            </a:pPr>
            <a:r>
              <a:rPr lang="en-US" sz="3400" b="1" dirty="0">
                <a:solidFill>
                  <a:schemeClr val="tx1"/>
                </a:solidFill>
              </a:rPr>
              <a:t>Kanban: definition, purpose and principles</a:t>
            </a:r>
            <a:endParaRPr lang="en-US" sz="3400" dirty="0"/>
          </a:p>
        </p:txBody>
      </p:sp>
      <p:pic>
        <p:nvPicPr>
          <p:cNvPr id="4" name="render3d_kanban" descr="3D illustration of a kanban board with To do, In progress (WIP 3), Check (WIP 2) and Done columns">    </p:cNvPr>
          <p:cNvPicPr>
            <a:picLocks noChangeAspect="1"/>
          </p:cNvPicPr>
          <p:nvPr/>
        </p:nvPicPr>
        <p:blipFill>
          <a:blip r:embed="rId1"/>
          <a:stretch>
            <a:fillRect/>
          </a:stretch>
        </p:blipFill>
        <p:spPr>
          <a:xfrm>
            <a:off x="548640" y="1645920"/>
            <a:ext cx="4846320" cy="3759569"/>
          </a:xfrm>
          <a:prstGeom prst="rect">
            <a:avLst/>
          </a:prstGeom>
        </p:spPr>
      </p:pic>
      <p:sp>
        <p:nvSpPr>
          <p:cNvPr id="5" name="text"/>
          <p:cNvSpPr txBox="1"/>
          <p:nvPr/>
        </p:nvSpPr>
        <p:spPr>
          <a:xfrm>
            <a:off x="548640" y="5532120"/>
            <a:ext cx="4846320" cy="548640"/>
          </a:xfrm>
          <a:prstGeom prst="rect">
            <a:avLst/>
          </a:prstGeom>
          <a:noFill/>
          <a:ln/>
        </p:spPr>
        <p:txBody>
          <a:bodyPr wrap="square" lIns="0" tIns="0" rIns="0" bIns="0" rtlCol="0" anchor="t"/>
          <a:lstStyle/>
          <a:p>
            <a:pPr indent="0" marL="0">
              <a:buNone/>
            </a:pPr>
            <a:r>
              <a:rPr lang="en-US" sz="1400" b="1" dirty="0">
                <a:solidFill>
                  <a:schemeClr val="tx2"/>
                </a:solidFill>
              </a:rPr>
              <a:t>Kanban (看板) </a:t>
            </a:r>
            <a:pPr indent="0" marL="0">
              <a:buNone/>
            </a:pPr>
            <a:r>
              <a:rPr lang="en-US" sz="1400" dirty="0">
                <a:solidFill>
                  <a:schemeClr val="tx2"/>
                </a:solidFill>
              </a:rPr>
              <a:t>is Japanese for “signboard”. It was developed at Toyota.</a:t>
            </a:r>
            <a:endParaRPr lang="en-US" sz="1400" dirty="0"/>
          </a:p>
        </p:txBody>
      </p:sp>
      <p:sp>
        <p:nvSpPr>
          <p:cNvPr id="6" name="3DC_definition"/>
          <p:cNvSpPr/>
          <p:nvPr/>
        </p:nvSpPr>
        <p:spPr>
          <a:xfrm>
            <a:off x="5760720" y="1572768"/>
            <a:ext cx="5882335" cy="1417320"/>
          </a:xfrm>
          <a:prstGeom prst="roundRect">
            <a:avLst>
              <a:gd name="adj" fmla="val 7742"/>
            </a:avLst>
          </a:prstGeom>
          <a:solidFill>
            <a:schemeClr val="tx1"/>
          </a:solidFill>
          <a:ln w="12700">
            <a:solidFill>
              <a:schemeClr val="tx1"/>
            </a:solidFill>
            <a:prstDash val="solid"/>
          </a:ln>
          <a:effectLst>
            <a:outerShdw sx="100000" sy="100000" kx="0" ky="0" algn="bl" rotWithShape="0" blurRad="127000" dist="38100" dir="5400000">
              <a:srgbClr val="16212E">
                <a:alpha val="16000"/>
              </a:srgbClr>
            </a:outerShdw>
          </a:effectLst>
          <a:scene3d>
            <a:camera prst="orthographicFront"/>
            <a:lightRig rig="threePt" dir="t"/>
          </a:scene3d>
          <a:sp3d>
            <a:bevelT w="25400" h="12700" prst="softRound"/>
          </a:sp3d>
        </p:spPr>
      </p:sp>
      <p:sp>
        <p:nvSpPr>
          <p:cNvPr id="7" name="text"/>
          <p:cNvSpPr txBox="1"/>
          <p:nvPr/>
        </p:nvSpPr>
        <p:spPr>
          <a:xfrm>
            <a:off x="6035040" y="1709928"/>
            <a:ext cx="5333695"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DEFINITION</a:t>
            </a:r>
            <a:endParaRPr lang="en-US" sz="1200" dirty="0"/>
          </a:p>
        </p:txBody>
      </p:sp>
      <p:sp>
        <p:nvSpPr>
          <p:cNvPr id="8" name="text"/>
          <p:cNvSpPr txBox="1"/>
          <p:nvPr/>
        </p:nvSpPr>
        <p:spPr>
          <a:xfrm>
            <a:off x="6035040" y="2002536"/>
            <a:ext cx="5333695" cy="868680"/>
          </a:xfrm>
          <a:prstGeom prst="rect">
            <a:avLst/>
          </a:prstGeom>
          <a:noFill/>
          <a:ln/>
        </p:spPr>
        <p:txBody>
          <a:bodyPr wrap="square" lIns="0" tIns="0" rIns="0" bIns="0" rtlCol="0" anchor="t"/>
          <a:lstStyle/>
          <a:p>
            <a:pPr indent="0" marL="0">
              <a:buNone/>
            </a:pPr>
            <a:r>
              <a:rPr lang="en-US" sz="1700" dirty="0">
                <a:solidFill>
                  <a:schemeClr val="bg1"/>
                </a:solidFill>
              </a:rPr>
              <a:t>Kanban is a Lean method that uses visual signals (cards, boards or bins) to control work and inventory: each step makes only what the next step needs.</a:t>
            </a:r>
            <a:endParaRPr lang="en-US" sz="1700" dirty="0"/>
          </a:p>
        </p:txBody>
      </p:sp>
      <p:sp>
        <p:nvSpPr>
          <p:cNvPr id="9" name="text"/>
          <p:cNvSpPr txBox="1"/>
          <p:nvPr/>
        </p:nvSpPr>
        <p:spPr>
          <a:xfrm>
            <a:off x="5760720" y="3127248"/>
            <a:ext cx="5882335"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PURPOSE</a:t>
            </a:r>
            <a:endParaRPr lang="en-US" sz="1200" dirty="0"/>
          </a:p>
        </p:txBody>
      </p:sp>
      <p:sp>
        <p:nvSpPr>
          <p:cNvPr id="10" name="text"/>
          <p:cNvSpPr txBox="1"/>
          <p:nvPr/>
        </p:nvSpPr>
        <p:spPr>
          <a:xfrm>
            <a:off x="5760720" y="3401568"/>
            <a:ext cx="5882335" cy="548640"/>
          </a:xfrm>
          <a:prstGeom prst="rect">
            <a:avLst/>
          </a:prstGeom>
          <a:noFill/>
          <a:ln/>
        </p:spPr>
        <p:txBody>
          <a:bodyPr wrap="square" lIns="0" tIns="0" rIns="0" bIns="0" rtlCol="0" anchor="t"/>
          <a:lstStyle/>
          <a:p>
            <a:pPr indent="0" marL="0">
              <a:buNone/>
            </a:pPr>
            <a:r>
              <a:rPr lang="en-US" sz="1600" dirty="0">
                <a:solidFill>
                  <a:schemeClr val="tx1"/>
                </a:solidFill>
              </a:rPr>
              <a:t>Smooth flow with no overproduction and low stock: work is pulled, not pushed.</a:t>
            </a:r>
            <a:endParaRPr lang="en-US" sz="1600" dirty="0"/>
          </a:p>
        </p:txBody>
      </p:sp>
      <p:sp>
        <p:nvSpPr>
          <p:cNvPr id="11" name="text"/>
          <p:cNvSpPr txBox="1"/>
          <p:nvPr/>
        </p:nvSpPr>
        <p:spPr>
          <a:xfrm>
            <a:off x="5760720" y="4041648"/>
            <a:ext cx="5882335"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MAIN PRINCIPLES</a:t>
            </a:r>
            <a:endParaRPr lang="en-US" sz="1200" dirty="0"/>
          </a:p>
        </p:txBody>
      </p:sp>
      <p:sp>
        <p:nvSpPr>
          <p:cNvPr id="12" name="3DC_principle"/>
          <p:cNvSpPr/>
          <p:nvPr/>
        </p:nvSpPr>
        <p:spPr>
          <a:xfrm>
            <a:off x="5760720" y="4343400"/>
            <a:ext cx="2826868" cy="548640"/>
          </a:xfrm>
          <a:prstGeom prst="roundRect">
            <a:avLst>
              <a:gd name="adj" fmla="val 20000"/>
            </a:avLst>
          </a:prstGeom>
          <a:solidFill>
            <a:schemeClr val="bg2"/>
          </a:solidFill>
          <a:ln w="12700">
            <a:solidFill>
              <a:schemeClr val="bg2"/>
            </a:solidFill>
            <a:prstDash val="solid"/>
          </a:ln>
          <a:scene3d>
            <a:camera prst="orthographicFront"/>
            <a:lightRig rig="threePt" dir="t"/>
          </a:scene3d>
          <a:sp3d>
            <a:bevelT w="25400" h="12700" prst="softRound"/>
          </a:sp3d>
        </p:spPr>
      </p:sp>
      <p:sp>
        <p:nvSpPr>
          <p:cNvPr id="13" name="3DB_icon"/>
          <p:cNvSpPr/>
          <p:nvPr/>
        </p:nvSpPr>
        <p:spPr>
          <a:xfrm>
            <a:off x="5870448" y="4416552"/>
            <a:ext cx="402336" cy="402336"/>
          </a:xfrm>
          <a:prstGeom prst="ellipse">
            <a:avLst/>
          </a:prstGeom>
          <a:solidFill>
            <a:schemeClr val="accent1"/>
          </a:solidFill>
          <a:ln w="12700">
            <a:solidFill>
              <a:schemeClr val="accent1"/>
            </a:solidFill>
            <a:prstDash val="solid"/>
          </a:ln>
          <a:scene3d>
            <a:camera prst="orthographicFront"/>
            <a:lightRig rig="threePt" dir="t"/>
          </a:scene3d>
          <a:sp3d prstMaterial="plastic">
            <a:bevelT w="88900" h="38100"/>
          </a:sp3d>
        </p:spPr>
      </p:sp>
      <p:pic>
        <p:nvPicPr>
          <p:cNvPr id="14" name="icon_FaEye" descr="preencoded.png">    </p:cNvPr>
          <p:cNvPicPr>
            <a:picLocks noChangeAspect="1"/>
          </p:cNvPicPr>
          <p:nvPr/>
        </p:nvPicPr>
        <p:blipFill>
          <a:blip r:embed="rId2"/>
          <a:stretch>
            <a:fillRect/>
          </a:stretch>
        </p:blipFill>
        <p:spPr>
          <a:xfrm>
            <a:off x="5979079" y="4525183"/>
            <a:ext cx="185075" cy="185075"/>
          </a:xfrm>
          <a:prstGeom prst="rect">
            <a:avLst/>
          </a:prstGeom>
        </p:spPr>
      </p:pic>
      <p:sp>
        <p:nvSpPr>
          <p:cNvPr id="15" name="text"/>
          <p:cNvSpPr txBox="1"/>
          <p:nvPr/>
        </p:nvSpPr>
        <p:spPr>
          <a:xfrm>
            <a:off x="6382512" y="4343400"/>
            <a:ext cx="2113636" cy="548640"/>
          </a:xfrm>
          <a:prstGeom prst="rect">
            <a:avLst/>
          </a:prstGeom>
          <a:noFill/>
          <a:ln/>
        </p:spPr>
        <p:txBody>
          <a:bodyPr wrap="square" lIns="0" tIns="0" rIns="0" bIns="0" rtlCol="0" anchor="ctr"/>
          <a:lstStyle/>
          <a:p>
            <a:pPr indent="0" marL="0">
              <a:buNone/>
            </a:pPr>
            <a:r>
              <a:rPr lang="en-US" sz="1500" b="1" dirty="0">
                <a:solidFill>
                  <a:schemeClr val="tx1"/>
                </a:solidFill>
              </a:rPr>
              <a:t>Visualize the work</a:t>
            </a:r>
            <a:endParaRPr lang="en-US" sz="1500" dirty="0"/>
          </a:p>
        </p:txBody>
      </p:sp>
      <p:sp>
        <p:nvSpPr>
          <p:cNvPr id="16" name="3DC_principle"/>
          <p:cNvSpPr/>
          <p:nvPr/>
        </p:nvSpPr>
        <p:spPr>
          <a:xfrm>
            <a:off x="8816188" y="4343400"/>
            <a:ext cx="2826868" cy="548640"/>
          </a:xfrm>
          <a:prstGeom prst="roundRect">
            <a:avLst>
              <a:gd name="adj" fmla="val 20000"/>
            </a:avLst>
          </a:prstGeom>
          <a:solidFill>
            <a:schemeClr val="bg2"/>
          </a:solidFill>
          <a:ln w="12700">
            <a:solidFill>
              <a:schemeClr val="bg2"/>
            </a:solidFill>
            <a:prstDash val="solid"/>
          </a:ln>
          <a:scene3d>
            <a:camera prst="orthographicFront"/>
            <a:lightRig rig="threePt" dir="t"/>
          </a:scene3d>
          <a:sp3d>
            <a:bevelT w="25400" h="12700" prst="softRound"/>
          </a:sp3d>
        </p:spPr>
      </p:sp>
      <p:sp>
        <p:nvSpPr>
          <p:cNvPr id="17" name="3DB_icon"/>
          <p:cNvSpPr/>
          <p:nvPr/>
        </p:nvSpPr>
        <p:spPr>
          <a:xfrm>
            <a:off x="8925916" y="4416552"/>
            <a:ext cx="402336" cy="402336"/>
          </a:xfrm>
          <a:prstGeom prst="ellipse">
            <a:avLst/>
          </a:prstGeom>
          <a:solidFill>
            <a:schemeClr val="accent1"/>
          </a:solidFill>
          <a:ln w="12700">
            <a:solidFill>
              <a:schemeClr val="accent1"/>
            </a:solidFill>
            <a:prstDash val="solid"/>
          </a:ln>
          <a:scene3d>
            <a:camera prst="orthographicFront"/>
            <a:lightRig rig="threePt" dir="t"/>
          </a:scene3d>
          <a:sp3d prstMaterial="plastic">
            <a:bevelT w="88900" h="38100"/>
          </a:sp3d>
        </p:spPr>
      </p:sp>
      <p:pic>
        <p:nvPicPr>
          <p:cNvPr id="18" name="icon_FaArrowCircleLeft" descr="preencoded.png">    </p:cNvPr>
          <p:cNvPicPr>
            <a:picLocks noChangeAspect="1"/>
          </p:cNvPicPr>
          <p:nvPr/>
        </p:nvPicPr>
        <p:blipFill>
          <a:blip r:embed="rId3"/>
          <a:stretch>
            <a:fillRect/>
          </a:stretch>
        </p:blipFill>
        <p:spPr>
          <a:xfrm>
            <a:off x="9034546" y="4525183"/>
            <a:ext cx="185075" cy="185075"/>
          </a:xfrm>
          <a:prstGeom prst="rect">
            <a:avLst/>
          </a:prstGeom>
        </p:spPr>
      </p:pic>
      <p:sp>
        <p:nvSpPr>
          <p:cNvPr id="19" name="text"/>
          <p:cNvSpPr txBox="1"/>
          <p:nvPr/>
        </p:nvSpPr>
        <p:spPr>
          <a:xfrm>
            <a:off x="9437980" y="4343400"/>
            <a:ext cx="2113636" cy="548640"/>
          </a:xfrm>
          <a:prstGeom prst="rect">
            <a:avLst/>
          </a:prstGeom>
          <a:noFill/>
          <a:ln/>
        </p:spPr>
        <p:txBody>
          <a:bodyPr wrap="square" lIns="0" tIns="0" rIns="0" bIns="0" rtlCol="0" anchor="ctr"/>
          <a:lstStyle/>
          <a:p>
            <a:pPr indent="0" marL="0">
              <a:buNone/>
            </a:pPr>
            <a:r>
              <a:rPr lang="en-US" sz="1500" b="1" dirty="0">
                <a:solidFill>
                  <a:schemeClr val="tx1"/>
                </a:solidFill>
              </a:rPr>
              <a:t>Pull, don’t push</a:t>
            </a:r>
            <a:endParaRPr lang="en-US" sz="1500" dirty="0"/>
          </a:p>
        </p:txBody>
      </p:sp>
      <p:sp>
        <p:nvSpPr>
          <p:cNvPr id="20" name="3DC_principle"/>
          <p:cNvSpPr/>
          <p:nvPr/>
        </p:nvSpPr>
        <p:spPr>
          <a:xfrm>
            <a:off x="5760720" y="4965192"/>
            <a:ext cx="2826868" cy="548640"/>
          </a:xfrm>
          <a:prstGeom prst="roundRect">
            <a:avLst>
              <a:gd name="adj" fmla="val 20000"/>
            </a:avLst>
          </a:prstGeom>
          <a:solidFill>
            <a:schemeClr val="bg2"/>
          </a:solidFill>
          <a:ln w="12700">
            <a:solidFill>
              <a:schemeClr val="bg2"/>
            </a:solidFill>
            <a:prstDash val="solid"/>
          </a:ln>
          <a:scene3d>
            <a:camera prst="orthographicFront"/>
            <a:lightRig rig="threePt" dir="t"/>
          </a:scene3d>
          <a:sp3d>
            <a:bevelT w="25400" h="12700" prst="softRound"/>
          </a:sp3d>
        </p:spPr>
      </p:sp>
      <p:sp>
        <p:nvSpPr>
          <p:cNvPr id="21" name="3DB_icon"/>
          <p:cNvSpPr/>
          <p:nvPr/>
        </p:nvSpPr>
        <p:spPr>
          <a:xfrm>
            <a:off x="5870448" y="5038344"/>
            <a:ext cx="402336" cy="402336"/>
          </a:xfrm>
          <a:prstGeom prst="ellipse">
            <a:avLst/>
          </a:prstGeom>
          <a:solidFill>
            <a:schemeClr val="accent1"/>
          </a:solidFill>
          <a:ln w="12700">
            <a:solidFill>
              <a:schemeClr val="accent1"/>
            </a:solidFill>
            <a:prstDash val="solid"/>
          </a:ln>
          <a:scene3d>
            <a:camera prst="orthographicFront"/>
            <a:lightRig rig="threePt" dir="t"/>
          </a:scene3d>
          <a:sp3d prstMaterial="plastic">
            <a:bevelT w="88900" h="38100"/>
          </a:sp3d>
        </p:spPr>
      </p:sp>
      <p:pic>
        <p:nvPicPr>
          <p:cNvPr id="22" name="icon_FaFilter" descr="preencoded.png">    </p:cNvPr>
          <p:cNvPicPr>
            <a:picLocks noChangeAspect="1"/>
          </p:cNvPicPr>
          <p:nvPr/>
        </p:nvPicPr>
        <p:blipFill>
          <a:blip r:embed="rId4"/>
          <a:stretch>
            <a:fillRect/>
          </a:stretch>
        </p:blipFill>
        <p:spPr>
          <a:xfrm>
            <a:off x="5979079" y="5146975"/>
            <a:ext cx="185075" cy="185075"/>
          </a:xfrm>
          <a:prstGeom prst="rect">
            <a:avLst/>
          </a:prstGeom>
        </p:spPr>
      </p:pic>
      <p:sp>
        <p:nvSpPr>
          <p:cNvPr id="23" name="text"/>
          <p:cNvSpPr txBox="1"/>
          <p:nvPr/>
        </p:nvSpPr>
        <p:spPr>
          <a:xfrm>
            <a:off x="6382512" y="4965192"/>
            <a:ext cx="2113636" cy="548640"/>
          </a:xfrm>
          <a:prstGeom prst="rect">
            <a:avLst/>
          </a:prstGeom>
          <a:noFill/>
          <a:ln/>
        </p:spPr>
        <p:txBody>
          <a:bodyPr wrap="square" lIns="0" tIns="0" rIns="0" bIns="0" rtlCol="0" anchor="ctr"/>
          <a:lstStyle/>
          <a:p>
            <a:pPr indent="0" marL="0">
              <a:buNone/>
            </a:pPr>
            <a:r>
              <a:rPr lang="en-US" sz="1500" b="1" dirty="0">
                <a:solidFill>
                  <a:schemeClr val="tx1"/>
                </a:solidFill>
              </a:rPr>
              <a:t>Limit work in progress</a:t>
            </a:r>
            <a:endParaRPr lang="en-US" sz="1500" dirty="0"/>
          </a:p>
        </p:txBody>
      </p:sp>
      <p:sp>
        <p:nvSpPr>
          <p:cNvPr id="24" name="3DC_principle"/>
          <p:cNvSpPr/>
          <p:nvPr/>
        </p:nvSpPr>
        <p:spPr>
          <a:xfrm>
            <a:off x="8816188" y="4965192"/>
            <a:ext cx="2826868" cy="548640"/>
          </a:xfrm>
          <a:prstGeom prst="roundRect">
            <a:avLst>
              <a:gd name="adj" fmla="val 20000"/>
            </a:avLst>
          </a:prstGeom>
          <a:solidFill>
            <a:schemeClr val="bg2"/>
          </a:solidFill>
          <a:ln w="12700">
            <a:solidFill>
              <a:schemeClr val="bg2"/>
            </a:solidFill>
            <a:prstDash val="solid"/>
          </a:ln>
          <a:scene3d>
            <a:camera prst="orthographicFront"/>
            <a:lightRig rig="threePt" dir="t"/>
          </a:scene3d>
          <a:sp3d>
            <a:bevelT w="25400" h="12700" prst="softRound"/>
          </a:sp3d>
        </p:spPr>
      </p:sp>
      <p:sp>
        <p:nvSpPr>
          <p:cNvPr id="25" name="3DB_icon"/>
          <p:cNvSpPr/>
          <p:nvPr/>
        </p:nvSpPr>
        <p:spPr>
          <a:xfrm>
            <a:off x="8925916" y="5038344"/>
            <a:ext cx="402336" cy="402336"/>
          </a:xfrm>
          <a:prstGeom prst="ellipse">
            <a:avLst/>
          </a:prstGeom>
          <a:solidFill>
            <a:schemeClr val="accent1"/>
          </a:solidFill>
          <a:ln w="12700">
            <a:solidFill>
              <a:schemeClr val="accent1"/>
            </a:solidFill>
            <a:prstDash val="solid"/>
          </a:ln>
          <a:scene3d>
            <a:camera prst="orthographicFront"/>
            <a:lightRig rig="threePt" dir="t"/>
          </a:scene3d>
          <a:sp3d prstMaterial="plastic">
            <a:bevelT w="88900" h="38100"/>
          </a:sp3d>
        </p:spPr>
      </p:sp>
      <p:pic>
        <p:nvPicPr>
          <p:cNvPr id="26" name="icon_FaTag" descr="preencoded.png">    </p:cNvPr>
          <p:cNvPicPr>
            <a:picLocks noChangeAspect="1"/>
          </p:cNvPicPr>
          <p:nvPr/>
        </p:nvPicPr>
        <p:blipFill>
          <a:blip r:embed="rId5"/>
          <a:stretch>
            <a:fillRect/>
          </a:stretch>
        </p:blipFill>
        <p:spPr>
          <a:xfrm>
            <a:off x="9034546" y="5146975"/>
            <a:ext cx="185075" cy="185075"/>
          </a:xfrm>
          <a:prstGeom prst="rect">
            <a:avLst/>
          </a:prstGeom>
        </p:spPr>
      </p:pic>
      <p:sp>
        <p:nvSpPr>
          <p:cNvPr id="27" name="text"/>
          <p:cNvSpPr txBox="1"/>
          <p:nvPr/>
        </p:nvSpPr>
        <p:spPr>
          <a:xfrm>
            <a:off x="9437980" y="4965192"/>
            <a:ext cx="2113636" cy="548640"/>
          </a:xfrm>
          <a:prstGeom prst="rect">
            <a:avLst/>
          </a:prstGeom>
          <a:noFill/>
          <a:ln/>
        </p:spPr>
        <p:txBody>
          <a:bodyPr wrap="square" lIns="0" tIns="0" rIns="0" bIns="0" rtlCol="0" anchor="ctr"/>
          <a:lstStyle/>
          <a:p>
            <a:pPr indent="0" marL="0">
              <a:buNone/>
            </a:pPr>
            <a:r>
              <a:rPr lang="en-US" sz="1500" b="1" dirty="0">
                <a:solidFill>
                  <a:schemeClr val="tx1"/>
                </a:solidFill>
              </a:rPr>
              <a:t>No kanban, no production</a:t>
            </a:r>
            <a:endParaRPr lang="en-US" sz="1500" dirty="0"/>
          </a:p>
        </p:txBody>
      </p:sp>
      <p:sp>
        <p:nvSpPr>
          <p:cNvPr id="28" name="3DC_principle"/>
          <p:cNvSpPr/>
          <p:nvPr/>
        </p:nvSpPr>
        <p:spPr>
          <a:xfrm>
            <a:off x="5760720" y="5586984"/>
            <a:ext cx="2826868" cy="548640"/>
          </a:xfrm>
          <a:prstGeom prst="roundRect">
            <a:avLst>
              <a:gd name="adj" fmla="val 20000"/>
            </a:avLst>
          </a:prstGeom>
          <a:solidFill>
            <a:schemeClr val="bg2"/>
          </a:solidFill>
          <a:ln w="12700">
            <a:solidFill>
              <a:schemeClr val="bg2"/>
            </a:solidFill>
            <a:prstDash val="solid"/>
          </a:ln>
          <a:scene3d>
            <a:camera prst="orthographicFront"/>
            <a:lightRig rig="threePt" dir="t"/>
          </a:scene3d>
          <a:sp3d>
            <a:bevelT w="25400" h="12700" prst="softRound"/>
          </a:sp3d>
        </p:spPr>
      </p:sp>
      <p:sp>
        <p:nvSpPr>
          <p:cNvPr id="29" name="3DB_icon"/>
          <p:cNvSpPr/>
          <p:nvPr/>
        </p:nvSpPr>
        <p:spPr>
          <a:xfrm>
            <a:off x="5870448" y="5660136"/>
            <a:ext cx="402336" cy="402336"/>
          </a:xfrm>
          <a:prstGeom prst="ellipse">
            <a:avLst/>
          </a:prstGeom>
          <a:solidFill>
            <a:schemeClr val="accent1"/>
          </a:solidFill>
          <a:ln w="12700">
            <a:solidFill>
              <a:schemeClr val="accent1"/>
            </a:solidFill>
            <a:prstDash val="solid"/>
          </a:ln>
          <a:scene3d>
            <a:camera prst="orthographicFront"/>
            <a:lightRig rig="threePt" dir="t"/>
          </a:scene3d>
          <a:sp3d prstMaterial="plastic">
            <a:bevelT w="88900" h="38100"/>
          </a:sp3d>
        </p:spPr>
      </p:sp>
      <p:pic>
        <p:nvPicPr>
          <p:cNvPr id="30" name="icon_FaShieldAlt" descr="preencoded.png">    </p:cNvPr>
          <p:cNvPicPr>
            <a:picLocks noChangeAspect="1"/>
          </p:cNvPicPr>
          <p:nvPr/>
        </p:nvPicPr>
        <p:blipFill>
          <a:blip r:embed="rId6"/>
          <a:stretch>
            <a:fillRect/>
          </a:stretch>
        </p:blipFill>
        <p:spPr>
          <a:xfrm>
            <a:off x="5979079" y="5768767"/>
            <a:ext cx="185075" cy="185075"/>
          </a:xfrm>
          <a:prstGeom prst="rect">
            <a:avLst/>
          </a:prstGeom>
        </p:spPr>
      </p:pic>
      <p:sp>
        <p:nvSpPr>
          <p:cNvPr id="31" name="text"/>
          <p:cNvSpPr txBox="1"/>
          <p:nvPr/>
        </p:nvSpPr>
        <p:spPr>
          <a:xfrm>
            <a:off x="6382512" y="5586984"/>
            <a:ext cx="2113636" cy="548640"/>
          </a:xfrm>
          <a:prstGeom prst="rect">
            <a:avLst/>
          </a:prstGeom>
          <a:noFill/>
          <a:ln/>
        </p:spPr>
        <p:txBody>
          <a:bodyPr wrap="square" lIns="0" tIns="0" rIns="0" bIns="0" rtlCol="0" anchor="ctr"/>
          <a:lstStyle/>
          <a:p>
            <a:pPr indent="0" marL="0">
              <a:buNone/>
            </a:pPr>
            <a:r>
              <a:rPr lang="en-US" sz="1500" b="1" dirty="0">
                <a:solidFill>
                  <a:schemeClr val="tx1"/>
                </a:solidFill>
              </a:rPr>
              <a:t>Never pass defects on</a:t>
            </a:r>
            <a:endParaRPr lang="en-US" sz="1500" dirty="0"/>
          </a:p>
        </p:txBody>
      </p:sp>
      <p:sp>
        <p:nvSpPr>
          <p:cNvPr id="32" name="3DC_principle"/>
          <p:cNvSpPr/>
          <p:nvPr/>
        </p:nvSpPr>
        <p:spPr>
          <a:xfrm>
            <a:off x="8816188" y="5586984"/>
            <a:ext cx="2826868" cy="548640"/>
          </a:xfrm>
          <a:prstGeom prst="roundRect">
            <a:avLst>
              <a:gd name="adj" fmla="val 20000"/>
            </a:avLst>
          </a:prstGeom>
          <a:solidFill>
            <a:schemeClr val="bg2"/>
          </a:solidFill>
          <a:ln w="12700">
            <a:solidFill>
              <a:schemeClr val="bg2"/>
            </a:solidFill>
            <a:prstDash val="solid"/>
          </a:ln>
          <a:scene3d>
            <a:camera prst="orthographicFront"/>
            <a:lightRig rig="threePt" dir="t"/>
          </a:scene3d>
          <a:sp3d>
            <a:bevelT w="25400" h="12700" prst="softRound"/>
          </a:sp3d>
        </p:spPr>
      </p:sp>
      <p:sp>
        <p:nvSpPr>
          <p:cNvPr id="33" name="3DB_icon"/>
          <p:cNvSpPr/>
          <p:nvPr/>
        </p:nvSpPr>
        <p:spPr>
          <a:xfrm>
            <a:off x="8925916" y="5660136"/>
            <a:ext cx="402336" cy="402336"/>
          </a:xfrm>
          <a:prstGeom prst="ellipse">
            <a:avLst/>
          </a:prstGeom>
          <a:solidFill>
            <a:schemeClr val="accent1"/>
          </a:solidFill>
          <a:ln w="12700">
            <a:solidFill>
              <a:schemeClr val="accent1"/>
            </a:solidFill>
            <a:prstDash val="solid"/>
          </a:ln>
          <a:scene3d>
            <a:camera prst="orthographicFront"/>
            <a:lightRig rig="threePt" dir="t"/>
          </a:scene3d>
          <a:sp3d prstMaterial="plastic">
            <a:bevelT w="88900" h="38100"/>
          </a:sp3d>
        </p:spPr>
      </p:sp>
      <p:pic>
        <p:nvPicPr>
          <p:cNvPr id="34" name="icon_FaSyncAlt" descr="preencoded.png">    </p:cNvPr>
          <p:cNvPicPr>
            <a:picLocks noChangeAspect="1"/>
          </p:cNvPicPr>
          <p:nvPr/>
        </p:nvPicPr>
        <p:blipFill>
          <a:blip r:embed="rId7"/>
          <a:stretch>
            <a:fillRect/>
          </a:stretch>
        </p:blipFill>
        <p:spPr>
          <a:xfrm>
            <a:off x="9034546" y="5768767"/>
            <a:ext cx="185075" cy="185075"/>
          </a:xfrm>
          <a:prstGeom prst="rect">
            <a:avLst/>
          </a:prstGeom>
        </p:spPr>
      </p:pic>
      <p:sp>
        <p:nvSpPr>
          <p:cNvPr id="35" name="text"/>
          <p:cNvSpPr txBox="1"/>
          <p:nvPr/>
        </p:nvSpPr>
        <p:spPr>
          <a:xfrm>
            <a:off x="9437980" y="5586984"/>
            <a:ext cx="2113636" cy="548640"/>
          </a:xfrm>
          <a:prstGeom prst="rect">
            <a:avLst/>
          </a:prstGeom>
          <a:noFill/>
          <a:ln/>
        </p:spPr>
        <p:txBody>
          <a:bodyPr wrap="square" lIns="0" tIns="0" rIns="0" bIns="0" rtlCol="0" anchor="ctr"/>
          <a:lstStyle/>
          <a:p>
            <a:pPr indent="0" marL="0">
              <a:buNone/>
            </a:pPr>
            <a:r>
              <a:rPr lang="en-US" sz="1500" b="1" dirty="0">
                <a:solidFill>
                  <a:schemeClr val="tx1"/>
                </a:solidFill>
              </a:rPr>
              <a:t>Improve continuously</a:t>
            </a:r>
            <a:endParaRPr lang="en-US" sz="15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mc:AlternateContent xmlns:mc="http://schemas.openxmlformats.org/markup-compatibility/2006">
    <mc:Choice xmlns:p14="http://schemas.microsoft.com/office/powerpoint/2010/main" Requires="p14">
      <p:transition spd="slow" p14:dur="1400">
        <p14:prism/>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par>
                                <p:cTn id="10" presetID="42" presetClass="entr" presetSubtype="0" fill="hold" grpId="0" nodeType="withEffect">
                                  <p:stCondLst>
                                    <p:cond delay="20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anim calcmode="lin" valueType="num">
                                      <p:cBhvr>
                                        <p:cTn id="13" dur="600" fill="hold"/>
                                        <p:tgtEl>
                                          <p:spTgt spid="5"/>
                                        </p:tgtEl>
                                        <p:attrNameLst>
                                          <p:attrName>ppt_x</p:attrName>
                                        </p:attrNameLst>
                                      </p:cBhvr>
                                      <p:tavLst>
                                        <p:tav tm="0">
                                          <p:val>
                                            <p:strVal val="#ppt_x"/>
                                          </p:val>
                                        </p:tav>
                                        <p:tav tm="100000">
                                          <p:val>
                                            <p:strVal val="#ppt_x"/>
                                          </p:val>
                                        </p:tav>
                                      </p:tavLst>
                                    </p:anim>
                                    <p:anim calcmode="lin" valueType="num">
                                      <p:cBhvr>
                                        <p:cTn id="14" dur="600" fill="hold"/>
                                        <p:tgtEl>
                                          <p:spTgt spid="5"/>
                                        </p:tgtEl>
                                        <p:attrNameLst>
                                          <p:attrName>ppt_y</p:attrName>
                                        </p:attrNameLst>
                                      </p:cBhvr>
                                      <p:tavLst>
                                        <p:tav tm="0">
                                          <p:val>
                                            <p:strVal val="#ppt_y+.05"/>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600"/>
                                        <p:tgtEl>
                                          <p:spTgt spid="6"/>
                                        </p:tgtEl>
                                      </p:cBhvr>
                                    </p:animEffect>
                                    <p:anim calcmode="lin" valueType="num">
                                      <p:cBhvr>
                                        <p:cTn id="20" dur="600" fill="hold"/>
                                        <p:tgtEl>
                                          <p:spTgt spid="6"/>
                                        </p:tgtEl>
                                        <p:attrNameLst>
                                          <p:attrName>ppt_x</p:attrName>
                                        </p:attrNameLst>
                                      </p:cBhvr>
                                      <p:tavLst>
                                        <p:tav tm="0">
                                          <p:val>
                                            <p:strVal val="#ppt_x"/>
                                          </p:val>
                                        </p:tav>
                                        <p:tav tm="100000">
                                          <p:val>
                                            <p:strVal val="#ppt_x"/>
                                          </p:val>
                                        </p:tav>
                                      </p:tavLst>
                                    </p:anim>
                                    <p:anim calcmode="lin" valueType="num">
                                      <p:cBhvr>
                                        <p:cTn id="21" dur="600" fill="hold"/>
                                        <p:tgtEl>
                                          <p:spTgt spid="6"/>
                                        </p:tgtEl>
                                        <p:attrNameLst>
                                          <p:attrName>ppt_y</p:attrName>
                                        </p:attrNameLst>
                                      </p:cBhvr>
                                      <p:tavLst>
                                        <p:tav tm="0">
                                          <p:val>
                                            <p:strVal val="#ppt_y+.05"/>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600"/>
                                        <p:tgtEl>
                                          <p:spTgt spid="7"/>
                                        </p:tgtEl>
                                      </p:cBhvr>
                                    </p:animEffect>
                                    <p:anim calcmode="lin" valueType="num">
                                      <p:cBhvr>
                                        <p:cTn id="25" dur="600" fill="hold"/>
                                        <p:tgtEl>
                                          <p:spTgt spid="7"/>
                                        </p:tgtEl>
                                        <p:attrNameLst>
                                          <p:attrName>ppt_x</p:attrName>
                                        </p:attrNameLst>
                                      </p:cBhvr>
                                      <p:tavLst>
                                        <p:tav tm="0">
                                          <p:val>
                                            <p:strVal val="#ppt_x"/>
                                          </p:val>
                                        </p:tav>
                                        <p:tav tm="100000">
                                          <p:val>
                                            <p:strVal val="#ppt_x"/>
                                          </p:val>
                                        </p:tav>
                                      </p:tavLst>
                                    </p:anim>
                                    <p:anim calcmode="lin" valueType="num">
                                      <p:cBhvr>
                                        <p:cTn id="26" dur="600" fill="hold"/>
                                        <p:tgtEl>
                                          <p:spTgt spid="7"/>
                                        </p:tgtEl>
                                        <p:attrNameLst>
                                          <p:attrName>ppt_y</p:attrName>
                                        </p:attrNameLst>
                                      </p:cBhvr>
                                      <p:tavLst>
                                        <p:tav tm="0">
                                          <p:val>
                                            <p:strVal val="#ppt_y+.05"/>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600"/>
                                        <p:tgtEl>
                                          <p:spTgt spid="8"/>
                                        </p:tgtEl>
                                      </p:cBhvr>
                                    </p:animEffect>
                                    <p:anim calcmode="lin" valueType="num">
                                      <p:cBhvr>
                                        <p:cTn id="30" dur="600" fill="hold"/>
                                        <p:tgtEl>
                                          <p:spTgt spid="8"/>
                                        </p:tgtEl>
                                        <p:attrNameLst>
                                          <p:attrName>ppt_x</p:attrName>
                                        </p:attrNameLst>
                                      </p:cBhvr>
                                      <p:tavLst>
                                        <p:tav tm="0">
                                          <p:val>
                                            <p:strVal val="#ppt_x"/>
                                          </p:val>
                                        </p:tav>
                                        <p:tav tm="100000">
                                          <p:val>
                                            <p:strVal val="#ppt_x"/>
                                          </p:val>
                                        </p:tav>
                                      </p:tavLst>
                                    </p:anim>
                                    <p:anim calcmode="lin" valueType="num">
                                      <p:cBhvr>
                                        <p:cTn id="31" dur="600" fill="hold"/>
                                        <p:tgtEl>
                                          <p:spTgt spid="8"/>
                                        </p:tgtEl>
                                        <p:attrNameLst>
                                          <p:attrName>ppt_y</p:attrName>
                                        </p:attrNameLst>
                                      </p:cBhvr>
                                      <p:tavLst>
                                        <p:tav tm="0">
                                          <p:val>
                                            <p:strVal val="#ppt_y+.05"/>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4" presetID="42" presetClass="entr" presetSubtype="0" fill="hold" grpId="0" nodeType="click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600"/>
                                        <p:tgtEl>
                                          <p:spTgt spid="9"/>
                                        </p:tgtEl>
                                      </p:cBhvr>
                                    </p:animEffect>
                                    <p:anim calcmode="lin" valueType="num">
                                      <p:cBhvr>
                                        <p:cTn id="37" dur="600" fill="hold"/>
                                        <p:tgtEl>
                                          <p:spTgt spid="9"/>
                                        </p:tgtEl>
                                        <p:attrNameLst>
                                          <p:attrName>ppt_x</p:attrName>
                                        </p:attrNameLst>
                                      </p:cBhvr>
                                      <p:tavLst>
                                        <p:tav tm="0">
                                          <p:val>
                                            <p:strVal val="#ppt_x"/>
                                          </p:val>
                                        </p:tav>
                                        <p:tav tm="100000">
                                          <p:val>
                                            <p:strVal val="#ppt_x"/>
                                          </p:val>
                                        </p:tav>
                                      </p:tavLst>
                                    </p:anim>
                                    <p:anim calcmode="lin" valueType="num">
                                      <p:cBhvr>
                                        <p:cTn id="38" dur="600" fill="hold"/>
                                        <p:tgtEl>
                                          <p:spTgt spid="9"/>
                                        </p:tgtEl>
                                        <p:attrNameLst>
                                          <p:attrName>ppt_y</p:attrName>
                                        </p:attrNameLst>
                                      </p:cBhvr>
                                      <p:tavLst>
                                        <p:tav tm="0">
                                          <p:val>
                                            <p:strVal val="#ppt_y+.05"/>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600"/>
                                        <p:tgtEl>
                                          <p:spTgt spid="10"/>
                                        </p:tgtEl>
                                      </p:cBhvr>
                                    </p:animEffect>
                                    <p:anim calcmode="lin" valueType="num">
                                      <p:cBhvr>
                                        <p:cTn id="42" dur="600" fill="hold"/>
                                        <p:tgtEl>
                                          <p:spTgt spid="10"/>
                                        </p:tgtEl>
                                        <p:attrNameLst>
                                          <p:attrName>ppt_x</p:attrName>
                                        </p:attrNameLst>
                                      </p:cBhvr>
                                      <p:tavLst>
                                        <p:tav tm="0">
                                          <p:val>
                                            <p:strVal val="#ppt_x"/>
                                          </p:val>
                                        </p:tav>
                                        <p:tav tm="100000">
                                          <p:val>
                                            <p:strVal val="#ppt_x"/>
                                          </p:val>
                                        </p:tav>
                                      </p:tavLst>
                                    </p:anim>
                                    <p:anim calcmode="lin" valueType="num">
                                      <p:cBhvr>
                                        <p:cTn id="43" dur="600" fill="hold"/>
                                        <p:tgtEl>
                                          <p:spTgt spid="10"/>
                                        </p:tgtEl>
                                        <p:attrNameLst>
                                          <p:attrName>ppt_y</p:attrName>
                                        </p:attrNameLst>
                                      </p:cBhvr>
                                      <p:tavLst>
                                        <p:tav tm="0">
                                          <p:val>
                                            <p:strVal val="#ppt_y+.05"/>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6" presetID="42" presetClass="entr" presetSubtype="0" fill="hold" grpId="0" nodeType="clickEffect">
                                  <p:stCondLst>
                                    <p:cond delay="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fill="hold"/>
                                        <p:tgtEl>
                                          <p:spTgt spid="11"/>
                                        </p:tgtEl>
                                        <p:attrNameLst>
                                          <p:attrName>ppt_x</p:attrName>
                                        </p:attrNameLst>
                                      </p:cBhvr>
                                      <p:tavLst>
                                        <p:tav tm="0">
                                          <p:val>
                                            <p:strVal val="#ppt_x"/>
                                          </p:val>
                                        </p:tav>
                                        <p:tav tm="100000">
                                          <p:val>
                                            <p:strVal val="#ppt_x"/>
                                          </p:val>
                                        </p:tav>
                                      </p:tavLst>
                                    </p:anim>
                                    <p:anim calcmode="lin" valueType="num">
                                      <p:cBhvr>
                                        <p:cTn id="50" dur="600" fill="hold"/>
                                        <p:tgtEl>
                                          <p:spTgt spid="11"/>
                                        </p:tgtEl>
                                        <p:attrNameLst>
                                          <p:attrName>ppt_y</p:attrName>
                                        </p:attrNameLst>
                                      </p:cBhvr>
                                      <p:tavLst>
                                        <p:tav tm="0">
                                          <p:val>
                                            <p:strVal val="#ppt_y+.05"/>
                                          </p:val>
                                        </p:tav>
                                        <p:tav tm="100000">
                                          <p:val>
                                            <p:strVal val="#ppt_y"/>
                                          </p:val>
                                        </p:tav>
                                      </p:tavLst>
                                    </p:anim>
                                  </p:childTnLst>
                                </p:cTn>
                              </p:par>
                              <p:par>
                                <p:cTn id="51" presetID="42" presetClass="entr" presetSubtype="0" fill="hold" grpId="0" nodeType="withEffect">
                                  <p:stCondLst>
                                    <p:cond delay="2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fill="hold"/>
                                        <p:tgtEl>
                                          <p:spTgt spid="12"/>
                                        </p:tgtEl>
                                        <p:attrNameLst>
                                          <p:attrName>ppt_x</p:attrName>
                                        </p:attrNameLst>
                                      </p:cBhvr>
                                      <p:tavLst>
                                        <p:tav tm="0">
                                          <p:val>
                                            <p:strVal val="#ppt_x"/>
                                          </p:val>
                                        </p:tav>
                                        <p:tav tm="100000">
                                          <p:val>
                                            <p:strVal val="#ppt_x"/>
                                          </p:val>
                                        </p:tav>
                                      </p:tavLst>
                                    </p:anim>
                                    <p:anim calcmode="lin" valueType="num">
                                      <p:cBhvr>
                                        <p:cTn id="55" dur="600" fill="hold"/>
                                        <p:tgtEl>
                                          <p:spTgt spid="12"/>
                                        </p:tgtEl>
                                        <p:attrNameLst>
                                          <p:attrName>ppt_y</p:attrName>
                                        </p:attrNameLst>
                                      </p:cBhvr>
                                      <p:tavLst>
                                        <p:tav tm="0">
                                          <p:val>
                                            <p:strVal val="#ppt_y+.05"/>
                                          </p:val>
                                        </p:tav>
                                        <p:tav tm="100000">
                                          <p:val>
                                            <p:strVal val="#ppt_y"/>
                                          </p:val>
                                        </p:tav>
                                      </p:tavLst>
                                    </p:anim>
                                  </p:childTnLst>
                                </p:cTn>
                              </p:par>
                              <p:par>
                                <p:cTn id="56" presetID="53" presetClass="entr" presetSubtype="16" fill="hold" grpId="0" nodeType="withEffect">
                                  <p:stCondLst>
                                    <p:cond delay="200"/>
                                  </p:stCondLst>
                                  <p:childTnLst>
                                    <p:set>
                                      <p:cBhvr>
                                        <p:cTn id="57" dur="1" fill="hold">
                                          <p:stCondLst>
                                            <p:cond delay="0"/>
                                          </p:stCondLst>
                                        </p:cTn>
                                        <p:tgtEl>
                                          <p:spTgt spid="13"/>
                                        </p:tgtEl>
                                        <p:attrNameLst>
                                          <p:attrName>style.visibility</p:attrName>
                                        </p:attrNameLst>
                                      </p:cBhvr>
                                      <p:to>
                                        <p:strVal val="visible"/>
                                      </p:to>
                                    </p:set>
                                    <p:anim calcmode="lin" valueType="num">
                                      <p:cBhvr>
                                        <p:cTn id="58" dur="500" fill="hold"/>
                                        <p:tgtEl>
                                          <p:spTgt spid="13"/>
                                        </p:tgtEl>
                                        <p:attrNameLst>
                                          <p:attrName>ppt_w</p:attrName>
                                        </p:attrNameLst>
                                      </p:cBhvr>
                                      <p:tavLst>
                                        <p:tav tm="0">
                                          <p:val>
                                            <p:fltVal val="0"/>
                                          </p:val>
                                        </p:tav>
                                        <p:tav tm="100000">
                                          <p:val>
                                            <p:strVal val="#ppt_w"/>
                                          </p:val>
                                        </p:tav>
                                      </p:tavLst>
                                    </p:anim>
                                    <p:anim calcmode="lin" valueType="num">
                                      <p:cBhvr>
                                        <p:cTn id="59" dur="500" fill="hold"/>
                                        <p:tgtEl>
                                          <p:spTgt spid="13"/>
                                        </p:tgtEl>
                                        <p:attrNameLst>
                                          <p:attrName>ppt_h</p:attrName>
                                        </p:attrNameLst>
                                      </p:cBhvr>
                                      <p:tavLst>
                                        <p:tav tm="0">
                                          <p:val>
                                            <p:fltVal val="0"/>
                                          </p:val>
                                        </p:tav>
                                        <p:tav tm="100000">
                                          <p:val>
                                            <p:strVal val="#ppt_h"/>
                                          </p:val>
                                        </p:tav>
                                      </p:tavLst>
                                    </p:anim>
                                    <p:animEffect transition="in" filter="fade">
                                      <p:cBhvr>
                                        <p:cTn id="60" dur="500"/>
                                        <p:tgtEl>
                                          <p:spTgt spid="13"/>
                                        </p:tgtEl>
                                      </p:cBhvr>
                                    </p:animEffect>
                                  </p:childTnLst>
                                </p:cTn>
                              </p:par>
                              <p:par>
                                <p:cTn id="61" presetID="53" presetClass="entr" presetSubtype="16" fill="hold" grpId="0" nodeType="withEffect">
                                  <p:stCondLst>
                                    <p:cond delay="200"/>
                                  </p:stCondLst>
                                  <p:childTnLst>
                                    <p:set>
                                      <p:cBhvr>
                                        <p:cTn id="62" dur="1" fill="hold">
                                          <p:stCondLst>
                                            <p:cond delay="0"/>
                                          </p:stCondLst>
                                        </p:cTn>
                                        <p:tgtEl>
                                          <p:spTgt spid="14"/>
                                        </p:tgtEl>
                                        <p:attrNameLst>
                                          <p:attrName>style.visibility</p:attrName>
                                        </p:attrNameLst>
                                      </p:cBhvr>
                                      <p:to>
                                        <p:strVal val="visible"/>
                                      </p:to>
                                    </p:set>
                                    <p:anim calcmode="lin" valueType="num">
                                      <p:cBhvr>
                                        <p:cTn id="63" dur="500" fill="hold"/>
                                        <p:tgtEl>
                                          <p:spTgt spid="14"/>
                                        </p:tgtEl>
                                        <p:attrNameLst>
                                          <p:attrName>ppt_w</p:attrName>
                                        </p:attrNameLst>
                                      </p:cBhvr>
                                      <p:tavLst>
                                        <p:tav tm="0">
                                          <p:val>
                                            <p:fltVal val="0"/>
                                          </p:val>
                                        </p:tav>
                                        <p:tav tm="100000">
                                          <p:val>
                                            <p:strVal val="#ppt_w"/>
                                          </p:val>
                                        </p:tav>
                                      </p:tavLst>
                                    </p:anim>
                                    <p:anim calcmode="lin" valueType="num">
                                      <p:cBhvr>
                                        <p:cTn id="64" dur="500" fill="hold"/>
                                        <p:tgtEl>
                                          <p:spTgt spid="14"/>
                                        </p:tgtEl>
                                        <p:attrNameLst>
                                          <p:attrName>ppt_h</p:attrName>
                                        </p:attrNameLst>
                                      </p:cBhvr>
                                      <p:tavLst>
                                        <p:tav tm="0">
                                          <p:val>
                                            <p:fltVal val="0"/>
                                          </p:val>
                                        </p:tav>
                                        <p:tav tm="100000">
                                          <p:val>
                                            <p:strVal val="#ppt_h"/>
                                          </p:val>
                                        </p:tav>
                                      </p:tavLst>
                                    </p:anim>
                                    <p:animEffect transition="in" filter="fade">
                                      <p:cBhvr>
                                        <p:cTn id="65" dur="500"/>
                                        <p:tgtEl>
                                          <p:spTgt spid="14"/>
                                        </p:tgtEl>
                                      </p:cBhvr>
                                    </p:animEffect>
                                  </p:childTnLst>
                                </p:cTn>
                              </p:par>
                              <p:par>
                                <p:cTn id="66" presetID="42" presetClass="entr" presetSubtype="0" fill="hold" grpId="0" nodeType="withEffect">
                                  <p:stCondLst>
                                    <p:cond delay="2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fill="hold"/>
                                        <p:tgtEl>
                                          <p:spTgt spid="15"/>
                                        </p:tgtEl>
                                        <p:attrNameLst>
                                          <p:attrName>ppt_x</p:attrName>
                                        </p:attrNameLst>
                                      </p:cBhvr>
                                      <p:tavLst>
                                        <p:tav tm="0">
                                          <p:val>
                                            <p:strVal val="#ppt_x"/>
                                          </p:val>
                                        </p:tav>
                                        <p:tav tm="100000">
                                          <p:val>
                                            <p:strVal val="#ppt_x"/>
                                          </p:val>
                                        </p:tav>
                                      </p:tavLst>
                                    </p:anim>
                                    <p:anim calcmode="lin" valueType="num">
                                      <p:cBhvr>
                                        <p:cTn id="70" dur="600" fill="hold"/>
                                        <p:tgtEl>
                                          <p:spTgt spid="15"/>
                                        </p:tgtEl>
                                        <p:attrNameLst>
                                          <p:attrName>ppt_y</p:attrName>
                                        </p:attrNameLst>
                                      </p:cBhvr>
                                      <p:tavLst>
                                        <p:tav tm="0">
                                          <p:val>
                                            <p:strVal val="#ppt_y+.05"/>
                                          </p:val>
                                        </p:tav>
                                        <p:tav tm="100000">
                                          <p:val>
                                            <p:strVal val="#ppt_y"/>
                                          </p:val>
                                        </p:tav>
                                      </p:tavLst>
                                    </p:anim>
                                  </p:childTnLst>
                                </p:cTn>
                              </p:par>
                              <p:par>
                                <p:cTn id="71" presetID="42" presetClass="entr" presetSubtype="0" fill="hold" grpId="0" nodeType="withEffect">
                                  <p:stCondLst>
                                    <p:cond delay="4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fill="hold"/>
                                        <p:tgtEl>
                                          <p:spTgt spid="16"/>
                                        </p:tgtEl>
                                        <p:attrNameLst>
                                          <p:attrName>ppt_x</p:attrName>
                                        </p:attrNameLst>
                                      </p:cBhvr>
                                      <p:tavLst>
                                        <p:tav tm="0">
                                          <p:val>
                                            <p:strVal val="#ppt_x"/>
                                          </p:val>
                                        </p:tav>
                                        <p:tav tm="100000">
                                          <p:val>
                                            <p:strVal val="#ppt_x"/>
                                          </p:val>
                                        </p:tav>
                                      </p:tavLst>
                                    </p:anim>
                                    <p:anim calcmode="lin" valueType="num">
                                      <p:cBhvr>
                                        <p:cTn id="75" dur="600" fill="hold"/>
                                        <p:tgtEl>
                                          <p:spTgt spid="16"/>
                                        </p:tgtEl>
                                        <p:attrNameLst>
                                          <p:attrName>ppt_y</p:attrName>
                                        </p:attrNameLst>
                                      </p:cBhvr>
                                      <p:tavLst>
                                        <p:tav tm="0">
                                          <p:val>
                                            <p:strVal val="#ppt_y+.05"/>
                                          </p:val>
                                        </p:tav>
                                        <p:tav tm="100000">
                                          <p:val>
                                            <p:strVal val="#ppt_y"/>
                                          </p:val>
                                        </p:tav>
                                      </p:tavLst>
                                    </p:anim>
                                  </p:childTnLst>
                                </p:cTn>
                              </p:par>
                              <p:par>
                                <p:cTn id="76" presetID="53" presetClass="entr" presetSubtype="16" fill="hold" grpId="0" nodeType="withEffect">
                                  <p:stCondLst>
                                    <p:cond delay="400"/>
                                  </p:stCondLst>
                                  <p:childTnLst>
                                    <p:set>
                                      <p:cBhvr>
                                        <p:cTn id="77" dur="1" fill="hold">
                                          <p:stCondLst>
                                            <p:cond delay="0"/>
                                          </p:stCondLst>
                                        </p:cTn>
                                        <p:tgtEl>
                                          <p:spTgt spid="17"/>
                                        </p:tgtEl>
                                        <p:attrNameLst>
                                          <p:attrName>style.visibility</p:attrName>
                                        </p:attrNameLst>
                                      </p:cBhvr>
                                      <p:to>
                                        <p:strVal val="visible"/>
                                      </p:to>
                                    </p:set>
                                    <p:anim calcmode="lin" valueType="num">
                                      <p:cBhvr>
                                        <p:cTn id="78" dur="500" fill="hold"/>
                                        <p:tgtEl>
                                          <p:spTgt spid="17"/>
                                        </p:tgtEl>
                                        <p:attrNameLst>
                                          <p:attrName>ppt_w</p:attrName>
                                        </p:attrNameLst>
                                      </p:cBhvr>
                                      <p:tavLst>
                                        <p:tav tm="0">
                                          <p:val>
                                            <p:fltVal val="0"/>
                                          </p:val>
                                        </p:tav>
                                        <p:tav tm="100000">
                                          <p:val>
                                            <p:strVal val="#ppt_w"/>
                                          </p:val>
                                        </p:tav>
                                      </p:tavLst>
                                    </p:anim>
                                    <p:anim calcmode="lin" valueType="num">
                                      <p:cBhvr>
                                        <p:cTn id="79" dur="500" fill="hold"/>
                                        <p:tgtEl>
                                          <p:spTgt spid="17"/>
                                        </p:tgtEl>
                                        <p:attrNameLst>
                                          <p:attrName>ppt_h</p:attrName>
                                        </p:attrNameLst>
                                      </p:cBhvr>
                                      <p:tavLst>
                                        <p:tav tm="0">
                                          <p:val>
                                            <p:fltVal val="0"/>
                                          </p:val>
                                        </p:tav>
                                        <p:tav tm="100000">
                                          <p:val>
                                            <p:strVal val="#ppt_h"/>
                                          </p:val>
                                        </p:tav>
                                      </p:tavLst>
                                    </p:anim>
                                    <p:animEffect transition="in" filter="fade">
                                      <p:cBhvr>
                                        <p:cTn id="80" dur="500"/>
                                        <p:tgtEl>
                                          <p:spTgt spid="17"/>
                                        </p:tgtEl>
                                      </p:cBhvr>
                                    </p:animEffect>
                                  </p:childTnLst>
                                </p:cTn>
                              </p:par>
                              <p:par>
                                <p:cTn id="81" presetID="53" presetClass="entr" presetSubtype="16" fill="hold" grpId="0" nodeType="withEffect">
                                  <p:stCondLst>
                                    <p:cond delay="400"/>
                                  </p:stCondLst>
                                  <p:childTnLst>
                                    <p:set>
                                      <p:cBhvr>
                                        <p:cTn id="82" dur="1" fill="hold">
                                          <p:stCondLst>
                                            <p:cond delay="0"/>
                                          </p:stCondLst>
                                        </p:cTn>
                                        <p:tgtEl>
                                          <p:spTgt spid="18"/>
                                        </p:tgtEl>
                                        <p:attrNameLst>
                                          <p:attrName>style.visibility</p:attrName>
                                        </p:attrNameLst>
                                      </p:cBhvr>
                                      <p:to>
                                        <p:strVal val="visible"/>
                                      </p:to>
                                    </p:set>
                                    <p:anim calcmode="lin" valueType="num">
                                      <p:cBhvr>
                                        <p:cTn id="83" dur="500" fill="hold"/>
                                        <p:tgtEl>
                                          <p:spTgt spid="18"/>
                                        </p:tgtEl>
                                        <p:attrNameLst>
                                          <p:attrName>ppt_w</p:attrName>
                                        </p:attrNameLst>
                                      </p:cBhvr>
                                      <p:tavLst>
                                        <p:tav tm="0">
                                          <p:val>
                                            <p:fltVal val="0"/>
                                          </p:val>
                                        </p:tav>
                                        <p:tav tm="100000">
                                          <p:val>
                                            <p:strVal val="#ppt_w"/>
                                          </p:val>
                                        </p:tav>
                                      </p:tavLst>
                                    </p:anim>
                                    <p:anim calcmode="lin" valueType="num">
                                      <p:cBhvr>
                                        <p:cTn id="84" dur="500" fill="hold"/>
                                        <p:tgtEl>
                                          <p:spTgt spid="18"/>
                                        </p:tgtEl>
                                        <p:attrNameLst>
                                          <p:attrName>ppt_h</p:attrName>
                                        </p:attrNameLst>
                                      </p:cBhvr>
                                      <p:tavLst>
                                        <p:tav tm="0">
                                          <p:val>
                                            <p:fltVal val="0"/>
                                          </p:val>
                                        </p:tav>
                                        <p:tav tm="100000">
                                          <p:val>
                                            <p:strVal val="#ppt_h"/>
                                          </p:val>
                                        </p:tav>
                                      </p:tavLst>
                                    </p:anim>
                                    <p:animEffect transition="in" filter="fade">
                                      <p:cBhvr>
                                        <p:cTn id="85" dur="500"/>
                                        <p:tgtEl>
                                          <p:spTgt spid="18"/>
                                        </p:tgtEl>
                                      </p:cBhvr>
                                    </p:animEffect>
                                  </p:childTnLst>
                                </p:cTn>
                              </p:par>
                              <p:par>
                                <p:cTn id="86" presetID="42" presetClass="entr" presetSubtype="0" fill="hold" grpId="0" nodeType="withEffect">
                                  <p:stCondLst>
                                    <p:cond delay="40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600"/>
                                        <p:tgtEl>
                                          <p:spTgt spid="19"/>
                                        </p:tgtEl>
                                      </p:cBhvr>
                                    </p:animEffect>
                                    <p:anim calcmode="lin" valueType="num">
                                      <p:cBhvr>
                                        <p:cTn id="89" dur="600" fill="hold"/>
                                        <p:tgtEl>
                                          <p:spTgt spid="19"/>
                                        </p:tgtEl>
                                        <p:attrNameLst>
                                          <p:attrName>ppt_x</p:attrName>
                                        </p:attrNameLst>
                                      </p:cBhvr>
                                      <p:tavLst>
                                        <p:tav tm="0">
                                          <p:val>
                                            <p:strVal val="#ppt_x"/>
                                          </p:val>
                                        </p:tav>
                                        <p:tav tm="100000">
                                          <p:val>
                                            <p:strVal val="#ppt_x"/>
                                          </p:val>
                                        </p:tav>
                                      </p:tavLst>
                                    </p:anim>
                                    <p:anim calcmode="lin" valueType="num">
                                      <p:cBhvr>
                                        <p:cTn id="90" dur="600" fill="hold"/>
                                        <p:tgtEl>
                                          <p:spTgt spid="19"/>
                                        </p:tgtEl>
                                        <p:attrNameLst>
                                          <p:attrName>ppt_y</p:attrName>
                                        </p:attrNameLst>
                                      </p:cBhvr>
                                      <p:tavLst>
                                        <p:tav tm="0">
                                          <p:val>
                                            <p:strVal val="#ppt_y+.05"/>
                                          </p:val>
                                        </p:tav>
                                        <p:tav tm="100000">
                                          <p:val>
                                            <p:strVal val="#ppt_y"/>
                                          </p:val>
                                        </p:tav>
                                      </p:tavLst>
                                    </p:anim>
                                  </p:childTnLst>
                                </p:cTn>
                              </p:par>
                              <p:par>
                                <p:cTn id="91" presetID="42" presetClass="entr" presetSubtype="0" fill="hold" grpId="0" nodeType="withEffect">
                                  <p:stCondLst>
                                    <p:cond delay="600"/>
                                  </p:stCondLst>
                                  <p:childTnLst>
                                    <p:set>
                                      <p:cBhvr>
                                        <p:cTn id="92" dur="1" fill="hold">
                                          <p:stCondLst>
                                            <p:cond delay="0"/>
                                          </p:stCondLst>
                                        </p:cTn>
                                        <p:tgtEl>
                                          <p:spTgt spid="20"/>
                                        </p:tgtEl>
                                        <p:attrNameLst>
                                          <p:attrName>style.visibility</p:attrName>
                                        </p:attrNameLst>
                                      </p:cBhvr>
                                      <p:to>
                                        <p:strVal val="visible"/>
                                      </p:to>
                                    </p:set>
                                    <p:animEffect transition="in" filter="fade">
                                      <p:cBhvr>
                                        <p:cTn id="93" dur="600"/>
                                        <p:tgtEl>
                                          <p:spTgt spid="20"/>
                                        </p:tgtEl>
                                      </p:cBhvr>
                                    </p:animEffect>
                                    <p:anim calcmode="lin" valueType="num">
                                      <p:cBhvr>
                                        <p:cTn id="94" dur="600" fill="hold"/>
                                        <p:tgtEl>
                                          <p:spTgt spid="20"/>
                                        </p:tgtEl>
                                        <p:attrNameLst>
                                          <p:attrName>ppt_x</p:attrName>
                                        </p:attrNameLst>
                                      </p:cBhvr>
                                      <p:tavLst>
                                        <p:tav tm="0">
                                          <p:val>
                                            <p:strVal val="#ppt_x"/>
                                          </p:val>
                                        </p:tav>
                                        <p:tav tm="100000">
                                          <p:val>
                                            <p:strVal val="#ppt_x"/>
                                          </p:val>
                                        </p:tav>
                                      </p:tavLst>
                                    </p:anim>
                                    <p:anim calcmode="lin" valueType="num">
                                      <p:cBhvr>
                                        <p:cTn id="95" dur="600" fill="hold"/>
                                        <p:tgtEl>
                                          <p:spTgt spid="20"/>
                                        </p:tgtEl>
                                        <p:attrNameLst>
                                          <p:attrName>ppt_y</p:attrName>
                                        </p:attrNameLst>
                                      </p:cBhvr>
                                      <p:tavLst>
                                        <p:tav tm="0">
                                          <p:val>
                                            <p:strVal val="#ppt_y+.05"/>
                                          </p:val>
                                        </p:tav>
                                        <p:tav tm="100000">
                                          <p:val>
                                            <p:strVal val="#ppt_y"/>
                                          </p:val>
                                        </p:tav>
                                      </p:tavLst>
                                    </p:anim>
                                  </p:childTnLst>
                                </p:cTn>
                              </p:par>
                              <p:par>
                                <p:cTn id="96" presetID="53" presetClass="entr" presetSubtype="16" fill="hold" grpId="0" nodeType="withEffect">
                                  <p:stCondLst>
                                    <p:cond delay="600"/>
                                  </p:stCondLst>
                                  <p:childTnLst>
                                    <p:set>
                                      <p:cBhvr>
                                        <p:cTn id="97" dur="1" fill="hold">
                                          <p:stCondLst>
                                            <p:cond delay="0"/>
                                          </p:stCondLst>
                                        </p:cTn>
                                        <p:tgtEl>
                                          <p:spTgt spid="21"/>
                                        </p:tgtEl>
                                        <p:attrNameLst>
                                          <p:attrName>style.visibility</p:attrName>
                                        </p:attrNameLst>
                                      </p:cBhvr>
                                      <p:to>
                                        <p:strVal val="visible"/>
                                      </p:to>
                                    </p:set>
                                    <p:anim calcmode="lin" valueType="num">
                                      <p:cBhvr>
                                        <p:cTn id="98" dur="500" fill="hold"/>
                                        <p:tgtEl>
                                          <p:spTgt spid="21"/>
                                        </p:tgtEl>
                                        <p:attrNameLst>
                                          <p:attrName>ppt_w</p:attrName>
                                        </p:attrNameLst>
                                      </p:cBhvr>
                                      <p:tavLst>
                                        <p:tav tm="0">
                                          <p:val>
                                            <p:fltVal val="0"/>
                                          </p:val>
                                        </p:tav>
                                        <p:tav tm="100000">
                                          <p:val>
                                            <p:strVal val="#ppt_w"/>
                                          </p:val>
                                        </p:tav>
                                      </p:tavLst>
                                    </p:anim>
                                    <p:anim calcmode="lin" valueType="num">
                                      <p:cBhvr>
                                        <p:cTn id="99" dur="500" fill="hold"/>
                                        <p:tgtEl>
                                          <p:spTgt spid="21"/>
                                        </p:tgtEl>
                                        <p:attrNameLst>
                                          <p:attrName>ppt_h</p:attrName>
                                        </p:attrNameLst>
                                      </p:cBhvr>
                                      <p:tavLst>
                                        <p:tav tm="0">
                                          <p:val>
                                            <p:fltVal val="0"/>
                                          </p:val>
                                        </p:tav>
                                        <p:tav tm="100000">
                                          <p:val>
                                            <p:strVal val="#ppt_h"/>
                                          </p:val>
                                        </p:tav>
                                      </p:tavLst>
                                    </p:anim>
                                    <p:animEffect transition="in" filter="fade">
                                      <p:cBhvr>
                                        <p:cTn id="100" dur="500"/>
                                        <p:tgtEl>
                                          <p:spTgt spid="21"/>
                                        </p:tgtEl>
                                      </p:cBhvr>
                                    </p:animEffect>
                                  </p:childTnLst>
                                </p:cTn>
                              </p:par>
                              <p:par>
                                <p:cTn id="101" presetID="53" presetClass="entr" presetSubtype="16" fill="hold" grpId="0" nodeType="withEffect">
                                  <p:stCondLst>
                                    <p:cond delay="600"/>
                                  </p:stCondLst>
                                  <p:childTnLst>
                                    <p:set>
                                      <p:cBhvr>
                                        <p:cTn id="102" dur="1" fill="hold">
                                          <p:stCondLst>
                                            <p:cond delay="0"/>
                                          </p:stCondLst>
                                        </p:cTn>
                                        <p:tgtEl>
                                          <p:spTgt spid="22"/>
                                        </p:tgtEl>
                                        <p:attrNameLst>
                                          <p:attrName>style.visibility</p:attrName>
                                        </p:attrNameLst>
                                      </p:cBhvr>
                                      <p:to>
                                        <p:strVal val="visible"/>
                                      </p:to>
                                    </p:set>
                                    <p:anim calcmode="lin" valueType="num">
                                      <p:cBhvr>
                                        <p:cTn id="103" dur="500" fill="hold"/>
                                        <p:tgtEl>
                                          <p:spTgt spid="22"/>
                                        </p:tgtEl>
                                        <p:attrNameLst>
                                          <p:attrName>ppt_w</p:attrName>
                                        </p:attrNameLst>
                                      </p:cBhvr>
                                      <p:tavLst>
                                        <p:tav tm="0">
                                          <p:val>
                                            <p:fltVal val="0"/>
                                          </p:val>
                                        </p:tav>
                                        <p:tav tm="100000">
                                          <p:val>
                                            <p:strVal val="#ppt_w"/>
                                          </p:val>
                                        </p:tav>
                                      </p:tavLst>
                                    </p:anim>
                                    <p:anim calcmode="lin" valueType="num">
                                      <p:cBhvr>
                                        <p:cTn id="104" dur="500" fill="hold"/>
                                        <p:tgtEl>
                                          <p:spTgt spid="22"/>
                                        </p:tgtEl>
                                        <p:attrNameLst>
                                          <p:attrName>ppt_h</p:attrName>
                                        </p:attrNameLst>
                                      </p:cBhvr>
                                      <p:tavLst>
                                        <p:tav tm="0">
                                          <p:val>
                                            <p:fltVal val="0"/>
                                          </p:val>
                                        </p:tav>
                                        <p:tav tm="100000">
                                          <p:val>
                                            <p:strVal val="#ppt_h"/>
                                          </p:val>
                                        </p:tav>
                                      </p:tavLst>
                                    </p:anim>
                                    <p:animEffect transition="in" filter="fade">
                                      <p:cBhvr>
                                        <p:cTn id="105" dur="500"/>
                                        <p:tgtEl>
                                          <p:spTgt spid="22"/>
                                        </p:tgtEl>
                                      </p:cBhvr>
                                    </p:animEffect>
                                  </p:childTnLst>
                                </p:cTn>
                              </p:par>
                              <p:par>
                                <p:cTn id="106" presetID="42" presetClass="entr" presetSubtype="0" fill="hold" grpId="0" nodeType="withEffect">
                                  <p:stCondLst>
                                    <p:cond delay="600"/>
                                  </p:stCondLst>
                                  <p:childTnLst>
                                    <p:set>
                                      <p:cBhvr>
                                        <p:cTn id="107" dur="1" fill="hold">
                                          <p:stCondLst>
                                            <p:cond delay="0"/>
                                          </p:stCondLst>
                                        </p:cTn>
                                        <p:tgtEl>
                                          <p:spTgt spid="23"/>
                                        </p:tgtEl>
                                        <p:attrNameLst>
                                          <p:attrName>style.visibility</p:attrName>
                                        </p:attrNameLst>
                                      </p:cBhvr>
                                      <p:to>
                                        <p:strVal val="visible"/>
                                      </p:to>
                                    </p:set>
                                    <p:animEffect transition="in" filter="fade">
                                      <p:cBhvr>
                                        <p:cTn id="108" dur="600"/>
                                        <p:tgtEl>
                                          <p:spTgt spid="23"/>
                                        </p:tgtEl>
                                      </p:cBhvr>
                                    </p:animEffect>
                                    <p:anim calcmode="lin" valueType="num">
                                      <p:cBhvr>
                                        <p:cTn id="109" dur="600" fill="hold"/>
                                        <p:tgtEl>
                                          <p:spTgt spid="23"/>
                                        </p:tgtEl>
                                        <p:attrNameLst>
                                          <p:attrName>ppt_x</p:attrName>
                                        </p:attrNameLst>
                                      </p:cBhvr>
                                      <p:tavLst>
                                        <p:tav tm="0">
                                          <p:val>
                                            <p:strVal val="#ppt_x"/>
                                          </p:val>
                                        </p:tav>
                                        <p:tav tm="100000">
                                          <p:val>
                                            <p:strVal val="#ppt_x"/>
                                          </p:val>
                                        </p:tav>
                                      </p:tavLst>
                                    </p:anim>
                                    <p:anim calcmode="lin" valueType="num">
                                      <p:cBhvr>
                                        <p:cTn id="110" dur="600" fill="hold"/>
                                        <p:tgtEl>
                                          <p:spTgt spid="23"/>
                                        </p:tgtEl>
                                        <p:attrNameLst>
                                          <p:attrName>ppt_y</p:attrName>
                                        </p:attrNameLst>
                                      </p:cBhvr>
                                      <p:tavLst>
                                        <p:tav tm="0">
                                          <p:val>
                                            <p:strVal val="#ppt_y+.05"/>
                                          </p:val>
                                        </p:tav>
                                        <p:tav tm="100000">
                                          <p:val>
                                            <p:strVal val="#ppt_y"/>
                                          </p:val>
                                        </p:tav>
                                      </p:tavLst>
                                    </p:anim>
                                  </p:childTnLst>
                                </p:cTn>
                              </p:par>
                              <p:par>
                                <p:cTn id="111" presetID="42" presetClass="entr" presetSubtype="0" fill="hold" grpId="0" nodeType="withEffect">
                                  <p:stCondLst>
                                    <p:cond delay="800"/>
                                  </p:stCondLst>
                                  <p:childTnLst>
                                    <p:set>
                                      <p:cBhvr>
                                        <p:cTn id="112" dur="1" fill="hold">
                                          <p:stCondLst>
                                            <p:cond delay="0"/>
                                          </p:stCondLst>
                                        </p:cTn>
                                        <p:tgtEl>
                                          <p:spTgt spid="24"/>
                                        </p:tgtEl>
                                        <p:attrNameLst>
                                          <p:attrName>style.visibility</p:attrName>
                                        </p:attrNameLst>
                                      </p:cBhvr>
                                      <p:to>
                                        <p:strVal val="visible"/>
                                      </p:to>
                                    </p:set>
                                    <p:animEffect transition="in" filter="fade">
                                      <p:cBhvr>
                                        <p:cTn id="113" dur="600"/>
                                        <p:tgtEl>
                                          <p:spTgt spid="24"/>
                                        </p:tgtEl>
                                      </p:cBhvr>
                                    </p:animEffect>
                                    <p:anim calcmode="lin" valueType="num">
                                      <p:cBhvr>
                                        <p:cTn id="114" dur="600" fill="hold"/>
                                        <p:tgtEl>
                                          <p:spTgt spid="24"/>
                                        </p:tgtEl>
                                        <p:attrNameLst>
                                          <p:attrName>ppt_x</p:attrName>
                                        </p:attrNameLst>
                                      </p:cBhvr>
                                      <p:tavLst>
                                        <p:tav tm="0">
                                          <p:val>
                                            <p:strVal val="#ppt_x"/>
                                          </p:val>
                                        </p:tav>
                                        <p:tav tm="100000">
                                          <p:val>
                                            <p:strVal val="#ppt_x"/>
                                          </p:val>
                                        </p:tav>
                                      </p:tavLst>
                                    </p:anim>
                                    <p:anim calcmode="lin" valueType="num">
                                      <p:cBhvr>
                                        <p:cTn id="115" dur="600" fill="hold"/>
                                        <p:tgtEl>
                                          <p:spTgt spid="24"/>
                                        </p:tgtEl>
                                        <p:attrNameLst>
                                          <p:attrName>ppt_y</p:attrName>
                                        </p:attrNameLst>
                                      </p:cBhvr>
                                      <p:tavLst>
                                        <p:tav tm="0">
                                          <p:val>
                                            <p:strVal val="#ppt_y+.05"/>
                                          </p:val>
                                        </p:tav>
                                        <p:tav tm="100000">
                                          <p:val>
                                            <p:strVal val="#ppt_y"/>
                                          </p:val>
                                        </p:tav>
                                      </p:tavLst>
                                    </p:anim>
                                  </p:childTnLst>
                                </p:cTn>
                              </p:par>
                              <p:par>
                                <p:cTn id="116" presetID="53" presetClass="entr" presetSubtype="16" fill="hold" grpId="0" nodeType="withEffect">
                                  <p:stCondLst>
                                    <p:cond delay="800"/>
                                  </p:stCondLst>
                                  <p:childTnLst>
                                    <p:set>
                                      <p:cBhvr>
                                        <p:cTn id="117" dur="1" fill="hold">
                                          <p:stCondLst>
                                            <p:cond delay="0"/>
                                          </p:stCondLst>
                                        </p:cTn>
                                        <p:tgtEl>
                                          <p:spTgt spid="25"/>
                                        </p:tgtEl>
                                        <p:attrNameLst>
                                          <p:attrName>style.visibility</p:attrName>
                                        </p:attrNameLst>
                                      </p:cBhvr>
                                      <p:to>
                                        <p:strVal val="visible"/>
                                      </p:to>
                                    </p:set>
                                    <p:anim calcmode="lin" valueType="num">
                                      <p:cBhvr>
                                        <p:cTn id="118" dur="500" fill="hold"/>
                                        <p:tgtEl>
                                          <p:spTgt spid="25"/>
                                        </p:tgtEl>
                                        <p:attrNameLst>
                                          <p:attrName>ppt_w</p:attrName>
                                        </p:attrNameLst>
                                      </p:cBhvr>
                                      <p:tavLst>
                                        <p:tav tm="0">
                                          <p:val>
                                            <p:fltVal val="0"/>
                                          </p:val>
                                        </p:tav>
                                        <p:tav tm="100000">
                                          <p:val>
                                            <p:strVal val="#ppt_w"/>
                                          </p:val>
                                        </p:tav>
                                      </p:tavLst>
                                    </p:anim>
                                    <p:anim calcmode="lin" valueType="num">
                                      <p:cBhvr>
                                        <p:cTn id="119" dur="500" fill="hold"/>
                                        <p:tgtEl>
                                          <p:spTgt spid="25"/>
                                        </p:tgtEl>
                                        <p:attrNameLst>
                                          <p:attrName>ppt_h</p:attrName>
                                        </p:attrNameLst>
                                      </p:cBhvr>
                                      <p:tavLst>
                                        <p:tav tm="0">
                                          <p:val>
                                            <p:fltVal val="0"/>
                                          </p:val>
                                        </p:tav>
                                        <p:tav tm="100000">
                                          <p:val>
                                            <p:strVal val="#ppt_h"/>
                                          </p:val>
                                        </p:tav>
                                      </p:tavLst>
                                    </p:anim>
                                    <p:animEffect transition="in" filter="fade">
                                      <p:cBhvr>
                                        <p:cTn id="120" dur="500"/>
                                        <p:tgtEl>
                                          <p:spTgt spid="25"/>
                                        </p:tgtEl>
                                      </p:cBhvr>
                                    </p:animEffect>
                                  </p:childTnLst>
                                </p:cTn>
                              </p:par>
                              <p:par>
                                <p:cTn id="121" presetID="53" presetClass="entr" presetSubtype="16" fill="hold" grpId="0" nodeType="withEffect">
                                  <p:stCondLst>
                                    <p:cond delay="800"/>
                                  </p:stCondLst>
                                  <p:childTnLst>
                                    <p:set>
                                      <p:cBhvr>
                                        <p:cTn id="122" dur="1" fill="hold">
                                          <p:stCondLst>
                                            <p:cond delay="0"/>
                                          </p:stCondLst>
                                        </p:cTn>
                                        <p:tgtEl>
                                          <p:spTgt spid="26"/>
                                        </p:tgtEl>
                                        <p:attrNameLst>
                                          <p:attrName>style.visibility</p:attrName>
                                        </p:attrNameLst>
                                      </p:cBhvr>
                                      <p:to>
                                        <p:strVal val="visible"/>
                                      </p:to>
                                    </p:set>
                                    <p:anim calcmode="lin" valueType="num">
                                      <p:cBhvr>
                                        <p:cTn id="123" dur="500" fill="hold"/>
                                        <p:tgtEl>
                                          <p:spTgt spid="26"/>
                                        </p:tgtEl>
                                        <p:attrNameLst>
                                          <p:attrName>ppt_w</p:attrName>
                                        </p:attrNameLst>
                                      </p:cBhvr>
                                      <p:tavLst>
                                        <p:tav tm="0">
                                          <p:val>
                                            <p:fltVal val="0"/>
                                          </p:val>
                                        </p:tav>
                                        <p:tav tm="100000">
                                          <p:val>
                                            <p:strVal val="#ppt_w"/>
                                          </p:val>
                                        </p:tav>
                                      </p:tavLst>
                                    </p:anim>
                                    <p:anim calcmode="lin" valueType="num">
                                      <p:cBhvr>
                                        <p:cTn id="124" dur="500" fill="hold"/>
                                        <p:tgtEl>
                                          <p:spTgt spid="26"/>
                                        </p:tgtEl>
                                        <p:attrNameLst>
                                          <p:attrName>ppt_h</p:attrName>
                                        </p:attrNameLst>
                                      </p:cBhvr>
                                      <p:tavLst>
                                        <p:tav tm="0">
                                          <p:val>
                                            <p:fltVal val="0"/>
                                          </p:val>
                                        </p:tav>
                                        <p:tav tm="100000">
                                          <p:val>
                                            <p:strVal val="#ppt_h"/>
                                          </p:val>
                                        </p:tav>
                                      </p:tavLst>
                                    </p:anim>
                                    <p:animEffect transition="in" filter="fade">
                                      <p:cBhvr>
                                        <p:cTn id="125" dur="500"/>
                                        <p:tgtEl>
                                          <p:spTgt spid="26"/>
                                        </p:tgtEl>
                                      </p:cBhvr>
                                    </p:animEffect>
                                  </p:childTnLst>
                                </p:cTn>
                              </p:par>
                              <p:par>
                                <p:cTn id="126" presetID="42" presetClass="entr" presetSubtype="0" fill="hold" grpId="0" nodeType="withEffect">
                                  <p:stCondLst>
                                    <p:cond delay="800"/>
                                  </p:stCondLst>
                                  <p:childTnLst>
                                    <p:set>
                                      <p:cBhvr>
                                        <p:cTn id="127" dur="1" fill="hold">
                                          <p:stCondLst>
                                            <p:cond delay="0"/>
                                          </p:stCondLst>
                                        </p:cTn>
                                        <p:tgtEl>
                                          <p:spTgt spid="27"/>
                                        </p:tgtEl>
                                        <p:attrNameLst>
                                          <p:attrName>style.visibility</p:attrName>
                                        </p:attrNameLst>
                                      </p:cBhvr>
                                      <p:to>
                                        <p:strVal val="visible"/>
                                      </p:to>
                                    </p:set>
                                    <p:animEffect transition="in" filter="fade">
                                      <p:cBhvr>
                                        <p:cTn id="128" dur="600"/>
                                        <p:tgtEl>
                                          <p:spTgt spid="27"/>
                                        </p:tgtEl>
                                      </p:cBhvr>
                                    </p:animEffect>
                                    <p:anim calcmode="lin" valueType="num">
                                      <p:cBhvr>
                                        <p:cTn id="129" dur="600" fill="hold"/>
                                        <p:tgtEl>
                                          <p:spTgt spid="27"/>
                                        </p:tgtEl>
                                        <p:attrNameLst>
                                          <p:attrName>ppt_x</p:attrName>
                                        </p:attrNameLst>
                                      </p:cBhvr>
                                      <p:tavLst>
                                        <p:tav tm="0">
                                          <p:val>
                                            <p:strVal val="#ppt_x"/>
                                          </p:val>
                                        </p:tav>
                                        <p:tav tm="100000">
                                          <p:val>
                                            <p:strVal val="#ppt_x"/>
                                          </p:val>
                                        </p:tav>
                                      </p:tavLst>
                                    </p:anim>
                                    <p:anim calcmode="lin" valueType="num">
                                      <p:cBhvr>
                                        <p:cTn id="130" dur="600" fill="hold"/>
                                        <p:tgtEl>
                                          <p:spTgt spid="27"/>
                                        </p:tgtEl>
                                        <p:attrNameLst>
                                          <p:attrName>ppt_y</p:attrName>
                                        </p:attrNameLst>
                                      </p:cBhvr>
                                      <p:tavLst>
                                        <p:tav tm="0">
                                          <p:val>
                                            <p:strVal val="#ppt_y+.05"/>
                                          </p:val>
                                        </p:tav>
                                        <p:tav tm="100000">
                                          <p:val>
                                            <p:strVal val="#ppt_y"/>
                                          </p:val>
                                        </p:tav>
                                      </p:tavLst>
                                    </p:anim>
                                  </p:childTnLst>
                                </p:cTn>
                              </p:par>
                              <p:par>
                                <p:cTn id="131" presetID="42" presetClass="entr" presetSubtype="0" fill="hold" grpId="0" nodeType="withEffect">
                                  <p:stCondLst>
                                    <p:cond delay="1000"/>
                                  </p:stCondLst>
                                  <p:childTnLst>
                                    <p:set>
                                      <p:cBhvr>
                                        <p:cTn id="132" dur="1" fill="hold">
                                          <p:stCondLst>
                                            <p:cond delay="0"/>
                                          </p:stCondLst>
                                        </p:cTn>
                                        <p:tgtEl>
                                          <p:spTgt spid="28"/>
                                        </p:tgtEl>
                                        <p:attrNameLst>
                                          <p:attrName>style.visibility</p:attrName>
                                        </p:attrNameLst>
                                      </p:cBhvr>
                                      <p:to>
                                        <p:strVal val="visible"/>
                                      </p:to>
                                    </p:set>
                                    <p:animEffect transition="in" filter="fade">
                                      <p:cBhvr>
                                        <p:cTn id="133" dur="600"/>
                                        <p:tgtEl>
                                          <p:spTgt spid="28"/>
                                        </p:tgtEl>
                                      </p:cBhvr>
                                    </p:animEffect>
                                    <p:anim calcmode="lin" valueType="num">
                                      <p:cBhvr>
                                        <p:cTn id="134" dur="600" fill="hold"/>
                                        <p:tgtEl>
                                          <p:spTgt spid="28"/>
                                        </p:tgtEl>
                                        <p:attrNameLst>
                                          <p:attrName>ppt_x</p:attrName>
                                        </p:attrNameLst>
                                      </p:cBhvr>
                                      <p:tavLst>
                                        <p:tav tm="0">
                                          <p:val>
                                            <p:strVal val="#ppt_x"/>
                                          </p:val>
                                        </p:tav>
                                        <p:tav tm="100000">
                                          <p:val>
                                            <p:strVal val="#ppt_x"/>
                                          </p:val>
                                        </p:tav>
                                      </p:tavLst>
                                    </p:anim>
                                    <p:anim calcmode="lin" valueType="num">
                                      <p:cBhvr>
                                        <p:cTn id="135" dur="600" fill="hold"/>
                                        <p:tgtEl>
                                          <p:spTgt spid="28"/>
                                        </p:tgtEl>
                                        <p:attrNameLst>
                                          <p:attrName>ppt_y</p:attrName>
                                        </p:attrNameLst>
                                      </p:cBhvr>
                                      <p:tavLst>
                                        <p:tav tm="0">
                                          <p:val>
                                            <p:strVal val="#ppt_y+.05"/>
                                          </p:val>
                                        </p:tav>
                                        <p:tav tm="100000">
                                          <p:val>
                                            <p:strVal val="#ppt_y"/>
                                          </p:val>
                                        </p:tav>
                                      </p:tavLst>
                                    </p:anim>
                                  </p:childTnLst>
                                </p:cTn>
                              </p:par>
                              <p:par>
                                <p:cTn id="136" presetID="53" presetClass="entr" presetSubtype="16" fill="hold" grpId="0" nodeType="withEffect">
                                  <p:stCondLst>
                                    <p:cond delay="1000"/>
                                  </p:stCondLst>
                                  <p:childTnLst>
                                    <p:set>
                                      <p:cBhvr>
                                        <p:cTn id="137" dur="1" fill="hold">
                                          <p:stCondLst>
                                            <p:cond delay="0"/>
                                          </p:stCondLst>
                                        </p:cTn>
                                        <p:tgtEl>
                                          <p:spTgt spid="29"/>
                                        </p:tgtEl>
                                        <p:attrNameLst>
                                          <p:attrName>style.visibility</p:attrName>
                                        </p:attrNameLst>
                                      </p:cBhvr>
                                      <p:to>
                                        <p:strVal val="visible"/>
                                      </p:to>
                                    </p:set>
                                    <p:anim calcmode="lin" valueType="num">
                                      <p:cBhvr>
                                        <p:cTn id="138" dur="500" fill="hold"/>
                                        <p:tgtEl>
                                          <p:spTgt spid="29"/>
                                        </p:tgtEl>
                                        <p:attrNameLst>
                                          <p:attrName>ppt_w</p:attrName>
                                        </p:attrNameLst>
                                      </p:cBhvr>
                                      <p:tavLst>
                                        <p:tav tm="0">
                                          <p:val>
                                            <p:fltVal val="0"/>
                                          </p:val>
                                        </p:tav>
                                        <p:tav tm="100000">
                                          <p:val>
                                            <p:strVal val="#ppt_w"/>
                                          </p:val>
                                        </p:tav>
                                      </p:tavLst>
                                    </p:anim>
                                    <p:anim calcmode="lin" valueType="num">
                                      <p:cBhvr>
                                        <p:cTn id="139" dur="500" fill="hold"/>
                                        <p:tgtEl>
                                          <p:spTgt spid="29"/>
                                        </p:tgtEl>
                                        <p:attrNameLst>
                                          <p:attrName>ppt_h</p:attrName>
                                        </p:attrNameLst>
                                      </p:cBhvr>
                                      <p:tavLst>
                                        <p:tav tm="0">
                                          <p:val>
                                            <p:fltVal val="0"/>
                                          </p:val>
                                        </p:tav>
                                        <p:tav tm="100000">
                                          <p:val>
                                            <p:strVal val="#ppt_h"/>
                                          </p:val>
                                        </p:tav>
                                      </p:tavLst>
                                    </p:anim>
                                    <p:animEffect transition="in" filter="fade">
                                      <p:cBhvr>
                                        <p:cTn id="140" dur="500"/>
                                        <p:tgtEl>
                                          <p:spTgt spid="29"/>
                                        </p:tgtEl>
                                      </p:cBhvr>
                                    </p:animEffect>
                                  </p:childTnLst>
                                </p:cTn>
                              </p:par>
                              <p:par>
                                <p:cTn id="141" presetID="53" presetClass="entr" presetSubtype="16" fill="hold" grpId="0" nodeType="withEffect">
                                  <p:stCondLst>
                                    <p:cond delay="1000"/>
                                  </p:stCondLst>
                                  <p:childTnLst>
                                    <p:set>
                                      <p:cBhvr>
                                        <p:cTn id="142" dur="1" fill="hold">
                                          <p:stCondLst>
                                            <p:cond delay="0"/>
                                          </p:stCondLst>
                                        </p:cTn>
                                        <p:tgtEl>
                                          <p:spTgt spid="30"/>
                                        </p:tgtEl>
                                        <p:attrNameLst>
                                          <p:attrName>style.visibility</p:attrName>
                                        </p:attrNameLst>
                                      </p:cBhvr>
                                      <p:to>
                                        <p:strVal val="visible"/>
                                      </p:to>
                                    </p:set>
                                    <p:anim calcmode="lin" valueType="num">
                                      <p:cBhvr>
                                        <p:cTn id="143" dur="500" fill="hold"/>
                                        <p:tgtEl>
                                          <p:spTgt spid="30"/>
                                        </p:tgtEl>
                                        <p:attrNameLst>
                                          <p:attrName>ppt_w</p:attrName>
                                        </p:attrNameLst>
                                      </p:cBhvr>
                                      <p:tavLst>
                                        <p:tav tm="0">
                                          <p:val>
                                            <p:fltVal val="0"/>
                                          </p:val>
                                        </p:tav>
                                        <p:tav tm="100000">
                                          <p:val>
                                            <p:strVal val="#ppt_w"/>
                                          </p:val>
                                        </p:tav>
                                      </p:tavLst>
                                    </p:anim>
                                    <p:anim calcmode="lin" valueType="num">
                                      <p:cBhvr>
                                        <p:cTn id="144" dur="500" fill="hold"/>
                                        <p:tgtEl>
                                          <p:spTgt spid="30"/>
                                        </p:tgtEl>
                                        <p:attrNameLst>
                                          <p:attrName>ppt_h</p:attrName>
                                        </p:attrNameLst>
                                      </p:cBhvr>
                                      <p:tavLst>
                                        <p:tav tm="0">
                                          <p:val>
                                            <p:fltVal val="0"/>
                                          </p:val>
                                        </p:tav>
                                        <p:tav tm="100000">
                                          <p:val>
                                            <p:strVal val="#ppt_h"/>
                                          </p:val>
                                        </p:tav>
                                      </p:tavLst>
                                    </p:anim>
                                    <p:animEffect transition="in" filter="fade">
                                      <p:cBhvr>
                                        <p:cTn id="145" dur="500"/>
                                        <p:tgtEl>
                                          <p:spTgt spid="30"/>
                                        </p:tgtEl>
                                      </p:cBhvr>
                                    </p:animEffect>
                                  </p:childTnLst>
                                </p:cTn>
                              </p:par>
                              <p:par>
                                <p:cTn id="146" presetID="42" presetClass="entr" presetSubtype="0" fill="hold" grpId="0" nodeType="withEffect">
                                  <p:stCondLst>
                                    <p:cond delay="1000"/>
                                  </p:stCondLst>
                                  <p:childTnLst>
                                    <p:set>
                                      <p:cBhvr>
                                        <p:cTn id="147" dur="1" fill="hold">
                                          <p:stCondLst>
                                            <p:cond delay="0"/>
                                          </p:stCondLst>
                                        </p:cTn>
                                        <p:tgtEl>
                                          <p:spTgt spid="31"/>
                                        </p:tgtEl>
                                        <p:attrNameLst>
                                          <p:attrName>style.visibility</p:attrName>
                                        </p:attrNameLst>
                                      </p:cBhvr>
                                      <p:to>
                                        <p:strVal val="visible"/>
                                      </p:to>
                                    </p:set>
                                    <p:animEffect transition="in" filter="fade">
                                      <p:cBhvr>
                                        <p:cTn id="148" dur="600"/>
                                        <p:tgtEl>
                                          <p:spTgt spid="31"/>
                                        </p:tgtEl>
                                      </p:cBhvr>
                                    </p:animEffect>
                                    <p:anim calcmode="lin" valueType="num">
                                      <p:cBhvr>
                                        <p:cTn id="149" dur="600" fill="hold"/>
                                        <p:tgtEl>
                                          <p:spTgt spid="31"/>
                                        </p:tgtEl>
                                        <p:attrNameLst>
                                          <p:attrName>ppt_x</p:attrName>
                                        </p:attrNameLst>
                                      </p:cBhvr>
                                      <p:tavLst>
                                        <p:tav tm="0">
                                          <p:val>
                                            <p:strVal val="#ppt_x"/>
                                          </p:val>
                                        </p:tav>
                                        <p:tav tm="100000">
                                          <p:val>
                                            <p:strVal val="#ppt_x"/>
                                          </p:val>
                                        </p:tav>
                                      </p:tavLst>
                                    </p:anim>
                                    <p:anim calcmode="lin" valueType="num">
                                      <p:cBhvr>
                                        <p:cTn id="150" dur="600" fill="hold"/>
                                        <p:tgtEl>
                                          <p:spTgt spid="31"/>
                                        </p:tgtEl>
                                        <p:attrNameLst>
                                          <p:attrName>ppt_y</p:attrName>
                                        </p:attrNameLst>
                                      </p:cBhvr>
                                      <p:tavLst>
                                        <p:tav tm="0">
                                          <p:val>
                                            <p:strVal val="#ppt_y+.05"/>
                                          </p:val>
                                        </p:tav>
                                        <p:tav tm="100000">
                                          <p:val>
                                            <p:strVal val="#ppt_y"/>
                                          </p:val>
                                        </p:tav>
                                      </p:tavLst>
                                    </p:anim>
                                  </p:childTnLst>
                                </p:cTn>
                              </p:par>
                              <p:par>
                                <p:cTn id="151" presetID="42" presetClass="entr" presetSubtype="0" fill="hold" grpId="0" nodeType="withEffect">
                                  <p:stCondLst>
                                    <p:cond delay="1200"/>
                                  </p:stCondLst>
                                  <p:childTnLst>
                                    <p:set>
                                      <p:cBhvr>
                                        <p:cTn id="152" dur="1" fill="hold">
                                          <p:stCondLst>
                                            <p:cond delay="0"/>
                                          </p:stCondLst>
                                        </p:cTn>
                                        <p:tgtEl>
                                          <p:spTgt spid="32"/>
                                        </p:tgtEl>
                                        <p:attrNameLst>
                                          <p:attrName>style.visibility</p:attrName>
                                        </p:attrNameLst>
                                      </p:cBhvr>
                                      <p:to>
                                        <p:strVal val="visible"/>
                                      </p:to>
                                    </p:set>
                                    <p:animEffect transition="in" filter="fade">
                                      <p:cBhvr>
                                        <p:cTn id="153" dur="600"/>
                                        <p:tgtEl>
                                          <p:spTgt spid="32"/>
                                        </p:tgtEl>
                                      </p:cBhvr>
                                    </p:animEffect>
                                    <p:anim calcmode="lin" valueType="num">
                                      <p:cBhvr>
                                        <p:cTn id="154" dur="600" fill="hold"/>
                                        <p:tgtEl>
                                          <p:spTgt spid="32"/>
                                        </p:tgtEl>
                                        <p:attrNameLst>
                                          <p:attrName>ppt_x</p:attrName>
                                        </p:attrNameLst>
                                      </p:cBhvr>
                                      <p:tavLst>
                                        <p:tav tm="0">
                                          <p:val>
                                            <p:strVal val="#ppt_x"/>
                                          </p:val>
                                        </p:tav>
                                        <p:tav tm="100000">
                                          <p:val>
                                            <p:strVal val="#ppt_x"/>
                                          </p:val>
                                        </p:tav>
                                      </p:tavLst>
                                    </p:anim>
                                    <p:anim calcmode="lin" valueType="num">
                                      <p:cBhvr>
                                        <p:cTn id="155" dur="600" fill="hold"/>
                                        <p:tgtEl>
                                          <p:spTgt spid="32"/>
                                        </p:tgtEl>
                                        <p:attrNameLst>
                                          <p:attrName>ppt_y</p:attrName>
                                        </p:attrNameLst>
                                      </p:cBhvr>
                                      <p:tavLst>
                                        <p:tav tm="0">
                                          <p:val>
                                            <p:strVal val="#ppt_y+.05"/>
                                          </p:val>
                                        </p:tav>
                                        <p:tav tm="100000">
                                          <p:val>
                                            <p:strVal val="#ppt_y"/>
                                          </p:val>
                                        </p:tav>
                                      </p:tavLst>
                                    </p:anim>
                                  </p:childTnLst>
                                </p:cTn>
                              </p:par>
                              <p:par>
                                <p:cTn id="156" presetID="53" presetClass="entr" presetSubtype="16" fill="hold" grpId="0" nodeType="withEffect">
                                  <p:stCondLst>
                                    <p:cond delay="1200"/>
                                  </p:stCondLst>
                                  <p:childTnLst>
                                    <p:set>
                                      <p:cBhvr>
                                        <p:cTn id="157" dur="1" fill="hold">
                                          <p:stCondLst>
                                            <p:cond delay="0"/>
                                          </p:stCondLst>
                                        </p:cTn>
                                        <p:tgtEl>
                                          <p:spTgt spid="33"/>
                                        </p:tgtEl>
                                        <p:attrNameLst>
                                          <p:attrName>style.visibility</p:attrName>
                                        </p:attrNameLst>
                                      </p:cBhvr>
                                      <p:to>
                                        <p:strVal val="visible"/>
                                      </p:to>
                                    </p:set>
                                    <p:anim calcmode="lin" valueType="num">
                                      <p:cBhvr>
                                        <p:cTn id="158" dur="500" fill="hold"/>
                                        <p:tgtEl>
                                          <p:spTgt spid="33"/>
                                        </p:tgtEl>
                                        <p:attrNameLst>
                                          <p:attrName>ppt_w</p:attrName>
                                        </p:attrNameLst>
                                      </p:cBhvr>
                                      <p:tavLst>
                                        <p:tav tm="0">
                                          <p:val>
                                            <p:fltVal val="0"/>
                                          </p:val>
                                        </p:tav>
                                        <p:tav tm="100000">
                                          <p:val>
                                            <p:strVal val="#ppt_w"/>
                                          </p:val>
                                        </p:tav>
                                      </p:tavLst>
                                    </p:anim>
                                    <p:anim calcmode="lin" valueType="num">
                                      <p:cBhvr>
                                        <p:cTn id="159" dur="500" fill="hold"/>
                                        <p:tgtEl>
                                          <p:spTgt spid="33"/>
                                        </p:tgtEl>
                                        <p:attrNameLst>
                                          <p:attrName>ppt_h</p:attrName>
                                        </p:attrNameLst>
                                      </p:cBhvr>
                                      <p:tavLst>
                                        <p:tav tm="0">
                                          <p:val>
                                            <p:fltVal val="0"/>
                                          </p:val>
                                        </p:tav>
                                        <p:tav tm="100000">
                                          <p:val>
                                            <p:strVal val="#ppt_h"/>
                                          </p:val>
                                        </p:tav>
                                      </p:tavLst>
                                    </p:anim>
                                    <p:animEffect transition="in" filter="fade">
                                      <p:cBhvr>
                                        <p:cTn id="160" dur="500"/>
                                        <p:tgtEl>
                                          <p:spTgt spid="33"/>
                                        </p:tgtEl>
                                      </p:cBhvr>
                                    </p:animEffect>
                                  </p:childTnLst>
                                </p:cTn>
                              </p:par>
                              <p:par>
                                <p:cTn id="161" presetID="53" presetClass="entr" presetSubtype="16" fill="hold" grpId="0" nodeType="withEffect">
                                  <p:stCondLst>
                                    <p:cond delay="1200"/>
                                  </p:stCondLst>
                                  <p:childTnLst>
                                    <p:set>
                                      <p:cBhvr>
                                        <p:cTn id="162" dur="1" fill="hold">
                                          <p:stCondLst>
                                            <p:cond delay="0"/>
                                          </p:stCondLst>
                                        </p:cTn>
                                        <p:tgtEl>
                                          <p:spTgt spid="34"/>
                                        </p:tgtEl>
                                        <p:attrNameLst>
                                          <p:attrName>style.visibility</p:attrName>
                                        </p:attrNameLst>
                                      </p:cBhvr>
                                      <p:to>
                                        <p:strVal val="visible"/>
                                      </p:to>
                                    </p:set>
                                    <p:anim calcmode="lin" valueType="num">
                                      <p:cBhvr>
                                        <p:cTn id="163" dur="500" fill="hold"/>
                                        <p:tgtEl>
                                          <p:spTgt spid="34"/>
                                        </p:tgtEl>
                                        <p:attrNameLst>
                                          <p:attrName>ppt_w</p:attrName>
                                        </p:attrNameLst>
                                      </p:cBhvr>
                                      <p:tavLst>
                                        <p:tav tm="0">
                                          <p:val>
                                            <p:fltVal val="0"/>
                                          </p:val>
                                        </p:tav>
                                        <p:tav tm="100000">
                                          <p:val>
                                            <p:strVal val="#ppt_w"/>
                                          </p:val>
                                        </p:tav>
                                      </p:tavLst>
                                    </p:anim>
                                    <p:anim calcmode="lin" valueType="num">
                                      <p:cBhvr>
                                        <p:cTn id="164" dur="500" fill="hold"/>
                                        <p:tgtEl>
                                          <p:spTgt spid="34"/>
                                        </p:tgtEl>
                                        <p:attrNameLst>
                                          <p:attrName>ppt_h</p:attrName>
                                        </p:attrNameLst>
                                      </p:cBhvr>
                                      <p:tavLst>
                                        <p:tav tm="0">
                                          <p:val>
                                            <p:fltVal val="0"/>
                                          </p:val>
                                        </p:tav>
                                        <p:tav tm="100000">
                                          <p:val>
                                            <p:strVal val="#ppt_h"/>
                                          </p:val>
                                        </p:tav>
                                      </p:tavLst>
                                    </p:anim>
                                    <p:animEffect transition="in" filter="fade">
                                      <p:cBhvr>
                                        <p:cTn id="165" dur="500"/>
                                        <p:tgtEl>
                                          <p:spTgt spid="34"/>
                                        </p:tgtEl>
                                      </p:cBhvr>
                                    </p:animEffect>
                                  </p:childTnLst>
                                </p:cTn>
                              </p:par>
                              <p:par>
                                <p:cTn id="166" presetID="42" presetClass="entr" presetSubtype="0" fill="hold" grpId="0" nodeType="withEffect">
                                  <p:stCondLst>
                                    <p:cond delay="1200"/>
                                  </p:stCondLst>
                                  <p:childTnLst>
                                    <p:set>
                                      <p:cBhvr>
                                        <p:cTn id="167" dur="1" fill="hold">
                                          <p:stCondLst>
                                            <p:cond delay="0"/>
                                          </p:stCondLst>
                                        </p:cTn>
                                        <p:tgtEl>
                                          <p:spTgt spid="35"/>
                                        </p:tgtEl>
                                        <p:attrNameLst>
                                          <p:attrName>style.visibility</p:attrName>
                                        </p:attrNameLst>
                                      </p:cBhvr>
                                      <p:to>
                                        <p:strVal val="visible"/>
                                      </p:to>
                                    </p:set>
                                    <p:animEffect transition="in" filter="fade">
                                      <p:cBhvr>
                                        <p:cTn id="168" dur="600"/>
                                        <p:tgtEl>
                                          <p:spTgt spid="35"/>
                                        </p:tgtEl>
                                      </p:cBhvr>
                                    </p:animEffect>
                                    <p:anim calcmode="lin" valueType="num">
                                      <p:cBhvr>
                                        <p:cTn id="169" dur="600" fill="hold"/>
                                        <p:tgtEl>
                                          <p:spTgt spid="35"/>
                                        </p:tgtEl>
                                        <p:attrNameLst>
                                          <p:attrName>ppt_x</p:attrName>
                                        </p:attrNameLst>
                                      </p:cBhvr>
                                      <p:tavLst>
                                        <p:tav tm="0">
                                          <p:val>
                                            <p:strVal val="#ppt_x"/>
                                          </p:val>
                                        </p:tav>
                                        <p:tav tm="100000">
                                          <p:val>
                                            <p:strVal val="#ppt_x"/>
                                          </p:val>
                                        </p:tav>
                                      </p:tavLst>
                                    </p:anim>
                                    <p:anim calcmode="lin" valueType="num">
                                      <p:cBhvr>
                                        <p:cTn id="170" dur="600" fill="hold"/>
                                        <p:tgtEl>
                                          <p:spTgt spid="35"/>
                                        </p:tgtEl>
                                        <p:attrNameLst>
                                          <p:attrName>ppt_y</p:attrName>
                                        </p:attrNameLst>
                                      </p:cBhvr>
                                      <p:tavLst>
                                        <p:tav tm="0">
                                          <p:val>
                                            <p:strVal val="#ppt_y+.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5" grpId="0" animBg="1"/>
      <p:bldP spid="16" grpId="0" animBg="1"/>
      <p:bldP spid="17" grpId="0" animBg="1"/>
      <p:bldP spid="19" grpId="0" animBg="1"/>
      <p:bldP spid="20" grpId="0" animBg="1"/>
      <p:bldP spid="21" grpId="0" animBg="1"/>
      <p:bldP spid="23" grpId="0" animBg="1"/>
      <p:bldP spid="24" grpId="0" animBg="1"/>
      <p:bldP spid="25" grpId="0" animBg="1"/>
      <p:bldP spid="27" grpId="0" animBg="1"/>
      <p:bldP spid="28" grpId="0" animBg="1"/>
      <p:bldP spid="29" grpId="0" animBg="1"/>
      <p:bldP spid="31" grpId="0" animBg="1"/>
      <p:bldP spid="32" grpId="0" animBg="1"/>
      <p:bldP spid="33" grpId="0" animBg="1"/>
      <p:bldP spid="3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chip"/>
          <p:cNvSpPr/>
          <p:nvPr/>
        </p:nvSpPr>
        <p:spPr>
          <a:xfrm>
            <a:off x="548640" y="237744"/>
            <a:ext cx="2226564"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050" b="1" spc="150" kern="0" dirty="0">
                <a:solidFill>
                  <a:schemeClr val="bg1"/>
                </a:solidFill>
              </a:rPr>
              <a:t>KANBAN · IMPLEMENTATION</a:t>
            </a:r>
            <a:endParaRPr lang="en-US" sz="1050" dirty="0"/>
          </a:p>
        </p:txBody>
      </p:sp>
      <p:sp>
        <p:nvSpPr>
          <p:cNvPr id="3" name="Text 0"/>
          <p:cNvSpPr/>
          <p:nvPr>
            <p:ph idx="100" type="title" hasCustomPrompt="1"/>
          </p:nvPr>
        </p:nvSpPr>
        <p:spPr>
          <a:xfrm>
            <a:off x="548640" y="566928"/>
            <a:ext cx="11094415" cy="731520"/>
          </a:xfrm>
          <a:prstGeom prst="rect">
            <a:avLst/>
          </a:prstGeom>
          <a:noFill/>
          <a:ln/>
        </p:spPr>
        <p:txBody>
          <a:bodyPr wrap="square" lIns="0" tIns="0" rIns="0" bIns="0" rtlCol="0" anchor="ctr"/>
          <a:lstStyle/>
          <a:p>
            <a:pPr algn="l" indent="0" marL="0">
              <a:buNone/>
            </a:pPr>
            <a:r>
              <a:rPr lang="en-US" sz="3400" b="1" dirty="0">
                <a:solidFill>
                  <a:schemeClr val="tx1"/>
                </a:solidFill>
              </a:rPr>
              <a:t>Kanban: implementation steps</a:t>
            </a:r>
            <a:endParaRPr lang="en-US" sz="3400" dirty="0"/>
          </a:p>
        </p:txBody>
      </p:sp>
      <p:sp>
        <p:nvSpPr>
          <p:cNvPr id="4" name="3DC_step"/>
          <p:cNvSpPr/>
          <p:nvPr/>
        </p:nvSpPr>
        <p:spPr>
          <a:xfrm>
            <a:off x="548640" y="1645920"/>
            <a:ext cx="6400800" cy="548640"/>
          </a:xfrm>
          <a:prstGeom prst="roundRect">
            <a:avLst>
              <a:gd name="adj" fmla="val 20000"/>
            </a:avLst>
          </a:prstGeom>
          <a:solidFill>
            <a:schemeClr val="bg2"/>
          </a:solidFill>
          <a:ln w="12700">
            <a:solidFill>
              <a:schemeClr val="bg2"/>
            </a:solidFill>
            <a:prstDash val="solid"/>
          </a:ln>
          <a:scene3d>
            <a:camera prst="orthographicFront"/>
            <a:lightRig rig="threePt" dir="t"/>
          </a:scene3d>
          <a:sp3d>
            <a:bevelT w="25400" h="12700" prst="softRound"/>
          </a:sp3d>
        </p:spPr>
      </p:sp>
      <p:sp>
        <p:nvSpPr>
          <p:cNvPr id="5" name="3DB_num"/>
          <p:cNvSpPr/>
          <p:nvPr/>
        </p:nvSpPr>
        <p:spPr>
          <a:xfrm>
            <a:off x="658368" y="1709928"/>
            <a:ext cx="420624" cy="420624"/>
          </a:xfrm>
          <a:prstGeom prst="ellipse">
            <a:avLst/>
          </a:prstGeom>
          <a:solidFill>
            <a:schemeClr val="accent1"/>
          </a:solidFill>
          <a:ln>
            <a:solidFill>
              <a:schemeClr val="accent1"/>
            </a:solidFill>
          </a:ln>
          <a:scene3d>
            <a:camera prst="orthographicFront"/>
            <a:lightRig rig="threePt" dir="t"/>
          </a:scene3d>
          <a:sp3d prstMaterial="plastic">
            <a:bevelT w="88900" h="38100"/>
          </a:sp3d>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p:cNvSpPr txBox="1"/>
          <p:nvPr/>
        </p:nvSpPr>
        <p:spPr>
          <a:xfrm>
            <a:off x="1234440" y="1645920"/>
            <a:ext cx="2240280" cy="548640"/>
          </a:xfrm>
          <a:prstGeom prst="rect">
            <a:avLst/>
          </a:prstGeom>
          <a:noFill/>
          <a:ln/>
        </p:spPr>
        <p:txBody>
          <a:bodyPr wrap="square" lIns="0" tIns="0" rIns="0" bIns="0" rtlCol="0" anchor="ctr"/>
          <a:lstStyle/>
          <a:p>
            <a:pPr indent="0" marL="0">
              <a:buNone/>
            </a:pPr>
            <a:r>
              <a:rPr lang="en-US" sz="1600" b="1" dirty="0">
                <a:solidFill>
                  <a:schemeClr val="tx1"/>
                </a:solidFill>
              </a:rPr>
              <a:t>Map the process</a:t>
            </a:r>
            <a:endParaRPr lang="en-US" sz="1600" dirty="0"/>
          </a:p>
        </p:txBody>
      </p:sp>
      <p:sp>
        <p:nvSpPr>
          <p:cNvPr id="7" name="text"/>
          <p:cNvSpPr txBox="1"/>
          <p:nvPr/>
        </p:nvSpPr>
        <p:spPr>
          <a:xfrm>
            <a:off x="3520440" y="1645920"/>
            <a:ext cx="3337560" cy="548640"/>
          </a:xfrm>
          <a:prstGeom prst="rect">
            <a:avLst/>
          </a:prstGeom>
          <a:noFill/>
          <a:ln/>
        </p:spPr>
        <p:txBody>
          <a:bodyPr wrap="square" lIns="0" tIns="0" rIns="0" bIns="0" rtlCol="0" anchor="ctr"/>
          <a:lstStyle/>
          <a:p>
            <a:pPr indent="0" marL="0">
              <a:buNone/>
            </a:pPr>
            <a:r>
              <a:rPr lang="en-US" sz="1400" dirty="0">
                <a:solidFill>
                  <a:schemeClr val="tx2"/>
                </a:solidFill>
              </a:rPr>
              <a:t>See where stock and waiting build up</a:t>
            </a:r>
            <a:endParaRPr lang="en-US" sz="1400" dirty="0"/>
          </a:p>
        </p:txBody>
      </p:sp>
      <p:sp>
        <p:nvSpPr>
          <p:cNvPr id="8" name="3DC_step"/>
          <p:cNvSpPr/>
          <p:nvPr/>
        </p:nvSpPr>
        <p:spPr>
          <a:xfrm>
            <a:off x="548640" y="2286000"/>
            <a:ext cx="6400800" cy="548640"/>
          </a:xfrm>
          <a:prstGeom prst="roundRect">
            <a:avLst>
              <a:gd name="adj" fmla="val 20000"/>
            </a:avLst>
          </a:prstGeom>
          <a:solidFill>
            <a:schemeClr val="bg2"/>
          </a:solidFill>
          <a:ln w="12700">
            <a:solidFill>
              <a:schemeClr val="bg2"/>
            </a:solidFill>
            <a:prstDash val="solid"/>
          </a:ln>
          <a:scene3d>
            <a:camera prst="orthographicFront"/>
            <a:lightRig rig="threePt" dir="t"/>
          </a:scene3d>
          <a:sp3d>
            <a:bevelT w="25400" h="12700" prst="softRound"/>
          </a:sp3d>
        </p:spPr>
      </p:sp>
      <p:sp>
        <p:nvSpPr>
          <p:cNvPr id="9" name="3DB_num"/>
          <p:cNvSpPr/>
          <p:nvPr/>
        </p:nvSpPr>
        <p:spPr>
          <a:xfrm>
            <a:off x="658368" y="2350008"/>
            <a:ext cx="420624" cy="420624"/>
          </a:xfrm>
          <a:prstGeom prst="ellipse">
            <a:avLst/>
          </a:prstGeom>
          <a:solidFill>
            <a:schemeClr val="accent1"/>
          </a:solidFill>
          <a:ln>
            <a:solidFill>
              <a:schemeClr val="accent1"/>
            </a:solidFill>
          </a:ln>
          <a:scene3d>
            <a:camera prst="orthographicFront"/>
            <a:lightRig rig="threePt" dir="t"/>
          </a:scene3d>
          <a:sp3d prstMaterial="plastic">
            <a:bevelT w="88900" h="38100"/>
          </a:sp3d>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p:cNvSpPr txBox="1"/>
          <p:nvPr/>
        </p:nvSpPr>
        <p:spPr>
          <a:xfrm>
            <a:off x="1234440" y="2286000"/>
            <a:ext cx="2240280" cy="548640"/>
          </a:xfrm>
          <a:prstGeom prst="rect">
            <a:avLst/>
          </a:prstGeom>
          <a:noFill/>
          <a:ln/>
        </p:spPr>
        <p:txBody>
          <a:bodyPr wrap="square" lIns="0" tIns="0" rIns="0" bIns="0" rtlCol="0" anchor="ctr"/>
          <a:lstStyle/>
          <a:p>
            <a:pPr indent="0" marL="0">
              <a:buNone/>
            </a:pPr>
            <a:r>
              <a:rPr lang="en-US" sz="1600" b="1" dirty="0">
                <a:solidFill>
                  <a:schemeClr val="tx1"/>
                </a:solidFill>
              </a:rPr>
              <a:t>Choose the signal</a:t>
            </a:r>
            <a:endParaRPr lang="en-US" sz="1600" dirty="0"/>
          </a:p>
        </p:txBody>
      </p:sp>
      <p:sp>
        <p:nvSpPr>
          <p:cNvPr id="11" name="text"/>
          <p:cNvSpPr txBox="1"/>
          <p:nvPr/>
        </p:nvSpPr>
        <p:spPr>
          <a:xfrm>
            <a:off x="3520440" y="2286000"/>
            <a:ext cx="3337560" cy="548640"/>
          </a:xfrm>
          <a:prstGeom prst="rect">
            <a:avLst/>
          </a:prstGeom>
          <a:noFill/>
          <a:ln/>
        </p:spPr>
        <p:txBody>
          <a:bodyPr wrap="square" lIns="0" tIns="0" rIns="0" bIns="0" rtlCol="0" anchor="ctr"/>
          <a:lstStyle/>
          <a:p>
            <a:pPr indent="0" marL="0">
              <a:buNone/>
            </a:pPr>
            <a:r>
              <a:rPr lang="en-US" sz="1400" dirty="0">
                <a:solidFill>
                  <a:schemeClr val="tx2"/>
                </a:solidFill>
              </a:rPr>
              <a:t>Card, two-bin or electronic kanban</a:t>
            </a:r>
            <a:endParaRPr lang="en-US" sz="1400" dirty="0"/>
          </a:p>
        </p:txBody>
      </p:sp>
      <p:sp>
        <p:nvSpPr>
          <p:cNvPr id="12" name="3DC_step"/>
          <p:cNvSpPr/>
          <p:nvPr/>
        </p:nvSpPr>
        <p:spPr>
          <a:xfrm>
            <a:off x="548640" y="2926080"/>
            <a:ext cx="6400800" cy="548640"/>
          </a:xfrm>
          <a:prstGeom prst="roundRect">
            <a:avLst>
              <a:gd name="adj" fmla="val 20000"/>
            </a:avLst>
          </a:prstGeom>
          <a:solidFill>
            <a:schemeClr val="bg2"/>
          </a:solidFill>
          <a:ln w="12700">
            <a:solidFill>
              <a:schemeClr val="bg2"/>
            </a:solidFill>
            <a:prstDash val="solid"/>
          </a:ln>
          <a:scene3d>
            <a:camera prst="orthographicFront"/>
            <a:lightRig rig="threePt" dir="t"/>
          </a:scene3d>
          <a:sp3d>
            <a:bevelT w="25400" h="12700" prst="softRound"/>
          </a:sp3d>
        </p:spPr>
      </p:sp>
      <p:sp>
        <p:nvSpPr>
          <p:cNvPr id="13" name="3DB_num"/>
          <p:cNvSpPr/>
          <p:nvPr/>
        </p:nvSpPr>
        <p:spPr>
          <a:xfrm>
            <a:off x="658368" y="2990088"/>
            <a:ext cx="420624" cy="420624"/>
          </a:xfrm>
          <a:prstGeom prst="ellipse">
            <a:avLst/>
          </a:prstGeom>
          <a:solidFill>
            <a:schemeClr val="accent1"/>
          </a:solidFill>
          <a:ln>
            <a:solidFill>
              <a:schemeClr val="accent1"/>
            </a:solidFill>
          </a:ln>
          <a:scene3d>
            <a:camera prst="orthographicFront"/>
            <a:lightRig rig="threePt" dir="t"/>
          </a:scene3d>
          <a:sp3d prstMaterial="plastic">
            <a:bevelT w="88900" h="38100"/>
          </a:sp3d>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
          <p:cNvSpPr txBox="1"/>
          <p:nvPr/>
        </p:nvSpPr>
        <p:spPr>
          <a:xfrm>
            <a:off x="1234440" y="2926080"/>
            <a:ext cx="2240280" cy="548640"/>
          </a:xfrm>
          <a:prstGeom prst="rect">
            <a:avLst/>
          </a:prstGeom>
          <a:noFill/>
          <a:ln/>
        </p:spPr>
        <p:txBody>
          <a:bodyPr wrap="square" lIns="0" tIns="0" rIns="0" bIns="0" rtlCol="0" anchor="ctr"/>
          <a:lstStyle/>
          <a:p>
            <a:pPr indent="0" marL="0">
              <a:buNone/>
            </a:pPr>
            <a:r>
              <a:rPr lang="en-US" sz="1600" b="1" dirty="0">
                <a:solidFill>
                  <a:schemeClr val="tx1"/>
                </a:solidFill>
              </a:rPr>
              <a:t>Size the loop</a:t>
            </a:r>
            <a:endParaRPr lang="en-US" sz="1600" dirty="0"/>
          </a:p>
        </p:txBody>
      </p:sp>
      <p:sp>
        <p:nvSpPr>
          <p:cNvPr id="15" name="text"/>
          <p:cNvSpPr txBox="1"/>
          <p:nvPr/>
        </p:nvSpPr>
        <p:spPr>
          <a:xfrm>
            <a:off x="3520440" y="2926080"/>
            <a:ext cx="3337560" cy="548640"/>
          </a:xfrm>
          <a:prstGeom prst="rect">
            <a:avLst/>
          </a:prstGeom>
          <a:noFill/>
          <a:ln/>
        </p:spPr>
        <p:txBody>
          <a:bodyPr wrap="square" lIns="0" tIns="0" rIns="0" bIns="0" rtlCol="0" anchor="ctr"/>
          <a:lstStyle/>
          <a:p>
            <a:pPr indent="0" marL="0">
              <a:buNone/>
            </a:pPr>
            <a:r>
              <a:rPr lang="en-US" sz="1400" dirty="0">
                <a:solidFill>
                  <a:schemeClr val="tx2"/>
                </a:solidFill>
              </a:rPr>
              <a:t>Cards = demand × lead time × safety ÷ bin size</a:t>
            </a:r>
            <a:endParaRPr lang="en-US" sz="1400" dirty="0"/>
          </a:p>
        </p:txBody>
      </p:sp>
      <p:sp>
        <p:nvSpPr>
          <p:cNvPr id="16" name="3DC_step"/>
          <p:cNvSpPr/>
          <p:nvPr/>
        </p:nvSpPr>
        <p:spPr>
          <a:xfrm>
            <a:off x="548640" y="3566160"/>
            <a:ext cx="6400800" cy="548640"/>
          </a:xfrm>
          <a:prstGeom prst="roundRect">
            <a:avLst>
              <a:gd name="adj" fmla="val 20000"/>
            </a:avLst>
          </a:prstGeom>
          <a:solidFill>
            <a:schemeClr val="bg2"/>
          </a:solidFill>
          <a:ln w="12700">
            <a:solidFill>
              <a:schemeClr val="bg2"/>
            </a:solidFill>
            <a:prstDash val="solid"/>
          </a:ln>
          <a:scene3d>
            <a:camera prst="orthographicFront"/>
            <a:lightRig rig="threePt" dir="t"/>
          </a:scene3d>
          <a:sp3d>
            <a:bevelT w="25400" h="12700" prst="softRound"/>
          </a:sp3d>
        </p:spPr>
      </p:sp>
      <p:sp>
        <p:nvSpPr>
          <p:cNvPr id="17" name="3DB_num"/>
          <p:cNvSpPr/>
          <p:nvPr/>
        </p:nvSpPr>
        <p:spPr>
          <a:xfrm>
            <a:off x="658368" y="3630168"/>
            <a:ext cx="420624" cy="420624"/>
          </a:xfrm>
          <a:prstGeom prst="ellipse">
            <a:avLst/>
          </a:prstGeom>
          <a:solidFill>
            <a:schemeClr val="accent1"/>
          </a:solidFill>
          <a:ln>
            <a:solidFill>
              <a:schemeClr val="accent1"/>
            </a:solidFill>
          </a:ln>
          <a:scene3d>
            <a:camera prst="orthographicFront"/>
            <a:lightRig rig="threePt" dir="t"/>
          </a:scene3d>
          <a:sp3d prstMaterial="plastic">
            <a:bevelT w="88900" h="38100"/>
          </a:sp3d>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text"/>
          <p:cNvSpPr txBox="1"/>
          <p:nvPr/>
        </p:nvSpPr>
        <p:spPr>
          <a:xfrm>
            <a:off x="1234440" y="3566160"/>
            <a:ext cx="2240280" cy="548640"/>
          </a:xfrm>
          <a:prstGeom prst="rect">
            <a:avLst/>
          </a:prstGeom>
          <a:noFill/>
          <a:ln/>
        </p:spPr>
        <p:txBody>
          <a:bodyPr wrap="square" lIns="0" tIns="0" rIns="0" bIns="0" rtlCol="0" anchor="ctr"/>
          <a:lstStyle/>
          <a:p>
            <a:pPr indent="0" marL="0">
              <a:buNone/>
            </a:pPr>
            <a:r>
              <a:rPr lang="en-US" sz="1600" b="1" dirty="0">
                <a:solidFill>
                  <a:schemeClr val="tx1"/>
                </a:solidFill>
              </a:rPr>
              <a:t>Build board &amp; cards</a:t>
            </a:r>
            <a:endParaRPr lang="en-US" sz="1600" dirty="0"/>
          </a:p>
        </p:txBody>
      </p:sp>
      <p:sp>
        <p:nvSpPr>
          <p:cNvPr id="19" name="text"/>
          <p:cNvSpPr txBox="1"/>
          <p:nvPr/>
        </p:nvSpPr>
        <p:spPr>
          <a:xfrm>
            <a:off x="3520440" y="3566160"/>
            <a:ext cx="3337560" cy="548640"/>
          </a:xfrm>
          <a:prstGeom prst="rect">
            <a:avLst/>
          </a:prstGeom>
          <a:noFill/>
          <a:ln/>
        </p:spPr>
        <p:txBody>
          <a:bodyPr wrap="square" lIns="0" tIns="0" rIns="0" bIns="0" rtlCol="0" anchor="ctr"/>
          <a:lstStyle/>
          <a:p>
            <a:pPr indent="0" marL="0">
              <a:buNone/>
            </a:pPr>
            <a:r>
              <a:rPr lang="en-US" sz="1400" dirty="0">
                <a:solidFill>
                  <a:schemeClr val="tx2"/>
                </a:solidFill>
              </a:rPr>
              <a:t>Columns, card data, storage locations</a:t>
            </a:r>
            <a:endParaRPr lang="en-US" sz="1400" dirty="0"/>
          </a:p>
        </p:txBody>
      </p:sp>
      <p:sp>
        <p:nvSpPr>
          <p:cNvPr id="20" name="3DC_step"/>
          <p:cNvSpPr/>
          <p:nvPr/>
        </p:nvSpPr>
        <p:spPr>
          <a:xfrm>
            <a:off x="548640" y="4206240"/>
            <a:ext cx="6400800" cy="548640"/>
          </a:xfrm>
          <a:prstGeom prst="roundRect">
            <a:avLst>
              <a:gd name="adj" fmla="val 20000"/>
            </a:avLst>
          </a:prstGeom>
          <a:solidFill>
            <a:schemeClr val="bg2"/>
          </a:solidFill>
          <a:ln w="12700">
            <a:solidFill>
              <a:schemeClr val="bg2"/>
            </a:solidFill>
            <a:prstDash val="solid"/>
          </a:ln>
          <a:scene3d>
            <a:camera prst="orthographicFront"/>
            <a:lightRig rig="threePt" dir="t"/>
          </a:scene3d>
          <a:sp3d>
            <a:bevelT w="25400" h="12700" prst="softRound"/>
          </a:sp3d>
        </p:spPr>
      </p:sp>
      <p:sp>
        <p:nvSpPr>
          <p:cNvPr id="21" name="3DB_num"/>
          <p:cNvSpPr/>
          <p:nvPr/>
        </p:nvSpPr>
        <p:spPr>
          <a:xfrm>
            <a:off x="658368" y="4270248"/>
            <a:ext cx="420624" cy="420624"/>
          </a:xfrm>
          <a:prstGeom prst="ellipse">
            <a:avLst/>
          </a:prstGeom>
          <a:solidFill>
            <a:schemeClr val="accent1"/>
          </a:solidFill>
          <a:ln>
            <a:solidFill>
              <a:schemeClr val="accent1"/>
            </a:solidFill>
          </a:ln>
          <a:scene3d>
            <a:camera prst="orthographicFront"/>
            <a:lightRig rig="threePt" dir="t"/>
          </a:scene3d>
          <a:sp3d prstMaterial="plastic">
            <a:bevelT w="88900" h="38100"/>
          </a:sp3d>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2" name="text"/>
          <p:cNvSpPr txBox="1"/>
          <p:nvPr/>
        </p:nvSpPr>
        <p:spPr>
          <a:xfrm>
            <a:off x="1234440" y="4206240"/>
            <a:ext cx="2240280" cy="548640"/>
          </a:xfrm>
          <a:prstGeom prst="rect">
            <a:avLst/>
          </a:prstGeom>
          <a:noFill/>
          <a:ln/>
        </p:spPr>
        <p:txBody>
          <a:bodyPr wrap="square" lIns="0" tIns="0" rIns="0" bIns="0" rtlCol="0" anchor="ctr"/>
          <a:lstStyle/>
          <a:p>
            <a:pPr indent="0" marL="0">
              <a:buNone/>
            </a:pPr>
            <a:r>
              <a:rPr lang="en-US" sz="1600" b="1" dirty="0">
                <a:solidFill>
                  <a:schemeClr val="tx1"/>
                </a:solidFill>
              </a:rPr>
              <a:t>Set WIP limits &amp; rules</a:t>
            </a:r>
            <a:endParaRPr lang="en-US" sz="1600" dirty="0"/>
          </a:p>
        </p:txBody>
      </p:sp>
      <p:sp>
        <p:nvSpPr>
          <p:cNvPr id="23" name="text"/>
          <p:cNvSpPr txBox="1"/>
          <p:nvPr/>
        </p:nvSpPr>
        <p:spPr>
          <a:xfrm>
            <a:off x="3520440" y="4206240"/>
            <a:ext cx="3337560" cy="548640"/>
          </a:xfrm>
          <a:prstGeom prst="rect">
            <a:avLst/>
          </a:prstGeom>
          <a:noFill/>
          <a:ln/>
        </p:spPr>
        <p:txBody>
          <a:bodyPr wrap="square" lIns="0" tIns="0" rIns="0" bIns="0" rtlCol="0" anchor="ctr"/>
          <a:lstStyle/>
          <a:p>
            <a:pPr indent="0" marL="0">
              <a:buNone/>
            </a:pPr>
            <a:r>
              <a:rPr lang="en-US" sz="1400" dirty="0">
                <a:solidFill>
                  <a:schemeClr val="tx2"/>
                </a:solidFill>
              </a:rPr>
              <a:t>Who pulls, when and how much</a:t>
            </a:r>
            <a:endParaRPr lang="en-US" sz="1400" dirty="0"/>
          </a:p>
        </p:txBody>
      </p:sp>
      <p:sp>
        <p:nvSpPr>
          <p:cNvPr id="24" name="3DC_step"/>
          <p:cNvSpPr/>
          <p:nvPr/>
        </p:nvSpPr>
        <p:spPr>
          <a:xfrm>
            <a:off x="548640" y="4846320"/>
            <a:ext cx="6400800" cy="548640"/>
          </a:xfrm>
          <a:prstGeom prst="roundRect">
            <a:avLst>
              <a:gd name="adj" fmla="val 20000"/>
            </a:avLst>
          </a:prstGeom>
          <a:solidFill>
            <a:schemeClr val="bg2"/>
          </a:solidFill>
          <a:ln w="12700">
            <a:solidFill>
              <a:schemeClr val="bg2"/>
            </a:solidFill>
            <a:prstDash val="solid"/>
          </a:ln>
          <a:scene3d>
            <a:camera prst="orthographicFront"/>
            <a:lightRig rig="threePt" dir="t"/>
          </a:scene3d>
          <a:sp3d>
            <a:bevelT w="25400" h="12700" prst="softRound"/>
          </a:sp3d>
        </p:spPr>
      </p:sp>
      <p:sp>
        <p:nvSpPr>
          <p:cNvPr id="25" name="3DB_num"/>
          <p:cNvSpPr/>
          <p:nvPr/>
        </p:nvSpPr>
        <p:spPr>
          <a:xfrm>
            <a:off x="658368" y="4910328"/>
            <a:ext cx="420624" cy="420624"/>
          </a:xfrm>
          <a:prstGeom prst="ellipse">
            <a:avLst/>
          </a:prstGeom>
          <a:solidFill>
            <a:schemeClr val="accent1"/>
          </a:solidFill>
          <a:ln>
            <a:solidFill>
              <a:schemeClr val="accent1"/>
            </a:solidFill>
          </a:ln>
          <a:scene3d>
            <a:camera prst="orthographicFront"/>
            <a:lightRig rig="threePt" dir="t"/>
          </a:scene3d>
          <a:sp3d prstMaterial="plastic">
            <a:bevelT w="88900" h="38100"/>
          </a:sp3d>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6" name="text"/>
          <p:cNvSpPr txBox="1"/>
          <p:nvPr/>
        </p:nvSpPr>
        <p:spPr>
          <a:xfrm>
            <a:off x="1234440" y="4846320"/>
            <a:ext cx="2240280" cy="548640"/>
          </a:xfrm>
          <a:prstGeom prst="rect">
            <a:avLst/>
          </a:prstGeom>
          <a:noFill/>
          <a:ln/>
        </p:spPr>
        <p:txBody>
          <a:bodyPr wrap="square" lIns="0" tIns="0" rIns="0" bIns="0" rtlCol="0" anchor="ctr"/>
          <a:lstStyle/>
          <a:p>
            <a:pPr indent="0" marL="0">
              <a:buNone/>
            </a:pPr>
            <a:r>
              <a:rPr lang="en-US" sz="1600" b="1" dirty="0">
                <a:solidFill>
                  <a:schemeClr val="tx1"/>
                </a:solidFill>
              </a:rPr>
              <a:t>Train &amp; pilot</a:t>
            </a:r>
            <a:endParaRPr lang="en-US" sz="1600" dirty="0"/>
          </a:p>
        </p:txBody>
      </p:sp>
      <p:sp>
        <p:nvSpPr>
          <p:cNvPr id="27" name="text"/>
          <p:cNvSpPr txBox="1"/>
          <p:nvPr/>
        </p:nvSpPr>
        <p:spPr>
          <a:xfrm>
            <a:off x="3520440" y="4846320"/>
            <a:ext cx="3337560" cy="548640"/>
          </a:xfrm>
          <a:prstGeom prst="rect">
            <a:avLst/>
          </a:prstGeom>
          <a:noFill/>
          <a:ln/>
        </p:spPr>
        <p:txBody>
          <a:bodyPr wrap="square" lIns="0" tIns="0" rIns="0" bIns="0" rtlCol="0" anchor="ctr"/>
          <a:lstStyle/>
          <a:p>
            <a:pPr indent="0" marL="0">
              <a:buNone/>
            </a:pPr>
            <a:r>
              <a:rPr lang="en-US" sz="1400" dirty="0">
                <a:solidFill>
                  <a:schemeClr val="tx2"/>
                </a:solidFill>
              </a:rPr>
              <a:t>Start on one line or one team</a:t>
            </a:r>
            <a:endParaRPr lang="en-US" sz="1400" dirty="0"/>
          </a:p>
        </p:txBody>
      </p:sp>
      <p:sp>
        <p:nvSpPr>
          <p:cNvPr id="28" name="3DC_step"/>
          <p:cNvSpPr/>
          <p:nvPr/>
        </p:nvSpPr>
        <p:spPr>
          <a:xfrm>
            <a:off x="548640" y="5486400"/>
            <a:ext cx="6400800" cy="548640"/>
          </a:xfrm>
          <a:prstGeom prst="roundRect">
            <a:avLst>
              <a:gd name="adj" fmla="val 20000"/>
            </a:avLst>
          </a:prstGeom>
          <a:solidFill>
            <a:schemeClr val="bg2"/>
          </a:solidFill>
          <a:ln w="12700">
            <a:solidFill>
              <a:schemeClr val="bg2"/>
            </a:solidFill>
            <a:prstDash val="solid"/>
          </a:ln>
          <a:scene3d>
            <a:camera prst="orthographicFront"/>
            <a:lightRig rig="threePt" dir="t"/>
          </a:scene3d>
          <a:sp3d>
            <a:bevelT w="25400" h="12700" prst="softRound"/>
          </a:sp3d>
        </p:spPr>
      </p:sp>
      <p:sp>
        <p:nvSpPr>
          <p:cNvPr id="29" name="3DB_num"/>
          <p:cNvSpPr/>
          <p:nvPr/>
        </p:nvSpPr>
        <p:spPr>
          <a:xfrm>
            <a:off x="658368" y="5550408"/>
            <a:ext cx="420624" cy="420624"/>
          </a:xfrm>
          <a:prstGeom prst="ellipse">
            <a:avLst/>
          </a:prstGeom>
          <a:solidFill>
            <a:schemeClr val="accent2"/>
          </a:solidFill>
          <a:ln>
            <a:solidFill>
              <a:schemeClr val="accent2"/>
            </a:solidFill>
          </a:ln>
          <a:scene3d>
            <a:camera prst="orthographicFront"/>
            <a:lightRig rig="threePt" dir="t"/>
          </a:scene3d>
          <a:sp3d prstMaterial="plastic">
            <a:bevelT w="88900" h="38100"/>
          </a:sp3d>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30" name="text"/>
          <p:cNvSpPr txBox="1"/>
          <p:nvPr/>
        </p:nvSpPr>
        <p:spPr>
          <a:xfrm>
            <a:off x="1234440" y="5486400"/>
            <a:ext cx="2240280" cy="548640"/>
          </a:xfrm>
          <a:prstGeom prst="rect">
            <a:avLst/>
          </a:prstGeom>
          <a:noFill/>
          <a:ln/>
        </p:spPr>
        <p:txBody>
          <a:bodyPr wrap="square" lIns="0" tIns="0" rIns="0" bIns="0" rtlCol="0" anchor="ctr"/>
          <a:lstStyle/>
          <a:p>
            <a:pPr indent="0" marL="0">
              <a:buNone/>
            </a:pPr>
            <a:r>
              <a:rPr lang="en-US" sz="1600" b="1" dirty="0">
                <a:solidFill>
                  <a:schemeClr val="tx1"/>
                </a:solidFill>
              </a:rPr>
              <a:t>Review &amp; improve</a:t>
            </a:r>
            <a:endParaRPr lang="en-US" sz="1600" dirty="0"/>
          </a:p>
        </p:txBody>
      </p:sp>
      <p:sp>
        <p:nvSpPr>
          <p:cNvPr id="31" name="text"/>
          <p:cNvSpPr txBox="1"/>
          <p:nvPr/>
        </p:nvSpPr>
        <p:spPr>
          <a:xfrm>
            <a:off x="3520440" y="5486400"/>
            <a:ext cx="3337560" cy="548640"/>
          </a:xfrm>
          <a:prstGeom prst="rect">
            <a:avLst/>
          </a:prstGeom>
          <a:noFill/>
          <a:ln/>
        </p:spPr>
        <p:txBody>
          <a:bodyPr wrap="square" lIns="0" tIns="0" rIns="0" bIns="0" rtlCol="0" anchor="ctr"/>
          <a:lstStyle/>
          <a:p>
            <a:pPr indent="0" marL="0">
              <a:buNone/>
            </a:pPr>
            <a:r>
              <a:rPr lang="en-US" sz="1400" dirty="0">
                <a:solidFill>
                  <a:schemeClr val="tx2"/>
                </a:solidFill>
              </a:rPr>
              <a:t>Track lead time; remove cards over time</a:t>
            </a:r>
            <a:endParaRPr lang="en-US" sz="1400" dirty="0"/>
          </a:p>
        </p:txBody>
      </p:sp>
      <p:pic>
        <p:nvPicPr>
          <p:cNvPr id="32" name="render3d_twobin" descr="3D illustration of a two-bin kanban system on a shelf with kanban cards">    </p:cNvPr>
          <p:cNvPicPr>
            <a:picLocks noChangeAspect="1"/>
          </p:cNvPicPr>
          <p:nvPr/>
        </p:nvPicPr>
        <p:blipFill>
          <a:blip r:embed="rId1"/>
          <a:stretch>
            <a:fillRect/>
          </a:stretch>
        </p:blipFill>
        <p:spPr>
          <a:xfrm>
            <a:off x="7269480" y="1783080"/>
            <a:ext cx="4373575" cy="3124446"/>
          </a:xfrm>
          <a:prstGeom prst="rect">
            <a:avLst/>
          </a:prstGeom>
        </p:spPr>
      </p:pic>
      <p:sp>
        <p:nvSpPr>
          <p:cNvPr id="33" name="text"/>
          <p:cNvSpPr txBox="1"/>
          <p:nvPr/>
        </p:nvSpPr>
        <p:spPr>
          <a:xfrm>
            <a:off x="7269480" y="5166360"/>
            <a:ext cx="4373575" cy="731520"/>
          </a:xfrm>
          <a:prstGeom prst="rect">
            <a:avLst/>
          </a:prstGeom>
          <a:noFill/>
          <a:ln/>
        </p:spPr>
        <p:txBody>
          <a:bodyPr wrap="square" lIns="0" tIns="0" rIns="0" bIns="0" rtlCol="0" anchor="t"/>
          <a:lstStyle/>
          <a:p>
            <a:pPr indent="0" marL="0">
              <a:buNone/>
            </a:pPr>
            <a:r>
              <a:rPr lang="en-US" sz="1400" b="1" dirty="0">
                <a:solidFill>
                  <a:schemeClr val="tx2"/>
                </a:solidFill>
              </a:rPr>
              <a:t>Two-bin system: </a:t>
            </a:r>
            <a:pPr indent="0" marL="0">
              <a:buNone/>
            </a:pPr>
            <a:r>
              <a:rPr lang="en-US" sz="1400" dirty="0">
                <a:solidFill>
                  <a:schemeClr val="tx2"/>
                </a:solidFill>
              </a:rPr>
              <a:t>when bin 1 is empty, its card triggers a refill while work continues from bin 2.</a:t>
            </a:r>
            <a:endParaRPr lang="en-US" sz="14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mc:AlternateContent xmlns:mc="http://schemas.openxmlformats.org/markup-compatibility/2006">
    <mc:Choice xmlns:p14="http://schemas.microsoft.com/office/powerpoint/2010/main" Requires="p14">
      <p:transition spd="slow" p14:dur="1400">
        <p14:conveyor dir="l"/>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anim calcmode="lin" valueType="num">
                                      <p:cBhvr>
                                        <p:cTn id="8" dur="600" fill="hold"/>
                                        <p:tgtEl>
                                          <p:spTgt spid="4"/>
                                        </p:tgtEl>
                                        <p:attrNameLst>
                                          <p:attrName>ppt_x</p:attrName>
                                        </p:attrNameLst>
                                      </p:cBhvr>
                                      <p:tavLst>
                                        <p:tav tm="0">
                                          <p:val>
                                            <p:strVal val="#ppt_x"/>
                                          </p:val>
                                        </p:tav>
                                        <p:tav tm="100000">
                                          <p:val>
                                            <p:strVal val="#ppt_x"/>
                                          </p:val>
                                        </p:tav>
                                      </p:tavLst>
                                    </p:anim>
                                    <p:anim calcmode="lin" valueType="num">
                                      <p:cBhvr>
                                        <p:cTn id="9" dur="600" fill="hold"/>
                                        <p:tgtEl>
                                          <p:spTgt spid="4"/>
                                        </p:tgtEl>
                                        <p:attrNameLst>
                                          <p:attrName>ppt_y</p:attrName>
                                        </p:attrNameLst>
                                      </p:cBhvr>
                                      <p:tavLst>
                                        <p:tav tm="0">
                                          <p:val>
                                            <p:strVal val="#ppt_y+.05"/>
                                          </p:val>
                                        </p:tav>
                                        <p:tav tm="100000">
                                          <p:val>
                                            <p:strVal val="#ppt_y"/>
                                          </p:val>
                                        </p:tav>
                                      </p:tavLst>
                                    </p:anim>
                                  </p:childTnLst>
                                </p:cTn>
                              </p:par>
                              <p:par>
                                <p:cTn id="10" presetID="53" presetClass="entr" presetSubtype="16"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p:cTn id="12" dur="500" fill="hold"/>
                                        <p:tgtEl>
                                          <p:spTgt spid="5"/>
                                        </p:tgtEl>
                                        <p:attrNameLst>
                                          <p:attrName>ppt_w</p:attrName>
                                        </p:attrNameLst>
                                      </p:cBhvr>
                                      <p:tavLst>
                                        <p:tav tm="0">
                                          <p:val>
                                            <p:fltVal val="0"/>
                                          </p:val>
                                        </p:tav>
                                        <p:tav tm="100000">
                                          <p:val>
                                            <p:strVal val="#ppt_w"/>
                                          </p:val>
                                        </p:tav>
                                      </p:tavLst>
                                    </p:anim>
                                    <p:anim calcmode="lin" valueType="num">
                                      <p:cBhvr>
                                        <p:cTn id="13" dur="500" fill="hold"/>
                                        <p:tgtEl>
                                          <p:spTgt spid="5"/>
                                        </p:tgtEl>
                                        <p:attrNameLst>
                                          <p:attrName>ppt_h</p:attrName>
                                        </p:attrNameLst>
                                      </p:cBhvr>
                                      <p:tavLst>
                                        <p:tav tm="0">
                                          <p:val>
                                            <p:fltVal val="0"/>
                                          </p:val>
                                        </p:tav>
                                        <p:tav tm="100000">
                                          <p:val>
                                            <p:strVal val="#ppt_h"/>
                                          </p:val>
                                        </p:tav>
                                      </p:tavLst>
                                    </p:anim>
                                    <p:animEffect transition="in" filter="fade">
                                      <p:cBhvr>
                                        <p:cTn id="14" dur="500"/>
                                        <p:tgtEl>
                                          <p:spTgt spid="5"/>
                                        </p:tgtEl>
                                      </p:cBhvr>
                                    </p:animEffect>
                                  </p:childTnLst>
                                </p:cTn>
                              </p:par>
                              <p:par>
                                <p:cTn id="15" presetID="42"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600"/>
                                        <p:tgtEl>
                                          <p:spTgt spid="6"/>
                                        </p:tgtEl>
                                      </p:cBhvr>
                                    </p:animEffect>
                                    <p:anim calcmode="lin" valueType="num">
                                      <p:cBhvr>
                                        <p:cTn id="18" dur="600" fill="hold"/>
                                        <p:tgtEl>
                                          <p:spTgt spid="6"/>
                                        </p:tgtEl>
                                        <p:attrNameLst>
                                          <p:attrName>ppt_x</p:attrName>
                                        </p:attrNameLst>
                                      </p:cBhvr>
                                      <p:tavLst>
                                        <p:tav tm="0">
                                          <p:val>
                                            <p:strVal val="#ppt_x"/>
                                          </p:val>
                                        </p:tav>
                                        <p:tav tm="100000">
                                          <p:val>
                                            <p:strVal val="#ppt_x"/>
                                          </p:val>
                                        </p:tav>
                                      </p:tavLst>
                                    </p:anim>
                                    <p:anim calcmode="lin" valueType="num">
                                      <p:cBhvr>
                                        <p:cTn id="19" dur="600" fill="hold"/>
                                        <p:tgtEl>
                                          <p:spTgt spid="6"/>
                                        </p:tgtEl>
                                        <p:attrNameLst>
                                          <p:attrName>ppt_y</p:attrName>
                                        </p:attrNameLst>
                                      </p:cBhvr>
                                      <p:tavLst>
                                        <p:tav tm="0">
                                          <p:val>
                                            <p:strVal val="#ppt_y+.05"/>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600"/>
                                        <p:tgtEl>
                                          <p:spTgt spid="7"/>
                                        </p:tgtEl>
                                      </p:cBhvr>
                                    </p:animEffect>
                                    <p:anim calcmode="lin" valueType="num">
                                      <p:cBhvr>
                                        <p:cTn id="23" dur="600" fill="hold"/>
                                        <p:tgtEl>
                                          <p:spTgt spid="7"/>
                                        </p:tgtEl>
                                        <p:attrNameLst>
                                          <p:attrName>ppt_x</p:attrName>
                                        </p:attrNameLst>
                                      </p:cBhvr>
                                      <p:tavLst>
                                        <p:tav tm="0">
                                          <p:val>
                                            <p:strVal val="#ppt_x"/>
                                          </p:val>
                                        </p:tav>
                                        <p:tav tm="100000">
                                          <p:val>
                                            <p:strVal val="#ppt_x"/>
                                          </p:val>
                                        </p:tav>
                                      </p:tavLst>
                                    </p:anim>
                                    <p:anim calcmode="lin" valueType="num">
                                      <p:cBhvr>
                                        <p:cTn id="24" dur="600" fill="hold"/>
                                        <p:tgtEl>
                                          <p:spTgt spid="7"/>
                                        </p:tgtEl>
                                        <p:attrNameLst>
                                          <p:attrName>ppt_y</p:attrName>
                                        </p:attrNameLst>
                                      </p:cBhvr>
                                      <p:tavLst>
                                        <p:tav tm="0">
                                          <p:val>
                                            <p:strVal val="#ppt_y+.05"/>
                                          </p:val>
                                        </p:tav>
                                        <p:tav tm="100000">
                                          <p:val>
                                            <p:strVal val="#ppt_y"/>
                                          </p:val>
                                        </p:tav>
                                      </p:tavLst>
                                    </p:anim>
                                  </p:childTnLst>
                                </p:cTn>
                              </p:par>
                              <p:par>
                                <p:cTn id="25" presetID="42" presetClass="entr" presetSubtype="0" fill="hold" grpId="0" nodeType="withEffect">
                                  <p:stCondLst>
                                    <p:cond delay="20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600"/>
                                        <p:tgtEl>
                                          <p:spTgt spid="8"/>
                                        </p:tgtEl>
                                      </p:cBhvr>
                                    </p:animEffect>
                                    <p:anim calcmode="lin" valueType="num">
                                      <p:cBhvr>
                                        <p:cTn id="28" dur="600" fill="hold"/>
                                        <p:tgtEl>
                                          <p:spTgt spid="8"/>
                                        </p:tgtEl>
                                        <p:attrNameLst>
                                          <p:attrName>ppt_x</p:attrName>
                                        </p:attrNameLst>
                                      </p:cBhvr>
                                      <p:tavLst>
                                        <p:tav tm="0">
                                          <p:val>
                                            <p:strVal val="#ppt_x"/>
                                          </p:val>
                                        </p:tav>
                                        <p:tav tm="100000">
                                          <p:val>
                                            <p:strVal val="#ppt_x"/>
                                          </p:val>
                                        </p:tav>
                                      </p:tavLst>
                                    </p:anim>
                                    <p:anim calcmode="lin" valueType="num">
                                      <p:cBhvr>
                                        <p:cTn id="29" dur="600" fill="hold"/>
                                        <p:tgtEl>
                                          <p:spTgt spid="8"/>
                                        </p:tgtEl>
                                        <p:attrNameLst>
                                          <p:attrName>ppt_y</p:attrName>
                                        </p:attrNameLst>
                                      </p:cBhvr>
                                      <p:tavLst>
                                        <p:tav tm="0">
                                          <p:val>
                                            <p:strVal val="#ppt_y+.05"/>
                                          </p:val>
                                        </p:tav>
                                        <p:tav tm="100000">
                                          <p:val>
                                            <p:strVal val="#ppt_y"/>
                                          </p:val>
                                        </p:tav>
                                      </p:tavLst>
                                    </p:anim>
                                  </p:childTnLst>
                                </p:cTn>
                              </p:par>
                              <p:par>
                                <p:cTn id="30" presetID="53" presetClass="entr" presetSubtype="16" fill="hold" grpId="0" nodeType="withEffect">
                                  <p:stCondLst>
                                    <p:cond delay="200"/>
                                  </p:stCondLst>
                                  <p:childTnLst>
                                    <p:set>
                                      <p:cBhvr>
                                        <p:cTn id="31" dur="1" fill="hold">
                                          <p:stCondLst>
                                            <p:cond delay="0"/>
                                          </p:stCondLst>
                                        </p:cTn>
                                        <p:tgtEl>
                                          <p:spTgt spid="9"/>
                                        </p:tgtEl>
                                        <p:attrNameLst>
                                          <p:attrName>style.visibility</p:attrName>
                                        </p:attrNameLst>
                                      </p:cBhvr>
                                      <p:to>
                                        <p:strVal val="visible"/>
                                      </p:to>
                                    </p:set>
                                    <p:anim calcmode="lin" valueType="num">
                                      <p:cBhvr>
                                        <p:cTn id="32" dur="500" fill="hold"/>
                                        <p:tgtEl>
                                          <p:spTgt spid="9"/>
                                        </p:tgtEl>
                                        <p:attrNameLst>
                                          <p:attrName>ppt_w</p:attrName>
                                        </p:attrNameLst>
                                      </p:cBhvr>
                                      <p:tavLst>
                                        <p:tav tm="0">
                                          <p:val>
                                            <p:fltVal val="0"/>
                                          </p:val>
                                        </p:tav>
                                        <p:tav tm="100000">
                                          <p:val>
                                            <p:strVal val="#ppt_w"/>
                                          </p:val>
                                        </p:tav>
                                      </p:tavLst>
                                    </p:anim>
                                    <p:anim calcmode="lin" valueType="num">
                                      <p:cBhvr>
                                        <p:cTn id="33" dur="500" fill="hold"/>
                                        <p:tgtEl>
                                          <p:spTgt spid="9"/>
                                        </p:tgtEl>
                                        <p:attrNameLst>
                                          <p:attrName>ppt_h</p:attrName>
                                        </p:attrNameLst>
                                      </p:cBhvr>
                                      <p:tavLst>
                                        <p:tav tm="0">
                                          <p:val>
                                            <p:fltVal val="0"/>
                                          </p:val>
                                        </p:tav>
                                        <p:tav tm="100000">
                                          <p:val>
                                            <p:strVal val="#ppt_h"/>
                                          </p:val>
                                        </p:tav>
                                      </p:tavLst>
                                    </p:anim>
                                    <p:animEffect transition="in" filter="fade">
                                      <p:cBhvr>
                                        <p:cTn id="34" dur="500"/>
                                        <p:tgtEl>
                                          <p:spTgt spid="9"/>
                                        </p:tgtEl>
                                      </p:cBhvr>
                                    </p:animEffect>
                                  </p:childTnLst>
                                </p:cTn>
                              </p:par>
                              <p:par>
                                <p:cTn id="35" presetID="42" presetClass="entr" presetSubtype="0" fill="hold" grpId="0" nodeType="withEffect">
                                  <p:stCondLst>
                                    <p:cond delay="20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600"/>
                                        <p:tgtEl>
                                          <p:spTgt spid="10"/>
                                        </p:tgtEl>
                                      </p:cBhvr>
                                    </p:animEffect>
                                    <p:anim calcmode="lin" valueType="num">
                                      <p:cBhvr>
                                        <p:cTn id="38" dur="600" fill="hold"/>
                                        <p:tgtEl>
                                          <p:spTgt spid="10"/>
                                        </p:tgtEl>
                                        <p:attrNameLst>
                                          <p:attrName>ppt_x</p:attrName>
                                        </p:attrNameLst>
                                      </p:cBhvr>
                                      <p:tavLst>
                                        <p:tav tm="0">
                                          <p:val>
                                            <p:strVal val="#ppt_x"/>
                                          </p:val>
                                        </p:tav>
                                        <p:tav tm="100000">
                                          <p:val>
                                            <p:strVal val="#ppt_x"/>
                                          </p:val>
                                        </p:tav>
                                      </p:tavLst>
                                    </p:anim>
                                    <p:anim calcmode="lin" valueType="num">
                                      <p:cBhvr>
                                        <p:cTn id="39" dur="600" fill="hold"/>
                                        <p:tgtEl>
                                          <p:spTgt spid="10"/>
                                        </p:tgtEl>
                                        <p:attrNameLst>
                                          <p:attrName>ppt_y</p:attrName>
                                        </p:attrNameLst>
                                      </p:cBhvr>
                                      <p:tavLst>
                                        <p:tav tm="0">
                                          <p:val>
                                            <p:strVal val="#ppt_y+.05"/>
                                          </p:val>
                                        </p:tav>
                                        <p:tav tm="100000">
                                          <p:val>
                                            <p:strVal val="#ppt_y"/>
                                          </p:val>
                                        </p:tav>
                                      </p:tavLst>
                                    </p:anim>
                                  </p:childTnLst>
                                </p:cTn>
                              </p:par>
                              <p:par>
                                <p:cTn id="40" presetID="42" presetClass="entr" presetSubtype="0" fill="hold" grpId="0" nodeType="withEffect">
                                  <p:stCondLst>
                                    <p:cond delay="20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600"/>
                                        <p:tgtEl>
                                          <p:spTgt spid="11"/>
                                        </p:tgtEl>
                                      </p:cBhvr>
                                    </p:animEffect>
                                    <p:anim calcmode="lin" valueType="num">
                                      <p:cBhvr>
                                        <p:cTn id="43" dur="600" fill="hold"/>
                                        <p:tgtEl>
                                          <p:spTgt spid="11"/>
                                        </p:tgtEl>
                                        <p:attrNameLst>
                                          <p:attrName>ppt_x</p:attrName>
                                        </p:attrNameLst>
                                      </p:cBhvr>
                                      <p:tavLst>
                                        <p:tav tm="0">
                                          <p:val>
                                            <p:strVal val="#ppt_x"/>
                                          </p:val>
                                        </p:tav>
                                        <p:tav tm="100000">
                                          <p:val>
                                            <p:strVal val="#ppt_x"/>
                                          </p:val>
                                        </p:tav>
                                      </p:tavLst>
                                    </p:anim>
                                    <p:anim calcmode="lin" valueType="num">
                                      <p:cBhvr>
                                        <p:cTn id="44" dur="600" fill="hold"/>
                                        <p:tgtEl>
                                          <p:spTgt spid="11"/>
                                        </p:tgtEl>
                                        <p:attrNameLst>
                                          <p:attrName>ppt_y</p:attrName>
                                        </p:attrNameLst>
                                      </p:cBhvr>
                                      <p:tavLst>
                                        <p:tav tm="0">
                                          <p:val>
                                            <p:strVal val="#ppt_y+.05"/>
                                          </p:val>
                                        </p:tav>
                                        <p:tav tm="100000">
                                          <p:val>
                                            <p:strVal val="#ppt_y"/>
                                          </p:val>
                                        </p:tav>
                                      </p:tavLst>
                                    </p:anim>
                                  </p:childTnLst>
                                </p:cTn>
                              </p:par>
                              <p:par>
                                <p:cTn id="45" presetID="42" presetClass="entr" presetSubtype="0" fill="hold" grpId="0" nodeType="withEffect">
                                  <p:stCondLst>
                                    <p:cond delay="40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600"/>
                                        <p:tgtEl>
                                          <p:spTgt spid="12"/>
                                        </p:tgtEl>
                                      </p:cBhvr>
                                    </p:animEffect>
                                    <p:anim calcmode="lin" valueType="num">
                                      <p:cBhvr>
                                        <p:cTn id="48" dur="600" fill="hold"/>
                                        <p:tgtEl>
                                          <p:spTgt spid="12"/>
                                        </p:tgtEl>
                                        <p:attrNameLst>
                                          <p:attrName>ppt_x</p:attrName>
                                        </p:attrNameLst>
                                      </p:cBhvr>
                                      <p:tavLst>
                                        <p:tav tm="0">
                                          <p:val>
                                            <p:strVal val="#ppt_x"/>
                                          </p:val>
                                        </p:tav>
                                        <p:tav tm="100000">
                                          <p:val>
                                            <p:strVal val="#ppt_x"/>
                                          </p:val>
                                        </p:tav>
                                      </p:tavLst>
                                    </p:anim>
                                    <p:anim calcmode="lin" valueType="num">
                                      <p:cBhvr>
                                        <p:cTn id="49" dur="600" fill="hold"/>
                                        <p:tgtEl>
                                          <p:spTgt spid="12"/>
                                        </p:tgtEl>
                                        <p:attrNameLst>
                                          <p:attrName>ppt_y</p:attrName>
                                        </p:attrNameLst>
                                      </p:cBhvr>
                                      <p:tavLst>
                                        <p:tav tm="0">
                                          <p:val>
                                            <p:strVal val="#ppt_y+.05"/>
                                          </p:val>
                                        </p:tav>
                                        <p:tav tm="100000">
                                          <p:val>
                                            <p:strVal val="#ppt_y"/>
                                          </p:val>
                                        </p:tav>
                                      </p:tavLst>
                                    </p:anim>
                                  </p:childTnLst>
                                </p:cTn>
                              </p:par>
                              <p:par>
                                <p:cTn id="50" presetID="53" presetClass="entr" presetSubtype="16" fill="hold" grpId="0" nodeType="withEffect">
                                  <p:stCondLst>
                                    <p:cond delay="400"/>
                                  </p:stCondLst>
                                  <p:childTnLst>
                                    <p:set>
                                      <p:cBhvr>
                                        <p:cTn id="51" dur="1" fill="hold">
                                          <p:stCondLst>
                                            <p:cond delay="0"/>
                                          </p:stCondLst>
                                        </p:cTn>
                                        <p:tgtEl>
                                          <p:spTgt spid="13"/>
                                        </p:tgtEl>
                                        <p:attrNameLst>
                                          <p:attrName>style.visibility</p:attrName>
                                        </p:attrNameLst>
                                      </p:cBhvr>
                                      <p:to>
                                        <p:strVal val="visible"/>
                                      </p:to>
                                    </p:set>
                                    <p:anim calcmode="lin" valueType="num">
                                      <p:cBhvr>
                                        <p:cTn id="52" dur="500" fill="hold"/>
                                        <p:tgtEl>
                                          <p:spTgt spid="13"/>
                                        </p:tgtEl>
                                        <p:attrNameLst>
                                          <p:attrName>ppt_w</p:attrName>
                                        </p:attrNameLst>
                                      </p:cBhvr>
                                      <p:tavLst>
                                        <p:tav tm="0">
                                          <p:val>
                                            <p:fltVal val="0"/>
                                          </p:val>
                                        </p:tav>
                                        <p:tav tm="100000">
                                          <p:val>
                                            <p:strVal val="#ppt_w"/>
                                          </p:val>
                                        </p:tav>
                                      </p:tavLst>
                                    </p:anim>
                                    <p:anim calcmode="lin" valueType="num">
                                      <p:cBhvr>
                                        <p:cTn id="53" dur="500" fill="hold"/>
                                        <p:tgtEl>
                                          <p:spTgt spid="13"/>
                                        </p:tgtEl>
                                        <p:attrNameLst>
                                          <p:attrName>ppt_h</p:attrName>
                                        </p:attrNameLst>
                                      </p:cBhvr>
                                      <p:tavLst>
                                        <p:tav tm="0">
                                          <p:val>
                                            <p:fltVal val="0"/>
                                          </p:val>
                                        </p:tav>
                                        <p:tav tm="100000">
                                          <p:val>
                                            <p:strVal val="#ppt_h"/>
                                          </p:val>
                                        </p:tav>
                                      </p:tavLst>
                                    </p:anim>
                                    <p:animEffect transition="in" filter="fade">
                                      <p:cBhvr>
                                        <p:cTn id="54" dur="500"/>
                                        <p:tgtEl>
                                          <p:spTgt spid="13"/>
                                        </p:tgtEl>
                                      </p:cBhvr>
                                    </p:animEffect>
                                  </p:childTnLst>
                                </p:cTn>
                              </p:par>
                              <p:par>
                                <p:cTn id="55" presetID="42" presetClass="entr" presetSubtype="0" fill="hold" grpId="0" nodeType="withEffect">
                                  <p:stCondLst>
                                    <p:cond delay="40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600"/>
                                        <p:tgtEl>
                                          <p:spTgt spid="14"/>
                                        </p:tgtEl>
                                      </p:cBhvr>
                                    </p:animEffect>
                                    <p:anim calcmode="lin" valueType="num">
                                      <p:cBhvr>
                                        <p:cTn id="58" dur="600" fill="hold"/>
                                        <p:tgtEl>
                                          <p:spTgt spid="14"/>
                                        </p:tgtEl>
                                        <p:attrNameLst>
                                          <p:attrName>ppt_x</p:attrName>
                                        </p:attrNameLst>
                                      </p:cBhvr>
                                      <p:tavLst>
                                        <p:tav tm="0">
                                          <p:val>
                                            <p:strVal val="#ppt_x"/>
                                          </p:val>
                                        </p:tav>
                                        <p:tav tm="100000">
                                          <p:val>
                                            <p:strVal val="#ppt_x"/>
                                          </p:val>
                                        </p:tav>
                                      </p:tavLst>
                                    </p:anim>
                                    <p:anim calcmode="lin" valueType="num">
                                      <p:cBhvr>
                                        <p:cTn id="59" dur="600" fill="hold"/>
                                        <p:tgtEl>
                                          <p:spTgt spid="14"/>
                                        </p:tgtEl>
                                        <p:attrNameLst>
                                          <p:attrName>ppt_y</p:attrName>
                                        </p:attrNameLst>
                                      </p:cBhvr>
                                      <p:tavLst>
                                        <p:tav tm="0">
                                          <p:val>
                                            <p:strVal val="#ppt_y+.05"/>
                                          </p:val>
                                        </p:tav>
                                        <p:tav tm="100000">
                                          <p:val>
                                            <p:strVal val="#ppt_y"/>
                                          </p:val>
                                        </p:tav>
                                      </p:tavLst>
                                    </p:anim>
                                  </p:childTnLst>
                                </p:cTn>
                              </p:par>
                              <p:par>
                                <p:cTn id="60" presetID="42" presetClass="entr" presetSubtype="0" fill="hold" grpId="0" nodeType="withEffect">
                                  <p:stCondLst>
                                    <p:cond delay="40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600"/>
                                        <p:tgtEl>
                                          <p:spTgt spid="15"/>
                                        </p:tgtEl>
                                      </p:cBhvr>
                                    </p:animEffect>
                                    <p:anim calcmode="lin" valueType="num">
                                      <p:cBhvr>
                                        <p:cTn id="63" dur="600" fill="hold"/>
                                        <p:tgtEl>
                                          <p:spTgt spid="15"/>
                                        </p:tgtEl>
                                        <p:attrNameLst>
                                          <p:attrName>ppt_x</p:attrName>
                                        </p:attrNameLst>
                                      </p:cBhvr>
                                      <p:tavLst>
                                        <p:tav tm="0">
                                          <p:val>
                                            <p:strVal val="#ppt_x"/>
                                          </p:val>
                                        </p:tav>
                                        <p:tav tm="100000">
                                          <p:val>
                                            <p:strVal val="#ppt_x"/>
                                          </p:val>
                                        </p:tav>
                                      </p:tavLst>
                                    </p:anim>
                                    <p:anim calcmode="lin" valueType="num">
                                      <p:cBhvr>
                                        <p:cTn id="64" dur="600" fill="hold"/>
                                        <p:tgtEl>
                                          <p:spTgt spid="15"/>
                                        </p:tgtEl>
                                        <p:attrNameLst>
                                          <p:attrName>ppt_y</p:attrName>
                                        </p:attrNameLst>
                                      </p:cBhvr>
                                      <p:tavLst>
                                        <p:tav tm="0">
                                          <p:val>
                                            <p:strVal val="#ppt_y+.05"/>
                                          </p:val>
                                        </p:tav>
                                        <p:tav tm="100000">
                                          <p:val>
                                            <p:strVal val="#ppt_y"/>
                                          </p:val>
                                        </p:tav>
                                      </p:tavLst>
                                    </p:anim>
                                  </p:childTnLst>
                                </p:cTn>
                              </p:par>
                              <p:par>
                                <p:cTn id="65" presetID="42" presetClass="entr" presetSubtype="0" fill="hold" grpId="0" nodeType="withEffect">
                                  <p:stCondLst>
                                    <p:cond delay="60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600"/>
                                        <p:tgtEl>
                                          <p:spTgt spid="16"/>
                                        </p:tgtEl>
                                      </p:cBhvr>
                                    </p:animEffect>
                                    <p:anim calcmode="lin" valueType="num">
                                      <p:cBhvr>
                                        <p:cTn id="68" dur="600" fill="hold"/>
                                        <p:tgtEl>
                                          <p:spTgt spid="16"/>
                                        </p:tgtEl>
                                        <p:attrNameLst>
                                          <p:attrName>ppt_x</p:attrName>
                                        </p:attrNameLst>
                                      </p:cBhvr>
                                      <p:tavLst>
                                        <p:tav tm="0">
                                          <p:val>
                                            <p:strVal val="#ppt_x"/>
                                          </p:val>
                                        </p:tav>
                                        <p:tav tm="100000">
                                          <p:val>
                                            <p:strVal val="#ppt_x"/>
                                          </p:val>
                                        </p:tav>
                                      </p:tavLst>
                                    </p:anim>
                                    <p:anim calcmode="lin" valueType="num">
                                      <p:cBhvr>
                                        <p:cTn id="69" dur="600" fill="hold"/>
                                        <p:tgtEl>
                                          <p:spTgt spid="16"/>
                                        </p:tgtEl>
                                        <p:attrNameLst>
                                          <p:attrName>ppt_y</p:attrName>
                                        </p:attrNameLst>
                                      </p:cBhvr>
                                      <p:tavLst>
                                        <p:tav tm="0">
                                          <p:val>
                                            <p:strVal val="#ppt_y+.05"/>
                                          </p:val>
                                        </p:tav>
                                        <p:tav tm="100000">
                                          <p:val>
                                            <p:strVal val="#ppt_y"/>
                                          </p:val>
                                        </p:tav>
                                      </p:tavLst>
                                    </p:anim>
                                  </p:childTnLst>
                                </p:cTn>
                              </p:par>
                              <p:par>
                                <p:cTn id="70" presetID="53" presetClass="entr" presetSubtype="16" fill="hold" grpId="0" nodeType="withEffect">
                                  <p:stCondLst>
                                    <p:cond delay="600"/>
                                  </p:stCondLst>
                                  <p:childTnLst>
                                    <p:set>
                                      <p:cBhvr>
                                        <p:cTn id="71" dur="1" fill="hold">
                                          <p:stCondLst>
                                            <p:cond delay="0"/>
                                          </p:stCondLst>
                                        </p:cTn>
                                        <p:tgtEl>
                                          <p:spTgt spid="17"/>
                                        </p:tgtEl>
                                        <p:attrNameLst>
                                          <p:attrName>style.visibility</p:attrName>
                                        </p:attrNameLst>
                                      </p:cBhvr>
                                      <p:to>
                                        <p:strVal val="visible"/>
                                      </p:to>
                                    </p:set>
                                    <p:anim calcmode="lin" valueType="num">
                                      <p:cBhvr>
                                        <p:cTn id="72" dur="500" fill="hold"/>
                                        <p:tgtEl>
                                          <p:spTgt spid="17"/>
                                        </p:tgtEl>
                                        <p:attrNameLst>
                                          <p:attrName>ppt_w</p:attrName>
                                        </p:attrNameLst>
                                      </p:cBhvr>
                                      <p:tavLst>
                                        <p:tav tm="0">
                                          <p:val>
                                            <p:fltVal val="0"/>
                                          </p:val>
                                        </p:tav>
                                        <p:tav tm="100000">
                                          <p:val>
                                            <p:strVal val="#ppt_w"/>
                                          </p:val>
                                        </p:tav>
                                      </p:tavLst>
                                    </p:anim>
                                    <p:anim calcmode="lin" valueType="num">
                                      <p:cBhvr>
                                        <p:cTn id="73" dur="500" fill="hold"/>
                                        <p:tgtEl>
                                          <p:spTgt spid="17"/>
                                        </p:tgtEl>
                                        <p:attrNameLst>
                                          <p:attrName>ppt_h</p:attrName>
                                        </p:attrNameLst>
                                      </p:cBhvr>
                                      <p:tavLst>
                                        <p:tav tm="0">
                                          <p:val>
                                            <p:fltVal val="0"/>
                                          </p:val>
                                        </p:tav>
                                        <p:tav tm="100000">
                                          <p:val>
                                            <p:strVal val="#ppt_h"/>
                                          </p:val>
                                        </p:tav>
                                      </p:tavLst>
                                    </p:anim>
                                    <p:animEffect transition="in" filter="fade">
                                      <p:cBhvr>
                                        <p:cTn id="74" dur="500"/>
                                        <p:tgtEl>
                                          <p:spTgt spid="17"/>
                                        </p:tgtEl>
                                      </p:cBhvr>
                                    </p:animEffect>
                                  </p:childTnLst>
                                </p:cTn>
                              </p:par>
                              <p:par>
                                <p:cTn id="75" presetID="42" presetClass="entr" presetSubtype="0" fill="hold" grpId="0" nodeType="withEffect">
                                  <p:stCondLst>
                                    <p:cond delay="60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600"/>
                                        <p:tgtEl>
                                          <p:spTgt spid="18"/>
                                        </p:tgtEl>
                                      </p:cBhvr>
                                    </p:animEffect>
                                    <p:anim calcmode="lin" valueType="num">
                                      <p:cBhvr>
                                        <p:cTn id="78" dur="600" fill="hold"/>
                                        <p:tgtEl>
                                          <p:spTgt spid="18"/>
                                        </p:tgtEl>
                                        <p:attrNameLst>
                                          <p:attrName>ppt_x</p:attrName>
                                        </p:attrNameLst>
                                      </p:cBhvr>
                                      <p:tavLst>
                                        <p:tav tm="0">
                                          <p:val>
                                            <p:strVal val="#ppt_x"/>
                                          </p:val>
                                        </p:tav>
                                        <p:tav tm="100000">
                                          <p:val>
                                            <p:strVal val="#ppt_x"/>
                                          </p:val>
                                        </p:tav>
                                      </p:tavLst>
                                    </p:anim>
                                    <p:anim calcmode="lin" valueType="num">
                                      <p:cBhvr>
                                        <p:cTn id="79" dur="600" fill="hold"/>
                                        <p:tgtEl>
                                          <p:spTgt spid="18"/>
                                        </p:tgtEl>
                                        <p:attrNameLst>
                                          <p:attrName>ppt_y</p:attrName>
                                        </p:attrNameLst>
                                      </p:cBhvr>
                                      <p:tavLst>
                                        <p:tav tm="0">
                                          <p:val>
                                            <p:strVal val="#ppt_y+.05"/>
                                          </p:val>
                                        </p:tav>
                                        <p:tav tm="100000">
                                          <p:val>
                                            <p:strVal val="#ppt_y"/>
                                          </p:val>
                                        </p:tav>
                                      </p:tavLst>
                                    </p:anim>
                                  </p:childTnLst>
                                </p:cTn>
                              </p:par>
                              <p:par>
                                <p:cTn id="80" presetID="42" presetClass="entr" presetSubtype="0" fill="hold" grpId="0" nodeType="withEffect">
                                  <p:stCondLst>
                                    <p:cond delay="60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600"/>
                                        <p:tgtEl>
                                          <p:spTgt spid="19"/>
                                        </p:tgtEl>
                                      </p:cBhvr>
                                    </p:animEffect>
                                    <p:anim calcmode="lin" valueType="num">
                                      <p:cBhvr>
                                        <p:cTn id="83" dur="600" fill="hold"/>
                                        <p:tgtEl>
                                          <p:spTgt spid="19"/>
                                        </p:tgtEl>
                                        <p:attrNameLst>
                                          <p:attrName>ppt_x</p:attrName>
                                        </p:attrNameLst>
                                      </p:cBhvr>
                                      <p:tavLst>
                                        <p:tav tm="0">
                                          <p:val>
                                            <p:strVal val="#ppt_x"/>
                                          </p:val>
                                        </p:tav>
                                        <p:tav tm="100000">
                                          <p:val>
                                            <p:strVal val="#ppt_x"/>
                                          </p:val>
                                        </p:tav>
                                      </p:tavLst>
                                    </p:anim>
                                    <p:anim calcmode="lin" valueType="num">
                                      <p:cBhvr>
                                        <p:cTn id="84" dur="600" fill="hold"/>
                                        <p:tgtEl>
                                          <p:spTgt spid="19"/>
                                        </p:tgtEl>
                                        <p:attrNameLst>
                                          <p:attrName>ppt_y</p:attrName>
                                        </p:attrNameLst>
                                      </p:cBhvr>
                                      <p:tavLst>
                                        <p:tav tm="0">
                                          <p:val>
                                            <p:strVal val="#ppt_y+.05"/>
                                          </p:val>
                                        </p:tav>
                                        <p:tav tm="100000">
                                          <p:val>
                                            <p:strVal val="#ppt_y"/>
                                          </p:val>
                                        </p:tav>
                                      </p:tavLst>
                                    </p:anim>
                                  </p:childTnLst>
                                </p:cTn>
                              </p:par>
                              <p:par>
                                <p:cTn id="85" presetID="42" presetClass="entr" presetSubtype="0" fill="hold" grpId="0" nodeType="withEffect">
                                  <p:stCondLst>
                                    <p:cond delay="80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600"/>
                                        <p:tgtEl>
                                          <p:spTgt spid="20"/>
                                        </p:tgtEl>
                                      </p:cBhvr>
                                    </p:animEffect>
                                    <p:anim calcmode="lin" valueType="num">
                                      <p:cBhvr>
                                        <p:cTn id="88" dur="600" fill="hold"/>
                                        <p:tgtEl>
                                          <p:spTgt spid="20"/>
                                        </p:tgtEl>
                                        <p:attrNameLst>
                                          <p:attrName>ppt_x</p:attrName>
                                        </p:attrNameLst>
                                      </p:cBhvr>
                                      <p:tavLst>
                                        <p:tav tm="0">
                                          <p:val>
                                            <p:strVal val="#ppt_x"/>
                                          </p:val>
                                        </p:tav>
                                        <p:tav tm="100000">
                                          <p:val>
                                            <p:strVal val="#ppt_x"/>
                                          </p:val>
                                        </p:tav>
                                      </p:tavLst>
                                    </p:anim>
                                    <p:anim calcmode="lin" valueType="num">
                                      <p:cBhvr>
                                        <p:cTn id="89" dur="600" fill="hold"/>
                                        <p:tgtEl>
                                          <p:spTgt spid="20"/>
                                        </p:tgtEl>
                                        <p:attrNameLst>
                                          <p:attrName>ppt_y</p:attrName>
                                        </p:attrNameLst>
                                      </p:cBhvr>
                                      <p:tavLst>
                                        <p:tav tm="0">
                                          <p:val>
                                            <p:strVal val="#ppt_y+.05"/>
                                          </p:val>
                                        </p:tav>
                                        <p:tav tm="100000">
                                          <p:val>
                                            <p:strVal val="#ppt_y"/>
                                          </p:val>
                                        </p:tav>
                                      </p:tavLst>
                                    </p:anim>
                                  </p:childTnLst>
                                </p:cTn>
                              </p:par>
                              <p:par>
                                <p:cTn id="90" presetID="53" presetClass="entr" presetSubtype="16" fill="hold" grpId="0" nodeType="withEffect">
                                  <p:stCondLst>
                                    <p:cond delay="800"/>
                                  </p:stCondLst>
                                  <p:childTnLst>
                                    <p:set>
                                      <p:cBhvr>
                                        <p:cTn id="91" dur="1" fill="hold">
                                          <p:stCondLst>
                                            <p:cond delay="0"/>
                                          </p:stCondLst>
                                        </p:cTn>
                                        <p:tgtEl>
                                          <p:spTgt spid="21"/>
                                        </p:tgtEl>
                                        <p:attrNameLst>
                                          <p:attrName>style.visibility</p:attrName>
                                        </p:attrNameLst>
                                      </p:cBhvr>
                                      <p:to>
                                        <p:strVal val="visible"/>
                                      </p:to>
                                    </p:set>
                                    <p:anim calcmode="lin" valueType="num">
                                      <p:cBhvr>
                                        <p:cTn id="92" dur="500" fill="hold"/>
                                        <p:tgtEl>
                                          <p:spTgt spid="21"/>
                                        </p:tgtEl>
                                        <p:attrNameLst>
                                          <p:attrName>ppt_w</p:attrName>
                                        </p:attrNameLst>
                                      </p:cBhvr>
                                      <p:tavLst>
                                        <p:tav tm="0">
                                          <p:val>
                                            <p:fltVal val="0"/>
                                          </p:val>
                                        </p:tav>
                                        <p:tav tm="100000">
                                          <p:val>
                                            <p:strVal val="#ppt_w"/>
                                          </p:val>
                                        </p:tav>
                                      </p:tavLst>
                                    </p:anim>
                                    <p:anim calcmode="lin" valueType="num">
                                      <p:cBhvr>
                                        <p:cTn id="93" dur="500" fill="hold"/>
                                        <p:tgtEl>
                                          <p:spTgt spid="21"/>
                                        </p:tgtEl>
                                        <p:attrNameLst>
                                          <p:attrName>ppt_h</p:attrName>
                                        </p:attrNameLst>
                                      </p:cBhvr>
                                      <p:tavLst>
                                        <p:tav tm="0">
                                          <p:val>
                                            <p:fltVal val="0"/>
                                          </p:val>
                                        </p:tav>
                                        <p:tav tm="100000">
                                          <p:val>
                                            <p:strVal val="#ppt_h"/>
                                          </p:val>
                                        </p:tav>
                                      </p:tavLst>
                                    </p:anim>
                                    <p:animEffect transition="in" filter="fade">
                                      <p:cBhvr>
                                        <p:cTn id="94" dur="500"/>
                                        <p:tgtEl>
                                          <p:spTgt spid="21"/>
                                        </p:tgtEl>
                                      </p:cBhvr>
                                    </p:animEffect>
                                  </p:childTnLst>
                                </p:cTn>
                              </p:par>
                              <p:par>
                                <p:cTn id="95" presetID="42" presetClass="entr" presetSubtype="0" fill="hold" grpId="0" nodeType="withEffect">
                                  <p:stCondLst>
                                    <p:cond delay="80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600"/>
                                        <p:tgtEl>
                                          <p:spTgt spid="22"/>
                                        </p:tgtEl>
                                      </p:cBhvr>
                                    </p:animEffect>
                                    <p:anim calcmode="lin" valueType="num">
                                      <p:cBhvr>
                                        <p:cTn id="98" dur="600" fill="hold"/>
                                        <p:tgtEl>
                                          <p:spTgt spid="22"/>
                                        </p:tgtEl>
                                        <p:attrNameLst>
                                          <p:attrName>ppt_x</p:attrName>
                                        </p:attrNameLst>
                                      </p:cBhvr>
                                      <p:tavLst>
                                        <p:tav tm="0">
                                          <p:val>
                                            <p:strVal val="#ppt_x"/>
                                          </p:val>
                                        </p:tav>
                                        <p:tav tm="100000">
                                          <p:val>
                                            <p:strVal val="#ppt_x"/>
                                          </p:val>
                                        </p:tav>
                                      </p:tavLst>
                                    </p:anim>
                                    <p:anim calcmode="lin" valueType="num">
                                      <p:cBhvr>
                                        <p:cTn id="99" dur="600" fill="hold"/>
                                        <p:tgtEl>
                                          <p:spTgt spid="22"/>
                                        </p:tgtEl>
                                        <p:attrNameLst>
                                          <p:attrName>ppt_y</p:attrName>
                                        </p:attrNameLst>
                                      </p:cBhvr>
                                      <p:tavLst>
                                        <p:tav tm="0">
                                          <p:val>
                                            <p:strVal val="#ppt_y+.05"/>
                                          </p:val>
                                        </p:tav>
                                        <p:tav tm="100000">
                                          <p:val>
                                            <p:strVal val="#ppt_y"/>
                                          </p:val>
                                        </p:tav>
                                      </p:tavLst>
                                    </p:anim>
                                  </p:childTnLst>
                                </p:cTn>
                              </p:par>
                              <p:par>
                                <p:cTn id="100" presetID="42" presetClass="entr" presetSubtype="0" fill="hold" grpId="0" nodeType="withEffect">
                                  <p:stCondLst>
                                    <p:cond delay="80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600"/>
                                        <p:tgtEl>
                                          <p:spTgt spid="23"/>
                                        </p:tgtEl>
                                      </p:cBhvr>
                                    </p:animEffect>
                                    <p:anim calcmode="lin" valueType="num">
                                      <p:cBhvr>
                                        <p:cTn id="103" dur="600" fill="hold"/>
                                        <p:tgtEl>
                                          <p:spTgt spid="23"/>
                                        </p:tgtEl>
                                        <p:attrNameLst>
                                          <p:attrName>ppt_x</p:attrName>
                                        </p:attrNameLst>
                                      </p:cBhvr>
                                      <p:tavLst>
                                        <p:tav tm="0">
                                          <p:val>
                                            <p:strVal val="#ppt_x"/>
                                          </p:val>
                                        </p:tav>
                                        <p:tav tm="100000">
                                          <p:val>
                                            <p:strVal val="#ppt_x"/>
                                          </p:val>
                                        </p:tav>
                                      </p:tavLst>
                                    </p:anim>
                                    <p:anim calcmode="lin" valueType="num">
                                      <p:cBhvr>
                                        <p:cTn id="104" dur="600" fill="hold"/>
                                        <p:tgtEl>
                                          <p:spTgt spid="23"/>
                                        </p:tgtEl>
                                        <p:attrNameLst>
                                          <p:attrName>ppt_y</p:attrName>
                                        </p:attrNameLst>
                                      </p:cBhvr>
                                      <p:tavLst>
                                        <p:tav tm="0">
                                          <p:val>
                                            <p:strVal val="#ppt_y+.05"/>
                                          </p:val>
                                        </p:tav>
                                        <p:tav tm="100000">
                                          <p:val>
                                            <p:strVal val="#ppt_y"/>
                                          </p:val>
                                        </p:tav>
                                      </p:tavLst>
                                    </p:anim>
                                  </p:childTnLst>
                                </p:cTn>
                              </p:par>
                              <p:par>
                                <p:cTn id="105" presetID="42" presetClass="entr" presetSubtype="0" fill="hold" grpId="0" nodeType="withEffect">
                                  <p:stCondLst>
                                    <p:cond delay="100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600"/>
                                        <p:tgtEl>
                                          <p:spTgt spid="24"/>
                                        </p:tgtEl>
                                      </p:cBhvr>
                                    </p:animEffect>
                                    <p:anim calcmode="lin" valueType="num">
                                      <p:cBhvr>
                                        <p:cTn id="108" dur="600" fill="hold"/>
                                        <p:tgtEl>
                                          <p:spTgt spid="24"/>
                                        </p:tgtEl>
                                        <p:attrNameLst>
                                          <p:attrName>ppt_x</p:attrName>
                                        </p:attrNameLst>
                                      </p:cBhvr>
                                      <p:tavLst>
                                        <p:tav tm="0">
                                          <p:val>
                                            <p:strVal val="#ppt_x"/>
                                          </p:val>
                                        </p:tav>
                                        <p:tav tm="100000">
                                          <p:val>
                                            <p:strVal val="#ppt_x"/>
                                          </p:val>
                                        </p:tav>
                                      </p:tavLst>
                                    </p:anim>
                                    <p:anim calcmode="lin" valueType="num">
                                      <p:cBhvr>
                                        <p:cTn id="109" dur="600" fill="hold"/>
                                        <p:tgtEl>
                                          <p:spTgt spid="24"/>
                                        </p:tgtEl>
                                        <p:attrNameLst>
                                          <p:attrName>ppt_y</p:attrName>
                                        </p:attrNameLst>
                                      </p:cBhvr>
                                      <p:tavLst>
                                        <p:tav tm="0">
                                          <p:val>
                                            <p:strVal val="#ppt_y+.05"/>
                                          </p:val>
                                        </p:tav>
                                        <p:tav tm="100000">
                                          <p:val>
                                            <p:strVal val="#ppt_y"/>
                                          </p:val>
                                        </p:tav>
                                      </p:tavLst>
                                    </p:anim>
                                  </p:childTnLst>
                                </p:cTn>
                              </p:par>
                              <p:par>
                                <p:cTn id="110" presetID="53" presetClass="entr" presetSubtype="16" fill="hold" grpId="0" nodeType="withEffect">
                                  <p:stCondLst>
                                    <p:cond delay="1000"/>
                                  </p:stCondLst>
                                  <p:childTnLst>
                                    <p:set>
                                      <p:cBhvr>
                                        <p:cTn id="111" dur="1" fill="hold">
                                          <p:stCondLst>
                                            <p:cond delay="0"/>
                                          </p:stCondLst>
                                        </p:cTn>
                                        <p:tgtEl>
                                          <p:spTgt spid="25"/>
                                        </p:tgtEl>
                                        <p:attrNameLst>
                                          <p:attrName>style.visibility</p:attrName>
                                        </p:attrNameLst>
                                      </p:cBhvr>
                                      <p:to>
                                        <p:strVal val="visible"/>
                                      </p:to>
                                    </p:set>
                                    <p:anim calcmode="lin" valueType="num">
                                      <p:cBhvr>
                                        <p:cTn id="112" dur="500" fill="hold"/>
                                        <p:tgtEl>
                                          <p:spTgt spid="25"/>
                                        </p:tgtEl>
                                        <p:attrNameLst>
                                          <p:attrName>ppt_w</p:attrName>
                                        </p:attrNameLst>
                                      </p:cBhvr>
                                      <p:tavLst>
                                        <p:tav tm="0">
                                          <p:val>
                                            <p:fltVal val="0"/>
                                          </p:val>
                                        </p:tav>
                                        <p:tav tm="100000">
                                          <p:val>
                                            <p:strVal val="#ppt_w"/>
                                          </p:val>
                                        </p:tav>
                                      </p:tavLst>
                                    </p:anim>
                                    <p:anim calcmode="lin" valueType="num">
                                      <p:cBhvr>
                                        <p:cTn id="113" dur="500" fill="hold"/>
                                        <p:tgtEl>
                                          <p:spTgt spid="25"/>
                                        </p:tgtEl>
                                        <p:attrNameLst>
                                          <p:attrName>ppt_h</p:attrName>
                                        </p:attrNameLst>
                                      </p:cBhvr>
                                      <p:tavLst>
                                        <p:tav tm="0">
                                          <p:val>
                                            <p:fltVal val="0"/>
                                          </p:val>
                                        </p:tav>
                                        <p:tav tm="100000">
                                          <p:val>
                                            <p:strVal val="#ppt_h"/>
                                          </p:val>
                                        </p:tav>
                                      </p:tavLst>
                                    </p:anim>
                                    <p:animEffect transition="in" filter="fade">
                                      <p:cBhvr>
                                        <p:cTn id="114" dur="500"/>
                                        <p:tgtEl>
                                          <p:spTgt spid="25"/>
                                        </p:tgtEl>
                                      </p:cBhvr>
                                    </p:animEffect>
                                  </p:childTnLst>
                                </p:cTn>
                              </p:par>
                              <p:par>
                                <p:cTn id="115" presetID="42" presetClass="entr" presetSubtype="0" fill="hold" grpId="0" nodeType="withEffect">
                                  <p:stCondLst>
                                    <p:cond delay="1000"/>
                                  </p:stCondLst>
                                  <p:childTnLst>
                                    <p:set>
                                      <p:cBhvr>
                                        <p:cTn id="116" dur="1" fill="hold">
                                          <p:stCondLst>
                                            <p:cond delay="0"/>
                                          </p:stCondLst>
                                        </p:cTn>
                                        <p:tgtEl>
                                          <p:spTgt spid="26"/>
                                        </p:tgtEl>
                                        <p:attrNameLst>
                                          <p:attrName>style.visibility</p:attrName>
                                        </p:attrNameLst>
                                      </p:cBhvr>
                                      <p:to>
                                        <p:strVal val="visible"/>
                                      </p:to>
                                    </p:set>
                                    <p:animEffect transition="in" filter="fade">
                                      <p:cBhvr>
                                        <p:cTn id="117" dur="600"/>
                                        <p:tgtEl>
                                          <p:spTgt spid="26"/>
                                        </p:tgtEl>
                                      </p:cBhvr>
                                    </p:animEffect>
                                    <p:anim calcmode="lin" valueType="num">
                                      <p:cBhvr>
                                        <p:cTn id="118" dur="600" fill="hold"/>
                                        <p:tgtEl>
                                          <p:spTgt spid="26"/>
                                        </p:tgtEl>
                                        <p:attrNameLst>
                                          <p:attrName>ppt_x</p:attrName>
                                        </p:attrNameLst>
                                      </p:cBhvr>
                                      <p:tavLst>
                                        <p:tav tm="0">
                                          <p:val>
                                            <p:strVal val="#ppt_x"/>
                                          </p:val>
                                        </p:tav>
                                        <p:tav tm="100000">
                                          <p:val>
                                            <p:strVal val="#ppt_x"/>
                                          </p:val>
                                        </p:tav>
                                      </p:tavLst>
                                    </p:anim>
                                    <p:anim calcmode="lin" valueType="num">
                                      <p:cBhvr>
                                        <p:cTn id="119" dur="600" fill="hold"/>
                                        <p:tgtEl>
                                          <p:spTgt spid="26"/>
                                        </p:tgtEl>
                                        <p:attrNameLst>
                                          <p:attrName>ppt_y</p:attrName>
                                        </p:attrNameLst>
                                      </p:cBhvr>
                                      <p:tavLst>
                                        <p:tav tm="0">
                                          <p:val>
                                            <p:strVal val="#ppt_y+.05"/>
                                          </p:val>
                                        </p:tav>
                                        <p:tav tm="100000">
                                          <p:val>
                                            <p:strVal val="#ppt_y"/>
                                          </p:val>
                                        </p:tav>
                                      </p:tavLst>
                                    </p:anim>
                                  </p:childTnLst>
                                </p:cTn>
                              </p:par>
                              <p:par>
                                <p:cTn id="120" presetID="42" presetClass="entr" presetSubtype="0" fill="hold" grpId="0" nodeType="withEffect">
                                  <p:stCondLst>
                                    <p:cond delay="100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600"/>
                                        <p:tgtEl>
                                          <p:spTgt spid="27"/>
                                        </p:tgtEl>
                                      </p:cBhvr>
                                    </p:animEffect>
                                    <p:anim calcmode="lin" valueType="num">
                                      <p:cBhvr>
                                        <p:cTn id="123" dur="600" fill="hold"/>
                                        <p:tgtEl>
                                          <p:spTgt spid="27"/>
                                        </p:tgtEl>
                                        <p:attrNameLst>
                                          <p:attrName>ppt_x</p:attrName>
                                        </p:attrNameLst>
                                      </p:cBhvr>
                                      <p:tavLst>
                                        <p:tav tm="0">
                                          <p:val>
                                            <p:strVal val="#ppt_x"/>
                                          </p:val>
                                        </p:tav>
                                        <p:tav tm="100000">
                                          <p:val>
                                            <p:strVal val="#ppt_x"/>
                                          </p:val>
                                        </p:tav>
                                      </p:tavLst>
                                    </p:anim>
                                    <p:anim calcmode="lin" valueType="num">
                                      <p:cBhvr>
                                        <p:cTn id="124" dur="600" fill="hold"/>
                                        <p:tgtEl>
                                          <p:spTgt spid="27"/>
                                        </p:tgtEl>
                                        <p:attrNameLst>
                                          <p:attrName>ppt_y</p:attrName>
                                        </p:attrNameLst>
                                      </p:cBhvr>
                                      <p:tavLst>
                                        <p:tav tm="0">
                                          <p:val>
                                            <p:strVal val="#ppt_y+.05"/>
                                          </p:val>
                                        </p:tav>
                                        <p:tav tm="100000">
                                          <p:val>
                                            <p:strVal val="#ppt_y"/>
                                          </p:val>
                                        </p:tav>
                                      </p:tavLst>
                                    </p:anim>
                                  </p:childTnLst>
                                </p:cTn>
                              </p:par>
                              <p:par>
                                <p:cTn id="125" presetID="42" presetClass="entr" presetSubtype="0" fill="hold" grpId="0" nodeType="withEffect">
                                  <p:stCondLst>
                                    <p:cond delay="120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600"/>
                                        <p:tgtEl>
                                          <p:spTgt spid="28"/>
                                        </p:tgtEl>
                                      </p:cBhvr>
                                    </p:animEffect>
                                    <p:anim calcmode="lin" valueType="num">
                                      <p:cBhvr>
                                        <p:cTn id="128" dur="600" fill="hold"/>
                                        <p:tgtEl>
                                          <p:spTgt spid="28"/>
                                        </p:tgtEl>
                                        <p:attrNameLst>
                                          <p:attrName>ppt_x</p:attrName>
                                        </p:attrNameLst>
                                      </p:cBhvr>
                                      <p:tavLst>
                                        <p:tav tm="0">
                                          <p:val>
                                            <p:strVal val="#ppt_x"/>
                                          </p:val>
                                        </p:tav>
                                        <p:tav tm="100000">
                                          <p:val>
                                            <p:strVal val="#ppt_x"/>
                                          </p:val>
                                        </p:tav>
                                      </p:tavLst>
                                    </p:anim>
                                    <p:anim calcmode="lin" valueType="num">
                                      <p:cBhvr>
                                        <p:cTn id="129" dur="600" fill="hold"/>
                                        <p:tgtEl>
                                          <p:spTgt spid="28"/>
                                        </p:tgtEl>
                                        <p:attrNameLst>
                                          <p:attrName>ppt_y</p:attrName>
                                        </p:attrNameLst>
                                      </p:cBhvr>
                                      <p:tavLst>
                                        <p:tav tm="0">
                                          <p:val>
                                            <p:strVal val="#ppt_y+.05"/>
                                          </p:val>
                                        </p:tav>
                                        <p:tav tm="100000">
                                          <p:val>
                                            <p:strVal val="#ppt_y"/>
                                          </p:val>
                                        </p:tav>
                                      </p:tavLst>
                                    </p:anim>
                                  </p:childTnLst>
                                </p:cTn>
                              </p:par>
                              <p:par>
                                <p:cTn id="130" presetID="53" presetClass="entr" presetSubtype="16" fill="hold" grpId="0" nodeType="withEffect">
                                  <p:stCondLst>
                                    <p:cond delay="1200"/>
                                  </p:stCondLst>
                                  <p:childTnLst>
                                    <p:set>
                                      <p:cBhvr>
                                        <p:cTn id="131" dur="1" fill="hold">
                                          <p:stCondLst>
                                            <p:cond delay="0"/>
                                          </p:stCondLst>
                                        </p:cTn>
                                        <p:tgtEl>
                                          <p:spTgt spid="29"/>
                                        </p:tgtEl>
                                        <p:attrNameLst>
                                          <p:attrName>style.visibility</p:attrName>
                                        </p:attrNameLst>
                                      </p:cBhvr>
                                      <p:to>
                                        <p:strVal val="visible"/>
                                      </p:to>
                                    </p:set>
                                    <p:anim calcmode="lin" valueType="num">
                                      <p:cBhvr>
                                        <p:cTn id="132" dur="500" fill="hold"/>
                                        <p:tgtEl>
                                          <p:spTgt spid="29"/>
                                        </p:tgtEl>
                                        <p:attrNameLst>
                                          <p:attrName>ppt_w</p:attrName>
                                        </p:attrNameLst>
                                      </p:cBhvr>
                                      <p:tavLst>
                                        <p:tav tm="0">
                                          <p:val>
                                            <p:fltVal val="0"/>
                                          </p:val>
                                        </p:tav>
                                        <p:tav tm="100000">
                                          <p:val>
                                            <p:strVal val="#ppt_w"/>
                                          </p:val>
                                        </p:tav>
                                      </p:tavLst>
                                    </p:anim>
                                    <p:anim calcmode="lin" valueType="num">
                                      <p:cBhvr>
                                        <p:cTn id="133" dur="500" fill="hold"/>
                                        <p:tgtEl>
                                          <p:spTgt spid="29"/>
                                        </p:tgtEl>
                                        <p:attrNameLst>
                                          <p:attrName>ppt_h</p:attrName>
                                        </p:attrNameLst>
                                      </p:cBhvr>
                                      <p:tavLst>
                                        <p:tav tm="0">
                                          <p:val>
                                            <p:fltVal val="0"/>
                                          </p:val>
                                        </p:tav>
                                        <p:tav tm="100000">
                                          <p:val>
                                            <p:strVal val="#ppt_h"/>
                                          </p:val>
                                        </p:tav>
                                      </p:tavLst>
                                    </p:anim>
                                    <p:animEffect transition="in" filter="fade">
                                      <p:cBhvr>
                                        <p:cTn id="134" dur="500"/>
                                        <p:tgtEl>
                                          <p:spTgt spid="29"/>
                                        </p:tgtEl>
                                      </p:cBhvr>
                                    </p:animEffect>
                                  </p:childTnLst>
                                </p:cTn>
                              </p:par>
                              <p:par>
                                <p:cTn id="135" presetID="42" presetClass="entr" presetSubtype="0" fill="hold" grpId="0" nodeType="withEffect">
                                  <p:stCondLst>
                                    <p:cond delay="120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600"/>
                                        <p:tgtEl>
                                          <p:spTgt spid="30"/>
                                        </p:tgtEl>
                                      </p:cBhvr>
                                    </p:animEffect>
                                    <p:anim calcmode="lin" valueType="num">
                                      <p:cBhvr>
                                        <p:cTn id="138" dur="600" fill="hold"/>
                                        <p:tgtEl>
                                          <p:spTgt spid="30"/>
                                        </p:tgtEl>
                                        <p:attrNameLst>
                                          <p:attrName>ppt_x</p:attrName>
                                        </p:attrNameLst>
                                      </p:cBhvr>
                                      <p:tavLst>
                                        <p:tav tm="0">
                                          <p:val>
                                            <p:strVal val="#ppt_x"/>
                                          </p:val>
                                        </p:tav>
                                        <p:tav tm="100000">
                                          <p:val>
                                            <p:strVal val="#ppt_x"/>
                                          </p:val>
                                        </p:tav>
                                      </p:tavLst>
                                    </p:anim>
                                    <p:anim calcmode="lin" valueType="num">
                                      <p:cBhvr>
                                        <p:cTn id="139" dur="600" fill="hold"/>
                                        <p:tgtEl>
                                          <p:spTgt spid="30"/>
                                        </p:tgtEl>
                                        <p:attrNameLst>
                                          <p:attrName>ppt_y</p:attrName>
                                        </p:attrNameLst>
                                      </p:cBhvr>
                                      <p:tavLst>
                                        <p:tav tm="0">
                                          <p:val>
                                            <p:strVal val="#ppt_y+.05"/>
                                          </p:val>
                                        </p:tav>
                                        <p:tav tm="100000">
                                          <p:val>
                                            <p:strVal val="#ppt_y"/>
                                          </p:val>
                                        </p:tav>
                                      </p:tavLst>
                                    </p:anim>
                                  </p:childTnLst>
                                </p:cTn>
                              </p:par>
                              <p:par>
                                <p:cTn id="140" presetID="42" presetClass="entr" presetSubtype="0" fill="hold" grpId="0" nodeType="withEffect">
                                  <p:stCondLst>
                                    <p:cond delay="120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600"/>
                                        <p:tgtEl>
                                          <p:spTgt spid="31"/>
                                        </p:tgtEl>
                                      </p:cBhvr>
                                    </p:animEffect>
                                    <p:anim calcmode="lin" valueType="num">
                                      <p:cBhvr>
                                        <p:cTn id="143" dur="600" fill="hold"/>
                                        <p:tgtEl>
                                          <p:spTgt spid="31"/>
                                        </p:tgtEl>
                                        <p:attrNameLst>
                                          <p:attrName>ppt_x</p:attrName>
                                        </p:attrNameLst>
                                      </p:cBhvr>
                                      <p:tavLst>
                                        <p:tav tm="0">
                                          <p:val>
                                            <p:strVal val="#ppt_x"/>
                                          </p:val>
                                        </p:tav>
                                        <p:tav tm="100000">
                                          <p:val>
                                            <p:strVal val="#ppt_x"/>
                                          </p:val>
                                        </p:tav>
                                      </p:tavLst>
                                    </p:anim>
                                    <p:anim calcmode="lin" valueType="num">
                                      <p:cBhvr>
                                        <p:cTn id="144" dur="600" fill="hold"/>
                                        <p:tgtEl>
                                          <p:spTgt spid="31"/>
                                        </p:tgtEl>
                                        <p:attrNameLst>
                                          <p:attrName>ppt_y</p:attrName>
                                        </p:attrNameLst>
                                      </p:cBhvr>
                                      <p:tavLst>
                                        <p:tav tm="0">
                                          <p:val>
                                            <p:strVal val="#ppt_y+.05"/>
                                          </p:val>
                                        </p:tav>
                                        <p:tav tm="100000">
                                          <p:val>
                                            <p:strVal val="#ppt_y"/>
                                          </p:val>
                                        </p:tav>
                                      </p:tavLst>
                                    </p:anim>
                                  </p:childTnLst>
                                </p:cTn>
                              </p:par>
                            </p:childTnLst>
                          </p:cTn>
                        </p:par>
                      </p:childTnLst>
                    </p:cTn>
                  </p:par>
                  <p:par>
                    <p:cTn id="145" fill="hold">
                      <p:stCondLst>
                        <p:cond delay="indefinite"/>
                      </p:stCondLst>
                      <p:childTnLst>
                        <p:par>
                          <p:cTn id="146" fill="hold">
                            <p:stCondLst>
                              <p:cond delay="0"/>
                            </p:stCondLst>
                            <p:childTnLst>
                              <p:par>
                                <p:cTn id="147" presetID="53" presetClass="entr" presetSubtype="16" fill="hold" grpId="0" nodeType="clickEffect">
                                  <p:stCondLst>
                                    <p:cond delay="0"/>
                                  </p:stCondLst>
                                  <p:childTnLst>
                                    <p:set>
                                      <p:cBhvr>
                                        <p:cTn id="148" dur="1" fill="hold">
                                          <p:stCondLst>
                                            <p:cond delay="0"/>
                                          </p:stCondLst>
                                        </p:cTn>
                                        <p:tgtEl>
                                          <p:spTgt spid="32"/>
                                        </p:tgtEl>
                                        <p:attrNameLst>
                                          <p:attrName>style.visibility</p:attrName>
                                        </p:attrNameLst>
                                      </p:cBhvr>
                                      <p:to>
                                        <p:strVal val="visible"/>
                                      </p:to>
                                    </p:set>
                                    <p:anim calcmode="lin" valueType="num">
                                      <p:cBhvr>
                                        <p:cTn id="149" dur="500" fill="hold"/>
                                        <p:tgtEl>
                                          <p:spTgt spid="32"/>
                                        </p:tgtEl>
                                        <p:attrNameLst>
                                          <p:attrName>ppt_w</p:attrName>
                                        </p:attrNameLst>
                                      </p:cBhvr>
                                      <p:tavLst>
                                        <p:tav tm="0">
                                          <p:val>
                                            <p:fltVal val="0"/>
                                          </p:val>
                                        </p:tav>
                                        <p:tav tm="100000">
                                          <p:val>
                                            <p:strVal val="#ppt_w"/>
                                          </p:val>
                                        </p:tav>
                                      </p:tavLst>
                                    </p:anim>
                                    <p:anim calcmode="lin" valueType="num">
                                      <p:cBhvr>
                                        <p:cTn id="150" dur="500" fill="hold"/>
                                        <p:tgtEl>
                                          <p:spTgt spid="32"/>
                                        </p:tgtEl>
                                        <p:attrNameLst>
                                          <p:attrName>ppt_h</p:attrName>
                                        </p:attrNameLst>
                                      </p:cBhvr>
                                      <p:tavLst>
                                        <p:tav tm="0">
                                          <p:val>
                                            <p:fltVal val="0"/>
                                          </p:val>
                                        </p:tav>
                                        <p:tav tm="100000">
                                          <p:val>
                                            <p:strVal val="#ppt_h"/>
                                          </p:val>
                                        </p:tav>
                                      </p:tavLst>
                                    </p:anim>
                                    <p:animEffect transition="in" filter="fade">
                                      <p:cBhvr>
                                        <p:cTn id="151" dur="500"/>
                                        <p:tgtEl>
                                          <p:spTgt spid="32"/>
                                        </p:tgtEl>
                                      </p:cBhvr>
                                    </p:animEffect>
                                  </p:childTnLst>
                                </p:cTn>
                              </p:par>
                              <p:par>
                                <p:cTn id="152" presetID="42" presetClass="entr" presetSubtype="0" fill="hold" grpId="0" nodeType="withEffect">
                                  <p:stCondLst>
                                    <p:cond delay="200"/>
                                  </p:stCondLst>
                                  <p:childTnLst>
                                    <p:set>
                                      <p:cBhvr>
                                        <p:cTn id="153" dur="1" fill="hold">
                                          <p:stCondLst>
                                            <p:cond delay="0"/>
                                          </p:stCondLst>
                                        </p:cTn>
                                        <p:tgtEl>
                                          <p:spTgt spid="33"/>
                                        </p:tgtEl>
                                        <p:attrNameLst>
                                          <p:attrName>style.visibility</p:attrName>
                                        </p:attrNameLst>
                                      </p:cBhvr>
                                      <p:to>
                                        <p:strVal val="visible"/>
                                      </p:to>
                                    </p:set>
                                    <p:animEffect transition="in" filter="fade">
                                      <p:cBhvr>
                                        <p:cTn id="154" dur="600"/>
                                        <p:tgtEl>
                                          <p:spTgt spid="33"/>
                                        </p:tgtEl>
                                      </p:cBhvr>
                                    </p:animEffect>
                                    <p:anim calcmode="lin" valueType="num">
                                      <p:cBhvr>
                                        <p:cTn id="155" dur="600" fill="hold"/>
                                        <p:tgtEl>
                                          <p:spTgt spid="33"/>
                                        </p:tgtEl>
                                        <p:attrNameLst>
                                          <p:attrName>ppt_x</p:attrName>
                                        </p:attrNameLst>
                                      </p:cBhvr>
                                      <p:tavLst>
                                        <p:tav tm="0">
                                          <p:val>
                                            <p:strVal val="#ppt_x"/>
                                          </p:val>
                                        </p:tav>
                                        <p:tav tm="100000">
                                          <p:val>
                                            <p:strVal val="#ppt_x"/>
                                          </p:val>
                                        </p:tav>
                                      </p:tavLst>
                                    </p:anim>
                                    <p:anim calcmode="lin" valueType="num">
                                      <p:cBhvr>
                                        <p:cTn id="156" dur="600" fill="hold"/>
                                        <p:tgtEl>
                                          <p:spTgt spid="33"/>
                                        </p:tgtEl>
                                        <p:attrNameLst>
                                          <p:attrName>ppt_y</p:attrName>
                                        </p:attrNameLst>
                                      </p:cBhvr>
                                      <p:tavLst>
                                        <p:tav tm="0">
                                          <p:val>
                                            <p:strVal val="#ppt_y+.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hip"/>
          <p:cNvSpPr/>
          <p:nvPr/>
        </p:nvSpPr>
        <p:spPr>
          <a:xfrm>
            <a:off x="548640" y="237744"/>
            <a:ext cx="2660904"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050" b="1" spc="150" kern="0" dirty="0">
                <a:solidFill>
                  <a:schemeClr val="bg1"/>
                </a:solidFill>
              </a:rPr>
              <a:t>KANBAN · PROBLEMS &amp; EXAMPLES</a:t>
            </a:r>
            <a:endParaRPr lang="en-US" sz="1050" dirty="0"/>
          </a:p>
        </p:txBody>
      </p:sp>
      <p:sp>
        <p:nvSpPr>
          <p:cNvPr id="3" name="Text 0"/>
          <p:cNvSpPr/>
          <p:nvPr>
            <p:ph idx="100" type="title" hasCustomPrompt="1"/>
          </p:nvPr>
        </p:nvSpPr>
        <p:spPr>
          <a:xfrm>
            <a:off x="548640" y="566928"/>
            <a:ext cx="11094415" cy="731520"/>
          </a:xfrm>
          <a:prstGeom prst="rect">
            <a:avLst/>
          </a:prstGeom>
          <a:noFill/>
          <a:ln/>
        </p:spPr>
        <p:txBody>
          <a:bodyPr wrap="square" lIns="0" tIns="0" rIns="0" bIns="0" rtlCol="0" anchor="ctr"/>
          <a:lstStyle/>
          <a:p>
            <a:pPr algn="l" indent="0" marL="0">
              <a:buNone/>
            </a:pPr>
            <a:r>
              <a:rPr lang="en-US" sz="3400" b="1" dirty="0">
                <a:solidFill>
                  <a:schemeClr val="tx1"/>
                </a:solidFill>
              </a:rPr>
              <a:t>Kanban: problems solved and examples</a:t>
            </a:r>
            <a:endParaRPr lang="en-US" sz="3400" dirty="0"/>
          </a:p>
        </p:txBody>
      </p:sp>
      <p:sp>
        <p:nvSpPr>
          <p:cNvPr id="4" name="text"/>
          <p:cNvSpPr txBox="1"/>
          <p:nvPr/>
        </p:nvSpPr>
        <p:spPr>
          <a:xfrm>
            <a:off x="548640" y="1572768"/>
            <a:ext cx="534924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PROBLEMS IT SOLVES</a:t>
            </a:r>
            <a:endParaRPr lang="en-US" sz="1200" dirty="0"/>
          </a:p>
        </p:txBody>
      </p:sp>
      <p:sp>
        <p:nvSpPr>
          <p:cNvPr id="5" name="3DB_icon"/>
          <p:cNvSpPr/>
          <p:nvPr/>
        </p:nvSpPr>
        <p:spPr>
          <a:xfrm>
            <a:off x="548640" y="1993392"/>
            <a:ext cx="530352" cy="530352"/>
          </a:xfrm>
          <a:prstGeom prst="ellipse">
            <a:avLst/>
          </a:prstGeom>
          <a:solidFill>
            <a:schemeClr val="accent3"/>
          </a:solidFill>
          <a:ln w="12700">
            <a:solidFill>
              <a:schemeClr val="accent3"/>
            </a:solidFill>
            <a:prstDash val="solid"/>
          </a:ln>
          <a:scene3d>
            <a:camera prst="orthographicFront"/>
            <a:lightRig rig="threePt" dir="t"/>
          </a:scene3d>
          <a:sp3d prstMaterial="plastic">
            <a:bevelT w="88900" h="38100"/>
          </a:sp3d>
        </p:spPr>
      </p:sp>
      <p:pic>
        <p:nvPicPr>
          <p:cNvPr id="6" name="icon_FaBoxes" descr="preencoded.png">    </p:cNvPr>
          <p:cNvPicPr>
            <a:picLocks noChangeAspect="1"/>
          </p:cNvPicPr>
          <p:nvPr/>
        </p:nvPicPr>
        <p:blipFill>
          <a:blip r:embed="rId1"/>
          <a:stretch>
            <a:fillRect/>
          </a:stretch>
        </p:blipFill>
        <p:spPr>
          <a:xfrm>
            <a:off x="691835" y="2136587"/>
            <a:ext cx="243962" cy="243962"/>
          </a:xfrm>
          <a:prstGeom prst="rect">
            <a:avLst/>
          </a:prstGeom>
        </p:spPr>
      </p:pic>
      <p:sp>
        <p:nvSpPr>
          <p:cNvPr id="7" name="text"/>
          <p:cNvSpPr txBox="1"/>
          <p:nvPr/>
        </p:nvSpPr>
        <p:spPr>
          <a:xfrm>
            <a:off x="1280160" y="1938528"/>
            <a:ext cx="4617720" cy="329184"/>
          </a:xfrm>
          <a:prstGeom prst="rect">
            <a:avLst/>
          </a:prstGeom>
          <a:noFill/>
          <a:ln/>
        </p:spPr>
        <p:txBody>
          <a:bodyPr wrap="square" lIns="0" tIns="0" rIns="0" bIns="0" rtlCol="0" anchor="t"/>
          <a:lstStyle/>
          <a:p>
            <a:pPr indent="0" marL="0">
              <a:buNone/>
            </a:pPr>
            <a:r>
              <a:rPr lang="en-US" sz="1600" b="1" dirty="0">
                <a:solidFill>
                  <a:schemeClr val="tx1"/>
                </a:solidFill>
              </a:rPr>
              <a:t>Overproduction &amp; excess stock</a:t>
            </a:r>
            <a:endParaRPr lang="en-US" sz="1600" dirty="0"/>
          </a:p>
        </p:txBody>
      </p:sp>
      <p:sp>
        <p:nvSpPr>
          <p:cNvPr id="8" name="text"/>
          <p:cNvSpPr txBox="1"/>
          <p:nvPr/>
        </p:nvSpPr>
        <p:spPr>
          <a:xfrm>
            <a:off x="1280160" y="2286000"/>
            <a:ext cx="4617720" cy="310896"/>
          </a:xfrm>
          <a:prstGeom prst="rect">
            <a:avLst/>
          </a:prstGeom>
          <a:noFill/>
          <a:ln/>
        </p:spPr>
        <p:txBody>
          <a:bodyPr wrap="square" lIns="0" tIns="0" rIns="0" bIns="0" rtlCol="0" anchor="t"/>
          <a:lstStyle/>
          <a:p>
            <a:pPr indent="0" marL="0">
              <a:buNone/>
            </a:pPr>
            <a:r>
              <a:rPr lang="en-US" sz="1400" dirty="0">
                <a:solidFill>
                  <a:schemeClr val="tx2"/>
                </a:solidFill>
              </a:rPr>
              <a:t>Cards cap inventory and free up cash</a:t>
            </a:r>
            <a:endParaRPr lang="en-US" sz="1400" dirty="0"/>
          </a:p>
        </p:txBody>
      </p:sp>
      <p:sp>
        <p:nvSpPr>
          <p:cNvPr id="9" name="3DB_icon"/>
          <p:cNvSpPr/>
          <p:nvPr/>
        </p:nvSpPr>
        <p:spPr>
          <a:xfrm>
            <a:off x="548640" y="2834640"/>
            <a:ext cx="530352" cy="530352"/>
          </a:xfrm>
          <a:prstGeom prst="ellipse">
            <a:avLst/>
          </a:prstGeom>
          <a:solidFill>
            <a:schemeClr val="accent3"/>
          </a:solidFill>
          <a:ln w="12700">
            <a:solidFill>
              <a:schemeClr val="accent3"/>
            </a:solidFill>
            <a:prstDash val="solid"/>
          </a:ln>
          <a:scene3d>
            <a:camera prst="orthographicFront"/>
            <a:lightRig rig="threePt" dir="t"/>
          </a:scene3d>
          <a:sp3d prstMaterial="plastic">
            <a:bevelT w="88900" h="38100"/>
          </a:sp3d>
        </p:spPr>
      </p:sp>
      <p:pic>
        <p:nvPicPr>
          <p:cNvPr id="10" name="icon_FaExclamationTriangle" descr="preencoded.png">    </p:cNvPr>
          <p:cNvPicPr>
            <a:picLocks noChangeAspect="1"/>
          </p:cNvPicPr>
          <p:nvPr/>
        </p:nvPicPr>
        <p:blipFill>
          <a:blip r:embed="rId2"/>
          <a:stretch>
            <a:fillRect/>
          </a:stretch>
        </p:blipFill>
        <p:spPr>
          <a:xfrm>
            <a:off x="691835" y="2977835"/>
            <a:ext cx="243962" cy="243962"/>
          </a:xfrm>
          <a:prstGeom prst="rect">
            <a:avLst/>
          </a:prstGeom>
        </p:spPr>
      </p:pic>
      <p:sp>
        <p:nvSpPr>
          <p:cNvPr id="11" name="text"/>
          <p:cNvSpPr txBox="1"/>
          <p:nvPr/>
        </p:nvSpPr>
        <p:spPr>
          <a:xfrm>
            <a:off x="1280160" y="2779776"/>
            <a:ext cx="4617720" cy="329184"/>
          </a:xfrm>
          <a:prstGeom prst="rect">
            <a:avLst/>
          </a:prstGeom>
          <a:noFill/>
          <a:ln/>
        </p:spPr>
        <p:txBody>
          <a:bodyPr wrap="square" lIns="0" tIns="0" rIns="0" bIns="0" rtlCol="0" anchor="t"/>
          <a:lstStyle/>
          <a:p>
            <a:pPr indent="0" marL="0">
              <a:buNone/>
            </a:pPr>
            <a:r>
              <a:rPr lang="en-US" sz="1600" b="1" dirty="0">
                <a:solidFill>
                  <a:schemeClr val="tx1"/>
                </a:solidFill>
              </a:rPr>
              <a:t>Stockouts &amp; line stops</a:t>
            </a:r>
            <a:endParaRPr lang="en-US" sz="1600" dirty="0"/>
          </a:p>
        </p:txBody>
      </p:sp>
      <p:sp>
        <p:nvSpPr>
          <p:cNvPr id="12" name="text"/>
          <p:cNvSpPr txBox="1"/>
          <p:nvPr/>
        </p:nvSpPr>
        <p:spPr>
          <a:xfrm>
            <a:off x="1280160" y="3127248"/>
            <a:ext cx="4617720" cy="310896"/>
          </a:xfrm>
          <a:prstGeom prst="rect">
            <a:avLst/>
          </a:prstGeom>
          <a:noFill/>
          <a:ln/>
        </p:spPr>
        <p:txBody>
          <a:bodyPr wrap="square" lIns="0" tIns="0" rIns="0" bIns="0" rtlCol="0" anchor="t"/>
          <a:lstStyle/>
          <a:p>
            <a:pPr indent="0" marL="0">
              <a:buNone/>
            </a:pPr>
            <a:r>
              <a:rPr lang="en-US" sz="1400" dirty="0">
                <a:solidFill>
                  <a:schemeClr val="tx2"/>
                </a:solidFill>
              </a:rPr>
              <a:t>Refills follow real usage</a:t>
            </a:r>
            <a:endParaRPr lang="en-US" sz="1400" dirty="0"/>
          </a:p>
        </p:txBody>
      </p:sp>
      <p:sp>
        <p:nvSpPr>
          <p:cNvPr id="13" name="3DB_icon"/>
          <p:cNvSpPr/>
          <p:nvPr/>
        </p:nvSpPr>
        <p:spPr>
          <a:xfrm>
            <a:off x="548640" y="3675888"/>
            <a:ext cx="530352" cy="530352"/>
          </a:xfrm>
          <a:prstGeom prst="ellipse">
            <a:avLst/>
          </a:prstGeom>
          <a:solidFill>
            <a:schemeClr val="accent3"/>
          </a:solidFill>
          <a:ln w="12700">
            <a:solidFill>
              <a:schemeClr val="accent3"/>
            </a:solidFill>
            <a:prstDash val="solid"/>
          </a:ln>
          <a:scene3d>
            <a:camera prst="orthographicFront"/>
            <a:lightRig rig="threePt" dir="t"/>
          </a:scene3d>
          <a:sp3d prstMaterial="plastic">
            <a:bevelT w="88900" h="38100"/>
          </a:sp3d>
        </p:spPr>
      </p:sp>
      <p:pic>
        <p:nvPicPr>
          <p:cNvPr id="14" name="icon_FaHourglassHalf" descr="preencoded.png">    </p:cNvPr>
          <p:cNvPicPr>
            <a:picLocks noChangeAspect="1"/>
          </p:cNvPicPr>
          <p:nvPr/>
        </p:nvPicPr>
        <p:blipFill>
          <a:blip r:embed="rId3"/>
          <a:stretch>
            <a:fillRect/>
          </a:stretch>
        </p:blipFill>
        <p:spPr>
          <a:xfrm>
            <a:off x="691835" y="3819083"/>
            <a:ext cx="243962" cy="243962"/>
          </a:xfrm>
          <a:prstGeom prst="rect">
            <a:avLst/>
          </a:prstGeom>
        </p:spPr>
      </p:pic>
      <p:sp>
        <p:nvSpPr>
          <p:cNvPr id="15" name="text"/>
          <p:cNvSpPr txBox="1"/>
          <p:nvPr/>
        </p:nvSpPr>
        <p:spPr>
          <a:xfrm>
            <a:off x="1280160" y="3621024"/>
            <a:ext cx="4617720" cy="329184"/>
          </a:xfrm>
          <a:prstGeom prst="rect">
            <a:avLst/>
          </a:prstGeom>
          <a:noFill/>
          <a:ln/>
        </p:spPr>
        <p:txBody>
          <a:bodyPr wrap="square" lIns="0" tIns="0" rIns="0" bIns="0" rtlCol="0" anchor="t"/>
          <a:lstStyle/>
          <a:p>
            <a:pPr indent="0" marL="0">
              <a:buNone/>
            </a:pPr>
            <a:r>
              <a:rPr lang="en-US" sz="1600" b="1" dirty="0">
                <a:solidFill>
                  <a:schemeClr val="tx1"/>
                </a:solidFill>
              </a:rPr>
              <a:t>Long lead times</a:t>
            </a:r>
            <a:endParaRPr lang="en-US" sz="1600" dirty="0"/>
          </a:p>
        </p:txBody>
      </p:sp>
      <p:sp>
        <p:nvSpPr>
          <p:cNvPr id="16" name="text"/>
          <p:cNvSpPr txBox="1"/>
          <p:nvPr/>
        </p:nvSpPr>
        <p:spPr>
          <a:xfrm>
            <a:off x="1280160" y="3968496"/>
            <a:ext cx="4617720" cy="310896"/>
          </a:xfrm>
          <a:prstGeom prst="rect">
            <a:avLst/>
          </a:prstGeom>
          <a:noFill/>
          <a:ln/>
        </p:spPr>
        <p:txBody>
          <a:bodyPr wrap="square" lIns="0" tIns="0" rIns="0" bIns="0" rtlCol="0" anchor="t"/>
          <a:lstStyle/>
          <a:p>
            <a:pPr indent="0" marL="0">
              <a:buNone/>
            </a:pPr>
            <a:r>
              <a:rPr lang="en-US" sz="1400" dirty="0">
                <a:solidFill>
                  <a:schemeClr val="tx2"/>
                </a:solidFill>
              </a:rPr>
              <a:t>WIP limits keep queues short</a:t>
            </a:r>
            <a:endParaRPr lang="en-US" sz="1400" dirty="0"/>
          </a:p>
        </p:txBody>
      </p:sp>
      <p:sp>
        <p:nvSpPr>
          <p:cNvPr id="17" name="3DB_icon"/>
          <p:cNvSpPr/>
          <p:nvPr/>
        </p:nvSpPr>
        <p:spPr>
          <a:xfrm>
            <a:off x="548640" y="4517136"/>
            <a:ext cx="530352" cy="530352"/>
          </a:xfrm>
          <a:prstGeom prst="ellipse">
            <a:avLst/>
          </a:prstGeom>
          <a:solidFill>
            <a:schemeClr val="accent3"/>
          </a:solidFill>
          <a:ln w="12700">
            <a:solidFill>
              <a:schemeClr val="accent3"/>
            </a:solidFill>
            <a:prstDash val="solid"/>
          </a:ln>
          <a:scene3d>
            <a:camera prst="orthographicFront"/>
            <a:lightRig rig="threePt" dir="t"/>
          </a:scene3d>
          <a:sp3d prstMaterial="plastic">
            <a:bevelT w="88900" h="38100"/>
          </a:sp3d>
        </p:spPr>
      </p:sp>
      <p:pic>
        <p:nvPicPr>
          <p:cNvPr id="18" name="icon_FaEyeSlash" descr="preencoded.png">    </p:cNvPr>
          <p:cNvPicPr>
            <a:picLocks noChangeAspect="1"/>
          </p:cNvPicPr>
          <p:nvPr/>
        </p:nvPicPr>
        <p:blipFill>
          <a:blip r:embed="rId4"/>
          <a:stretch>
            <a:fillRect/>
          </a:stretch>
        </p:blipFill>
        <p:spPr>
          <a:xfrm>
            <a:off x="691835" y="4660331"/>
            <a:ext cx="243962" cy="243962"/>
          </a:xfrm>
          <a:prstGeom prst="rect">
            <a:avLst/>
          </a:prstGeom>
        </p:spPr>
      </p:pic>
      <p:sp>
        <p:nvSpPr>
          <p:cNvPr id="19" name="text"/>
          <p:cNvSpPr txBox="1"/>
          <p:nvPr/>
        </p:nvSpPr>
        <p:spPr>
          <a:xfrm>
            <a:off x="1280160" y="4462272"/>
            <a:ext cx="4617720" cy="329184"/>
          </a:xfrm>
          <a:prstGeom prst="rect">
            <a:avLst/>
          </a:prstGeom>
          <a:noFill/>
          <a:ln/>
        </p:spPr>
        <p:txBody>
          <a:bodyPr wrap="square" lIns="0" tIns="0" rIns="0" bIns="0" rtlCol="0" anchor="t"/>
          <a:lstStyle/>
          <a:p>
            <a:pPr indent="0" marL="0">
              <a:buNone/>
            </a:pPr>
            <a:r>
              <a:rPr lang="en-US" sz="1600" b="1" dirty="0">
                <a:solidFill>
                  <a:schemeClr val="tx1"/>
                </a:solidFill>
              </a:rPr>
              <a:t>Hidden bottlenecks</a:t>
            </a:r>
            <a:endParaRPr lang="en-US" sz="1600" dirty="0"/>
          </a:p>
        </p:txBody>
      </p:sp>
      <p:sp>
        <p:nvSpPr>
          <p:cNvPr id="20" name="text"/>
          <p:cNvSpPr txBox="1"/>
          <p:nvPr/>
        </p:nvSpPr>
        <p:spPr>
          <a:xfrm>
            <a:off x="1280160" y="4809744"/>
            <a:ext cx="4617720" cy="310896"/>
          </a:xfrm>
          <a:prstGeom prst="rect">
            <a:avLst/>
          </a:prstGeom>
          <a:noFill/>
          <a:ln/>
        </p:spPr>
        <p:txBody>
          <a:bodyPr wrap="square" lIns="0" tIns="0" rIns="0" bIns="0" rtlCol="0" anchor="t"/>
          <a:lstStyle/>
          <a:p>
            <a:pPr indent="0" marL="0">
              <a:buNone/>
            </a:pPr>
            <a:r>
              <a:rPr lang="en-US" sz="1400" dirty="0">
                <a:solidFill>
                  <a:schemeClr val="tx2"/>
                </a:solidFill>
              </a:rPr>
              <a:t>The board shows where work waits</a:t>
            </a:r>
            <a:endParaRPr lang="en-US" sz="1400" dirty="0"/>
          </a:p>
        </p:txBody>
      </p:sp>
      <p:sp>
        <p:nvSpPr>
          <p:cNvPr id="21" name="3DB_icon"/>
          <p:cNvSpPr/>
          <p:nvPr/>
        </p:nvSpPr>
        <p:spPr>
          <a:xfrm>
            <a:off x="548640" y="5358384"/>
            <a:ext cx="530352" cy="530352"/>
          </a:xfrm>
          <a:prstGeom prst="ellipse">
            <a:avLst/>
          </a:prstGeom>
          <a:solidFill>
            <a:schemeClr val="accent3"/>
          </a:solidFill>
          <a:ln w="12700">
            <a:solidFill>
              <a:schemeClr val="accent3"/>
            </a:solidFill>
            <a:prstDash val="solid"/>
          </a:ln>
          <a:scene3d>
            <a:camera prst="orthographicFront"/>
            <a:lightRig rig="threePt" dir="t"/>
          </a:scene3d>
          <a:sp3d prstMaterial="plastic">
            <a:bevelT w="88900" h="38100"/>
          </a:sp3d>
        </p:spPr>
      </p:sp>
      <p:pic>
        <p:nvPicPr>
          <p:cNvPr id="22" name="icon_FaRandom" descr="preencoded.png">    </p:cNvPr>
          <p:cNvPicPr>
            <a:picLocks noChangeAspect="1"/>
          </p:cNvPicPr>
          <p:nvPr/>
        </p:nvPicPr>
        <p:blipFill>
          <a:blip r:embed="rId5"/>
          <a:stretch>
            <a:fillRect/>
          </a:stretch>
        </p:blipFill>
        <p:spPr>
          <a:xfrm>
            <a:off x="691835" y="5501579"/>
            <a:ext cx="243962" cy="243962"/>
          </a:xfrm>
          <a:prstGeom prst="rect">
            <a:avLst/>
          </a:prstGeom>
        </p:spPr>
      </p:pic>
      <p:sp>
        <p:nvSpPr>
          <p:cNvPr id="23" name="text"/>
          <p:cNvSpPr txBox="1"/>
          <p:nvPr/>
        </p:nvSpPr>
        <p:spPr>
          <a:xfrm>
            <a:off x="1280160" y="5303520"/>
            <a:ext cx="4617720" cy="329184"/>
          </a:xfrm>
          <a:prstGeom prst="rect">
            <a:avLst/>
          </a:prstGeom>
          <a:noFill/>
          <a:ln/>
        </p:spPr>
        <p:txBody>
          <a:bodyPr wrap="square" lIns="0" tIns="0" rIns="0" bIns="0" rtlCol="0" anchor="t"/>
          <a:lstStyle/>
          <a:p>
            <a:pPr indent="0" marL="0">
              <a:buNone/>
            </a:pPr>
            <a:r>
              <a:rPr lang="en-US" sz="1600" b="1" dirty="0">
                <a:solidFill>
                  <a:schemeClr val="tx1"/>
                </a:solidFill>
              </a:rPr>
              <a:t>Overload &amp; multitasking</a:t>
            </a:r>
            <a:endParaRPr lang="en-US" sz="1600" dirty="0"/>
          </a:p>
        </p:txBody>
      </p:sp>
      <p:sp>
        <p:nvSpPr>
          <p:cNvPr id="24" name="text"/>
          <p:cNvSpPr txBox="1"/>
          <p:nvPr/>
        </p:nvSpPr>
        <p:spPr>
          <a:xfrm>
            <a:off x="1280160" y="5650992"/>
            <a:ext cx="4617720" cy="310896"/>
          </a:xfrm>
          <a:prstGeom prst="rect">
            <a:avLst/>
          </a:prstGeom>
          <a:noFill/>
          <a:ln/>
        </p:spPr>
        <p:txBody>
          <a:bodyPr wrap="square" lIns="0" tIns="0" rIns="0" bIns="0" rtlCol="0" anchor="t"/>
          <a:lstStyle/>
          <a:p>
            <a:pPr indent="0" marL="0">
              <a:buNone/>
            </a:pPr>
            <a:r>
              <a:rPr lang="en-US" sz="1400" dirty="0">
                <a:solidFill>
                  <a:schemeClr val="tx2"/>
                </a:solidFill>
              </a:rPr>
              <a:t>Finish work before starting new work</a:t>
            </a:r>
            <a:endParaRPr lang="en-US" sz="1400" dirty="0"/>
          </a:p>
        </p:txBody>
      </p:sp>
      <p:sp>
        <p:nvSpPr>
          <p:cNvPr id="25" name="text"/>
          <p:cNvSpPr txBox="1"/>
          <p:nvPr/>
        </p:nvSpPr>
        <p:spPr>
          <a:xfrm>
            <a:off x="6172200" y="1572768"/>
            <a:ext cx="5470855"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PRACTICAL EXAMPLES</a:t>
            </a:r>
            <a:endParaRPr lang="en-US" sz="1200" dirty="0"/>
          </a:p>
        </p:txBody>
      </p:sp>
      <p:sp>
        <p:nvSpPr>
          <p:cNvPr id="26" name="3DC_card"/>
          <p:cNvSpPr/>
          <p:nvPr/>
        </p:nvSpPr>
        <p:spPr>
          <a:xfrm>
            <a:off x="6172200" y="1920240"/>
            <a:ext cx="2621128" cy="2011680"/>
          </a:xfrm>
          <a:prstGeom prst="roundRect">
            <a:avLst>
              <a:gd name="adj" fmla="val 5455"/>
            </a:avLst>
          </a:prstGeom>
          <a:solidFill>
            <a:schemeClr val="bg2"/>
          </a:solidFill>
          <a:ln w="12700">
            <a:solidFill>
              <a:schemeClr val="bg2"/>
            </a:solidFill>
            <a:prstDash val="solid"/>
          </a:ln>
          <a:effectLst>
            <a:outerShdw sx="100000" sy="100000" kx="0" ky="0" algn="bl" rotWithShape="0" blurRad="127000" dist="38100" dir="5400000">
              <a:srgbClr val="16212E">
                <a:alpha val="16000"/>
              </a:srgbClr>
            </a:outerShdw>
          </a:effectLst>
          <a:scene3d>
            <a:camera prst="orthographicFront"/>
            <a:lightRig rig="threePt" dir="t"/>
          </a:scene3d>
          <a:sp3d>
            <a:bevelT w="25400" h="12700" prst="softRound"/>
          </a:sp3d>
        </p:spPr>
      </p:sp>
      <p:sp>
        <p:nvSpPr>
          <p:cNvPr id="27" name="3DB_icon"/>
          <p:cNvSpPr/>
          <p:nvPr/>
        </p:nvSpPr>
        <p:spPr>
          <a:xfrm>
            <a:off x="6355080" y="2103120"/>
            <a:ext cx="548640" cy="548640"/>
          </a:xfrm>
          <a:prstGeom prst="ellipse">
            <a:avLst/>
          </a:prstGeom>
          <a:solidFill>
            <a:schemeClr val="accent1"/>
          </a:solidFill>
          <a:ln w="12700">
            <a:solidFill>
              <a:schemeClr val="accent1"/>
            </a:solidFill>
            <a:prstDash val="solid"/>
          </a:ln>
          <a:scene3d>
            <a:camera prst="orthographicFront"/>
            <a:lightRig rig="threePt" dir="t"/>
          </a:scene3d>
          <a:sp3d prstMaterial="plastic">
            <a:bevelT w="88900" h="38100"/>
          </a:sp3d>
        </p:spPr>
      </p:sp>
      <p:pic>
        <p:nvPicPr>
          <p:cNvPr id="28" name="icon_FaCar" descr="preencoded.png">    </p:cNvPr>
          <p:cNvPicPr>
            <a:picLocks noChangeAspect="1"/>
          </p:cNvPicPr>
          <p:nvPr/>
        </p:nvPicPr>
        <p:blipFill>
          <a:blip r:embed="rId6"/>
          <a:stretch>
            <a:fillRect/>
          </a:stretch>
        </p:blipFill>
        <p:spPr>
          <a:xfrm>
            <a:off x="6503213" y="2251253"/>
            <a:ext cx="252374" cy="252374"/>
          </a:xfrm>
          <a:prstGeom prst="rect">
            <a:avLst/>
          </a:prstGeom>
        </p:spPr>
      </p:pic>
      <p:sp>
        <p:nvSpPr>
          <p:cNvPr id="29" name="text"/>
          <p:cNvSpPr txBox="1"/>
          <p:nvPr/>
        </p:nvSpPr>
        <p:spPr>
          <a:xfrm>
            <a:off x="7040880" y="2103120"/>
            <a:ext cx="1615288" cy="548640"/>
          </a:xfrm>
          <a:prstGeom prst="rect">
            <a:avLst/>
          </a:prstGeom>
          <a:noFill/>
          <a:ln/>
        </p:spPr>
        <p:txBody>
          <a:bodyPr wrap="square" lIns="0" tIns="0" rIns="0" bIns="0" rtlCol="0" anchor="ctr"/>
          <a:lstStyle/>
          <a:p>
            <a:pPr indent="0" marL="0">
              <a:buNone/>
            </a:pPr>
            <a:r>
              <a:rPr lang="en-US" sz="1600" b="1" dirty="0">
                <a:solidFill>
                  <a:schemeClr val="tx1"/>
                </a:solidFill>
              </a:rPr>
              <a:t>Car assembly line</a:t>
            </a:r>
            <a:endParaRPr lang="en-US" sz="1600" dirty="0"/>
          </a:p>
        </p:txBody>
      </p:sp>
      <p:sp>
        <p:nvSpPr>
          <p:cNvPr id="30" name="text"/>
          <p:cNvSpPr txBox="1"/>
          <p:nvPr/>
        </p:nvSpPr>
        <p:spPr>
          <a:xfrm>
            <a:off x="6355080" y="2788920"/>
            <a:ext cx="2301088" cy="10515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Line-side parts in two-bin racks</a:t>
            </a:r>
            <a:endParaRPr lang="en-US" sz="1400" dirty="0"/>
          </a:p>
          <a:p>
            <a:pPr marL="342900" indent="-342900">
              <a:spcAft>
                <a:spcPts val="400"/>
              </a:spcAft>
              <a:buSzPct val="100000"/>
              <a:buChar char="•"/>
            </a:pPr>
            <a:r>
              <a:rPr lang="en-US" sz="1400" dirty="0">
                <a:solidFill>
                  <a:schemeClr val="tx2"/>
                </a:solidFill>
              </a:rPr>
              <a:t>Supplier kanbans trigger deliveries</a:t>
            </a:r>
            <a:endParaRPr lang="en-US" sz="1400" dirty="0"/>
          </a:p>
        </p:txBody>
      </p:sp>
      <p:sp>
        <p:nvSpPr>
          <p:cNvPr id="31" name="3DC_card"/>
          <p:cNvSpPr/>
          <p:nvPr/>
        </p:nvSpPr>
        <p:spPr>
          <a:xfrm>
            <a:off x="9021928" y="1920240"/>
            <a:ext cx="2621128" cy="2011680"/>
          </a:xfrm>
          <a:prstGeom prst="roundRect">
            <a:avLst>
              <a:gd name="adj" fmla="val 5455"/>
            </a:avLst>
          </a:prstGeom>
          <a:solidFill>
            <a:schemeClr val="bg2"/>
          </a:solidFill>
          <a:ln w="12700">
            <a:solidFill>
              <a:schemeClr val="bg2"/>
            </a:solidFill>
            <a:prstDash val="solid"/>
          </a:ln>
          <a:effectLst>
            <a:outerShdw sx="100000" sy="100000" kx="0" ky="0" algn="bl" rotWithShape="0" blurRad="127000" dist="38100" dir="5400000">
              <a:srgbClr val="16212E">
                <a:alpha val="16000"/>
              </a:srgbClr>
            </a:outerShdw>
          </a:effectLst>
          <a:scene3d>
            <a:camera prst="orthographicFront"/>
            <a:lightRig rig="threePt" dir="t"/>
          </a:scene3d>
          <a:sp3d>
            <a:bevelT w="25400" h="12700" prst="softRound"/>
          </a:sp3d>
        </p:spPr>
      </p:sp>
      <p:sp>
        <p:nvSpPr>
          <p:cNvPr id="32" name="3DB_icon"/>
          <p:cNvSpPr/>
          <p:nvPr/>
        </p:nvSpPr>
        <p:spPr>
          <a:xfrm>
            <a:off x="9204808" y="2103120"/>
            <a:ext cx="548640" cy="548640"/>
          </a:xfrm>
          <a:prstGeom prst="ellipse">
            <a:avLst/>
          </a:prstGeom>
          <a:solidFill>
            <a:schemeClr val="accent2"/>
          </a:solidFill>
          <a:ln w="12700">
            <a:solidFill>
              <a:schemeClr val="accent2"/>
            </a:solidFill>
            <a:prstDash val="solid"/>
          </a:ln>
          <a:scene3d>
            <a:camera prst="orthographicFront"/>
            <a:lightRig rig="threePt" dir="t"/>
          </a:scene3d>
          <a:sp3d prstMaterial="plastic">
            <a:bevelT w="88900" h="38100"/>
          </a:sp3d>
        </p:spPr>
      </p:sp>
      <p:pic>
        <p:nvPicPr>
          <p:cNvPr id="33" name="icon_FaHospital" descr="preencoded.png">    </p:cNvPr>
          <p:cNvPicPr>
            <a:picLocks noChangeAspect="1"/>
          </p:cNvPicPr>
          <p:nvPr/>
        </p:nvPicPr>
        <p:blipFill>
          <a:blip r:embed="rId7"/>
          <a:stretch>
            <a:fillRect/>
          </a:stretch>
        </p:blipFill>
        <p:spPr>
          <a:xfrm>
            <a:off x="9352940" y="2251253"/>
            <a:ext cx="252374" cy="252374"/>
          </a:xfrm>
          <a:prstGeom prst="rect">
            <a:avLst/>
          </a:prstGeom>
        </p:spPr>
      </p:pic>
      <p:sp>
        <p:nvSpPr>
          <p:cNvPr id="34" name="text"/>
          <p:cNvSpPr txBox="1"/>
          <p:nvPr/>
        </p:nvSpPr>
        <p:spPr>
          <a:xfrm>
            <a:off x="9890608" y="2103120"/>
            <a:ext cx="1615288" cy="548640"/>
          </a:xfrm>
          <a:prstGeom prst="rect">
            <a:avLst/>
          </a:prstGeom>
          <a:noFill/>
          <a:ln/>
        </p:spPr>
        <p:txBody>
          <a:bodyPr wrap="square" lIns="0" tIns="0" rIns="0" bIns="0" rtlCol="0" anchor="ctr"/>
          <a:lstStyle/>
          <a:p>
            <a:pPr indent="0" marL="0">
              <a:buNone/>
            </a:pPr>
            <a:r>
              <a:rPr lang="en-US" sz="1600" b="1" dirty="0">
                <a:solidFill>
                  <a:schemeClr val="tx1"/>
                </a:solidFill>
              </a:rPr>
              <a:t>Hospital ward</a:t>
            </a:r>
            <a:endParaRPr lang="en-US" sz="1600" dirty="0"/>
          </a:p>
        </p:txBody>
      </p:sp>
      <p:sp>
        <p:nvSpPr>
          <p:cNvPr id="35" name="text"/>
          <p:cNvSpPr txBox="1"/>
          <p:nvPr/>
        </p:nvSpPr>
        <p:spPr>
          <a:xfrm>
            <a:off x="9204808" y="2788920"/>
            <a:ext cx="2301088" cy="10515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Two-bin cabinets for gloves, syringes</a:t>
            </a:r>
            <a:endParaRPr lang="en-US" sz="1400" dirty="0"/>
          </a:p>
          <a:p>
            <a:pPr marL="342900" indent="-342900">
              <a:spcAft>
                <a:spcPts val="400"/>
              </a:spcAft>
              <a:buSzPct val="100000"/>
              <a:buChar char="•"/>
            </a:pPr>
            <a:r>
              <a:rPr lang="en-US" sz="1400" dirty="0">
                <a:solidFill>
                  <a:schemeClr val="tx2"/>
                </a:solidFill>
              </a:rPr>
              <a:t>Empty-bin card is scanned to reorder</a:t>
            </a:r>
            <a:endParaRPr lang="en-US" sz="1400" dirty="0"/>
          </a:p>
        </p:txBody>
      </p:sp>
      <p:sp>
        <p:nvSpPr>
          <p:cNvPr id="36" name="3DC_card"/>
          <p:cNvSpPr/>
          <p:nvPr/>
        </p:nvSpPr>
        <p:spPr>
          <a:xfrm>
            <a:off x="6172200" y="4160520"/>
            <a:ext cx="2621128" cy="2011680"/>
          </a:xfrm>
          <a:prstGeom prst="roundRect">
            <a:avLst>
              <a:gd name="adj" fmla="val 5455"/>
            </a:avLst>
          </a:prstGeom>
          <a:solidFill>
            <a:schemeClr val="bg2"/>
          </a:solidFill>
          <a:ln w="12700">
            <a:solidFill>
              <a:schemeClr val="bg2"/>
            </a:solidFill>
            <a:prstDash val="solid"/>
          </a:ln>
          <a:effectLst>
            <a:outerShdw sx="100000" sy="100000" kx="0" ky="0" algn="bl" rotWithShape="0" blurRad="127000" dist="38100" dir="5400000">
              <a:srgbClr val="16212E">
                <a:alpha val="16000"/>
              </a:srgbClr>
            </a:outerShdw>
          </a:effectLst>
          <a:scene3d>
            <a:camera prst="orthographicFront"/>
            <a:lightRig rig="threePt" dir="t"/>
          </a:scene3d>
          <a:sp3d>
            <a:bevelT w="25400" h="12700" prst="softRound"/>
          </a:sp3d>
        </p:spPr>
      </p:sp>
      <p:sp>
        <p:nvSpPr>
          <p:cNvPr id="37" name="3DB_icon"/>
          <p:cNvSpPr/>
          <p:nvPr/>
        </p:nvSpPr>
        <p:spPr>
          <a:xfrm>
            <a:off x="6355080" y="4343400"/>
            <a:ext cx="548640" cy="548640"/>
          </a:xfrm>
          <a:prstGeom prst="ellipse">
            <a:avLst/>
          </a:prstGeom>
          <a:solidFill>
            <a:schemeClr val="accent4"/>
          </a:solidFill>
          <a:ln w="12700">
            <a:solidFill>
              <a:schemeClr val="accent4"/>
            </a:solidFill>
            <a:prstDash val="solid"/>
          </a:ln>
          <a:scene3d>
            <a:camera prst="orthographicFront"/>
            <a:lightRig rig="threePt" dir="t"/>
          </a:scene3d>
          <a:sp3d prstMaterial="plastic">
            <a:bevelT w="88900" h="38100"/>
          </a:sp3d>
        </p:spPr>
      </p:sp>
      <p:pic>
        <p:nvPicPr>
          <p:cNvPr id="38" name="icon_FaLaptopCode" descr="preencoded.png">    </p:cNvPr>
          <p:cNvPicPr>
            <a:picLocks noChangeAspect="1"/>
          </p:cNvPicPr>
          <p:nvPr/>
        </p:nvPicPr>
        <p:blipFill>
          <a:blip r:embed="rId8"/>
          <a:stretch>
            <a:fillRect/>
          </a:stretch>
        </p:blipFill>
        <p:spPr>
          <a:xfrm>
            <a:off x="6503213" y="4491533"/>
            <a:ext cx="252374" cy="252374"/>
          </a:xfrm>
          <a:prstGeom prst="rect">
            <a:avLst/>
          </a:prstGeom>
        </p:spPr>
      </p:pic>
      <p:sp>
        <p:nvSpPr>
          <p:cNvPr id="39" name="text"/>
          <p:cNvSpPr txBox="1"/>
          <p:nvPr/>
        </p:nvSpPr>
        <p:spPr>
          <a:xfrm>
            <a:off x="7040880" y="4343400"/>
            <a:ext cx="1615288" cy="548640"/>
          </a:xfrm>
          <a:prstGeom prst="rect">
            <a:avLst/>
          </a:prstGeom>
          <a:noFill/>
          <a:ln/>
        </p:spPr>
        <p:txBody>
          <a:bodyPr wrap="square" lIns="0" tIns="0" rIns="0" bIns="0" rtlCol="0" anchor="ctr"/>
          <a:lstStyle/>
          <a:p>
            <a:pPr indent="0" marL="0">
              <a:buNone/>
            </a:pPr>
            <a:r>
              <a:rPr lang="en-US" sz="1600" b="1" dirty="0">
                <a:solidFill>
                  <a:schemeClr val="tx1"/>
                </a:solidFill>
              </a:rPr>
              <a:t>Software team</a:t>
            </a:r>
            <a:endParaRPr lang="en-US" sz="1600" dirty="0"/>
          </a:p>
        </p:txBody>
      </p:sp>
      <p:sp>
        <p:nvSpPr>
          <p:cNvPr id="40" name="text"/>
          <p:cNvSpPr txBox="1"/>
          <p:nvPr/>
        </p:nvSpPr>
        <p:spPr>
          <a:xfrm>
            <a:off x="6355080" y="5029200"/>
            <a:ext cx="2301088" cy="10515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Board: To do → Doing → Done</a:t>
            </a:r>
            <a:endParaRPr lang="en-US" sz="1400" dirty="0"/>
          </a:p>
          <a:p>
            <a:pPr marL="342900" indent="-342900">
              <a:spcAft>
                <a:spcPts val="400"/>
              </a:spcAft>
              <a:buSzPct val="100000"/>
              <a:buChar char="•"/>
            </a:pPr>
            <a:r>
              <a:rPr lang="en-US" sz="1400" dirty="0">
                <a:solidFill>
                  <a:schemeClr val="tx2"/>
                </a:solidFill>
              </a:rPr>
              <a:t>Max 3 tasks per column</a:t>
            </a:r>
            <a:endParaRPr lang="en-US" sz="1400" dirty="0"/>
          </a:p>
        </p:txBody>
      </p:sp>
      <p:sp>
        <p:nvSpPr>
          <p:cNvPr id="41" name="3DC_card"/>
          <p:cNvSpPr/>
          <p:nvPr/>
        </p:nvSpPr>
        <p:spPr>
          <a:xfrm>
            <a:off x="9021928" y="4160520"/>
            <a:ext cx="2621128" cy="2011680"/>
          </a:xfrm>
          <a:prstGeom prst="roundRect">
            <a:avLst>
              <a:gd name="adj" fmla="val 5455"/>
            </a:avLst>
          </a:prstGeom>
          <a:solidFill>
            <a:schemeClr val="bg2"/>
          </a:solidFill>
          <a:ln w="12700">
            <a:solidFill>
              <a:schemeClr val="bg2"/>
            </a:solidFill>
            <a:prstDash val="solid"/>
          </a:ln>
          <a:effectLst>
            <a:outerShdw sx="100000" sy="100000" kx="0" ky="0" algn="bl" rotWithShape="0" blurRad="127000" dist="38100" dir="5400000">
              <a:srgbClr val="16212E">
                <a:alpha val="16000"/>
              </a:srgbClr>
            </a:outerShdw>
          </a:effectLst>
          <a:scene3d>
            <a:camera prst="orthographicFront"/>
            <a:lightRig rig="threePt" dir="t"/>
          </a:scene3d>
          <a:sp3d>
            <a:bevelT w="25400" h="12700" prst="softRound"/>
          </a:sp3d>
        </p:spPr>
      </p:sp>
      <p:sp>
        <p:nvSpPr>
          <p:cNvPr id="42" name="3DB_icon"/>
          <p:cNvSpPr/>
          <p:nvPr/>
        </p:nvSpPr>
        <p:spPr>
          <a:xfrm>
            <a:off x="9204808" y="4343400"/>
            <a:ext cx="548640" cy="548640"/>
          </a:xfrm>
          <a:prstGeom prst="ellipse">
            <a:avLst/>
          </a:prstGeom>
          <a:solidFill>
            <a:schemeClr val="accent3"/>
          </a:solidFill>
          <a:ln w="12700">
            <a:solidFill>
              <a:schemeClr val="accent3"/>
            </a:solidFill>
            <a:prstDash val="solid"/>
          </a:ln>
          <a:scene3d>
            <a:camera prst="orthographicFront"/>
            <a:lightRig rig="threePt" dir="t"/>
          </a:scene3d>
          <a:sp3d prstMaterial="plastic">
            <a:bevelT w="88900" h="38100"/>
          </a:sp3d>
        </p:spPr>
      </p:sp>
      <p:pic>
        <p:nvPicPr>
          <p:cNvPr id="43" name="icon_FaBriefcase" descr="preencoded.png">    </p:cNvPr>
          <p:cNvPicPr>
            <a:picLocks noChangeAspect="1"/>
          </p:cNvPicPr>
          <p:nvPr/>
        </p:nvPicPr>
        <p:blipFill>
          <a:blip r:embed="rId9"/>
          <a:stretch>
            <a:fillRect/>
          </a:stretch>
        </p:blipFill>
        <p:spPr>
          <a:xfrm>
            <a:off x="9352940" y="4491533"/>
            <a:ext cx="252374" cy="252374"/>
          </a:xfrm>
          <a:prstGeom prst="rect">
            <a:avLst/>
          </a:prstGeom>
        </p:spPr>
      </p:pic>
      <p:sp>
        <p:nvSpPr>
          <p:cNvPr id="44" name="text"/>
          <p:cNvSpPr txBox="1"/>
          <p:nvPr/>
        </p:nvSpPr>
        <p:spPr>
          <a:xfrm>
            <a:off x="9890608" y="4343400"/>
            <a:ext cx="1615288" cy="548640"/>
          </a:xfrm>
          <a:prstGeom prst="rect">
            <a:avLst/>
          </a:prstGeom>
          <a:noFill/>
          <a:ln/>
        </p:spPr>
        <p:txBody>
          <a:bodyPr wrap="square" lIns="0" tIns="0" rIns="0" bIns="0" rtlCol="0" anchor="ctr"/>
          <a:lstStyle/>
          <a:p>
            <a:pPr indent="0" marL="0">
              <a:buNone/>
            </a:pPr>
            <a:r>
              <a:rPr lang="en-US" sz="1600" b="1" dirty="0">
                <a:solidFill>
                  <a:schemeClr val="tx1"/>
                </a:solidFill>
              </a:rPr>
              <a:t>Office / HR</a:t>
            </a:r>
            <a:endParaRPr lang="en-US" sz="1600" dirty="0"/>
          </a:p>
        </p:txBody>
      </p:sp>
      <p:sp>
        <p:nvSpPr>
          <p:cNvPr id="45" name="text"/>
          <p:cNvSpPr txBox="1"/>
          <p:nvPr/>
        </p:nvSpPr>
        <p:spPr>
          <a:xfrm>
            <a:off x="9204808" y="5029200"/>
            <a:ext cx="2301088" cy="10515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Each request or vacancy is a card</a:t>
            </a:r>
            <a:endParaRPr lang="en-US" sz="1400" dirty="0"/>
          </a:p>
          <a:p>
            <a:pPr marL="342900" indent="-342900">
              <a:spcAft>
                <a:spcPts val="400"/>
              </a:spcAft>
              <a:buSzPct val="100000"/>
              <a:buChar char="•"/>
            </a:pPr>
            <a:r>
              <a:rPr lang="en-US" sz="1400" dirty="0">
                <a:solidFill>
                  <a:schemeClr val="tx2"/>
                </a:solidFill>
              </a:rPr>
              <a:t>Shows where approvals wait</a:t>
            </a:r>
            <a:endParaRPr lang="en-US" sz="14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mc:AlternateContent xmlns:mc="http://schemas.openxmlformats.org/markup-compatibility/2006">
    <mc:Choice xmlns:p14="http://schemas.microsoft.com/office/powerpoint/2010/main" Requires="p14">
      <p:transition spd="slow" p14:dur="1400">
        <p14:conveyor dir="l"/>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anim calcmode="lin" valueType="num">
                                      <p:cBhvr>
                                        <p:cTn id="8" dur="600" fill="hold"/>
                                        <p:tgtEl>
                                          <p:spTgt spid="4"/>
                                        </p:tgtEl>
                                        <p:attrNameLst>
                                          <p:attrName>ppt_x</p:attrName>
                                        </p:attrNameLst>
                                      </p:cBhvr>
                                      <p:tavLst>
                                        <p:tav tm="0">
                                          <p:val>
                                            <p:strVal val="#ppt_x"/>
                                          </p:val>
                                        </p:tav>
                                        <p:tav tm="100000">
                                          <p:val>
                                            <p:strVal val="#ppt_x"/>
                                          </p:val>
                                        </p:tav>
                                      </p:tavLst>
                                    </p:anim>
                                    <p:anim calcmode="lin" valueType="num">
                                      <p:cBhvr>
                                        <p:cTn id="9" dur="600" fill="hold"/>
                                        <p:tgtEl>
                                          <p:spTgt spid="4"/>
                                        </p:tgtEl>
                                        <p:attrNameLst>
                                          <p:attrName>ppt_y</p:attrName>
                                        </p:attrNameLst>
                                      </p:cBhvr>
                                      <p:tavLst>
                                        <p:tav tm="0">
                                          <p:val>
                                            <p:strVal val="#ppt_y+.05"/>
                                          </p:val>
                                        </p:tav>
                                        <p:tav tm="100000">
                                          <p:val>
                                            <p:strVal val="#ppt_y"/>
                                          </p:val>
                                        </p:tav>
                                      </p:tavLst>
                                    </p:anim>
                                  </p:childTnLst>
                                </p:cTn>
                              </p:par>
                              <p:par>
                                <p:cTn id="10" presetID="53" presetClass="entr" presetSubtype="16" fill="hold" grpId="0" nodeType="withEffect">
                                  <p:stCondLst>
                                    <p:cond delay="200"/>
                                  </p:stCondLst>
                                  <p:childTnLst>
                                    <p:set>
                                      <p:cBhvr>
                                        <p:cTn id="11" dur="1" fill="hold">
                                          <p:stCondLst>
                                            <p:cond delay="0"/>
                                          </p:stCondLst>
                                        </p:cTn>
                                        <p:tgtEl>
                                          <p:spTgt spid="5"/>
                                        </p:tgtEl>
                                        <p:attrNameLst>
                                          <p:attrName>style.visibility</p:attrName>
                                        </p:attrNameLst>
                                      </p:cBhvr>
                                      <p:to>
                                        <p:strVal val="visible"/>
                                      </p:to>
                                    </p:set>
                                    <p:anim calcmode="lin" valueType="num">
                                      <p:cBhvr>
                                        <p:cTn id="12" dur="500" fill="hold"/>
                                        <p:tgtEl>
                                          <p:spTgt spid="5"/>
                                        </p:tgtEl>
                                        <p:attrNameLst>
                                          <p:attrName>ppt_w</p:attrName>
                                        </p:attrNameLst>
                                      </p:cBhvr>
                                      <p:tavLst>
                                        <p:tav tm="0">
                                          <p:val>
                                            <p:fltVal val="0"/>
                                          </p:val>
                                        </p:tav>
                                        <p:tav tm="100000">
                                          <p:val>
                                            <p:strVal val="#ppt_w"/>
                                          </p:val>
                                        </p:tav>
                                      </p:tavLst>
                                    </p:anim>
                                    <p:anim calcmode="lin" valueType="num">
                                      <p:cBhvr>
                                        <p:cTn id="13" dur="500" fill="hold"/>
                                        <p:tgtEl>
                                          <p:spTgt spid="5"/>
                                        </p:tgtEl>
                                        <p:attrNameLst>
                                          <p:attrName>ppt_h</p:attrName>
                                        </p:attrNameLst>
                                      </p:cBhvr>
                                      <p:tavLst>
                                        <p:tav tm="0">
                                          <p:val>
                                            <p:fltVal val="0"/>
                                          </p:val>
                                        </p:tav>
                                        <p:tav tm="100000">
                                          <p:val>
                                            <p:strVal val="#ppt_h"/>
                                          </p:val>
                                        </p:tav>
                                      </p:tavLst>
                                    </p:anim>
                                    <p:animEffect transition="in" filter="fade">
                                      <p:cBhvr>
                                        <p:cTn id="14" dur="500"/>
                                        <p:tgtEl>
                                          <p:spTgt spid="5"/>
                                        </p:tgtEl>
                                      </p:cBhvr>
                                    </p:animEffect>
                                  </p:childTnLst>
                                </p:cTn>
                              </p:par>
                              <p:par>
                                <p:cTn id="15" presetID="53" presetClass="entr" presetSubtype="16" fill="hold" grpId="0" nodeType="withEffect">
                                  <p:stCondLst>
                                    <p:cond delay="200"/>
                                  </p:stCondLst>
                                  <p:childTnLst>
                                    <p:set>
                                      <p:cBhvr>
                                        <p:cTn id="16" dur="1" fill="hold">
                                          <p:stCondLst>
                                            <p:cond delay="0"/>
                                          </p:stCondLst>
                                        </p:cTn>
                                        <p:tgtEl>
                                          <p:spTgt spid="6"/>
                                        </p:tgtEl>
                                        <p:attrNameLst>
                                          <p:attrName>style.visibility</p:attrName>
                                        </p:attrNameLst>
                                      </p:cBhvr>
                                      <p:to>
                                        <p:strVal val="visible"/>
                                      </p:to>
                                    </p:set>
                                    <p:anim calcmode="lin" valueType="num">
                                      <p:cBhvr>
                                        <p:cTn id="17" dur="500" fill="hold"/>
                                        <p:tgtEl>
                                          <p:spTgt spid="6"/>
                                        </p:tgtEl>
                                        <p:attrNameLst>
                                          <p:attrName>ppt_w</p:attrName>
                                        </p:attrNameLst>
                                      </p:cBhvr>
                                      <p:tavLst>
                                        <p:tav tm="0">
                                          <p:val>
                                            <p:fltVal val="0"/>
                                          </p:val>
                                        </p:tav>
                                        <p:tav tm="100000">
                                          <p:val>
                                            <p:strVal val="#ppt_w"/>
                                          </p:val>
                                        </p:tav>
                                      </p:tavLst>
                                    </p:anim>
                                    <p:anim calcmode="lin" valueType="num">
                                      <p:cBhvr>
                                        <p:cTn id="18" dur="500" fill="hold"/>
                                        <p:tgtEl>
                                          <p:spTgt spid="6"/>
                                        </p:tgtEl>
                                        <p:attrNameLst>
                                          <p:attrName>ppt_h</p:attrName>
                                        </p:attrNameLst>
                                      </p:cBhvr>
                                      <p:tavLst>
                                        <p:tav tm="0">
                                          <p:val>
                                            <p:fltVal val="0"/>
                                          </p:val>
                                        </p:tav>
                                        <p:tav tm="100000">
                                          <p:val>
                                            <p:strVal val="#ppt_h"/>
                                          </p:val>
                                        </p:tav>
                                      </p:tavLst>
                                    </p:anim>
                                    <p:animEffect transition="in" filter="fade">
                                      <p:cBhvr>
                                        <p:cTn id="19" dur="500"/>
                                        <p:tgtEl>
                                          <p:spTgt spid="6"/>
                                        </p:tgtEl>
                                      </p:cBhvr>
                                    </p:animEffect>
                                  </p:childTnLst>
                                </p:cTn>
                              </p:par>
                              <p:par>
                                <p:cTn id="20" presetID="42" presetClass="entr" presetSubtype="0" fill="hold" grpId="0" nodeType="withEffect">
                                  <p:stCondLst>
                                    <p:cond delay="20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600"/>
                                        <p:tgtEl>
                                          <p:spTgt spid="7"/>
                                        </p:tgtEl>
                                      </p:cBhvr>
                                    </p:animEffect>
                                    <p:anim calcmode="lin" valueType="num">
                                      <p:cBhvr>
                                        <p:cTn id="23" dur="600" fill="hold"/>
                                        <p:tgtEl>
                                          <p:spTgt spid="7"/>
                                        </p:tgtEl>
                                        <p:attrNameLst>
                                          <p:attrName>ppt_x</p:attrName>
                                        </p:attrNameLst>
                                      </p:cBhvr>
                                      <p:tavLst>
                                        <p:tav tm="0">
                                          <p:val>
                                            <p:strVal val="#ppt_x"/>
                                          </p:val>
                                        </p:tav>
                                        <p:tav tm="100000">
                                          <p:val>
                                            <p:strVal val="#ppt_x"/>
                                          </p:val>
                                        </p:tav>
                                      </p:tavLst>
                                    </p:anim>
                                    <p:anim calcmode="lin" valueType="num">
                                      <p:cBhvr>
                                        <p:cTn id="24" dur="600" fill="hold"/>
                                        <p:tgtEl>
                                          <p:spTgt spid="7"/>
                                        </p:tgtEl>
                                        <p:attrNameLst>
                                          <p:attrName>ppt_y</p:attrName>
                                        </p:attrNameLst>
                                      </p:cBhvr>
                                      <p:tavLst>
                                        <p:tav tm="0">
                                          <p:val>
                                            <p:strVal val="#ppt_y+.05"/>
                                          </p:val>
                                        </p:tav>
                                        <p:tav tm="100000">
                                          <p:val>
                                            <p:strVal val="#ppt_y"/>
                                          </p:val>
                                        </p:tav>
                                      </p:tavLst>
                                    </p:anim>
                                  </p:childTnLst>
                                </p:cTn>
                              </p:par>
                              <p:par>
                                <p:cTn id="25" presetID="42" presetClass="entr" presetSubtype="0" fill="hold" grpId="0" nodeType="withEffect">
                                  <p:stCondLst>
                                    <p:cond delay="20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600"/>
                                        <p:tgtEl>
                                          <p:spTgt spid="8"/>
                                        </p:tgtEl>
                                      </p:cBhvr>
                                    </p:animEffect>
                                    <p:anim calcmode="lin" valueType="num">
                                      <p:cBhvr>
                                        <p:cTn id="28" dur="600" fill="hold"/>
                                        <p:tgtEl>
                                          <p:spTgt spid="8"/>
                                        </p:tgtEl>
                                        <p:attrNameLst>
                                          <p:attrName>ppt_x</p:attrName>
                                        </p:attrNameLst>
                                      </p:cBhvr>
                                      <p:tavLst>
                                        <p:tav tm="0">
                                          <p:val>
                                            <p:strVal val="#ppt_x"/>
                                          </p:val>
                                        </p:tav>
                                        <p:tav tm="100000">
                                          <p:val>
                                            <p:strVal val="#ppt_x"/>
                                          </p:val>
                                        </p:tav>
                                      </p:tavLst>
                                    </p:anim>
                                    <p:anim calcmode="lin" valueType="num">
                                      <p:cBhvr>
                                        <p:cTn id="29" dur="600" fill="hold"/>
                                        <p:tgtEl>
                                          <p:spTgt spid="8"/>
                                        </p:tgtEl>
                                        <p:attrNameLst>
                                          <p:attrName>ppt_y</p:attrName>
                                        </p:attrNameLst>
                                      </p:cBhvr>
                                      <p:tavLst>
                                        <p:tav tm="0">
                                          <p:val>
                                            <p:strVal val="#ppt_y+.05"/>
                                          </p:val>
                                        </p:tav>
                                        <p:tav tm="100000">
                                          <p:val>
                                            <p:strVal val="#ppt_y"/>
                                          </p:val>
                                        </p:tav>
                                      </p:tavLst>
                                    </p:anim>
                                  </p:childTnLst>
                                </p:cTn>
                              </p:par>
                              <p:par>
                                <p:cTn id="30" presetID="53" presetClass="entr" presetSubtype="16" fill="hold" grpId="0" nodeType="withEffect">
                                  <p:stCondLst>
                                    <p:cond delay="400"/>
                                  </p:stCondLst>
                                  <p:childTnLst>
                                    <p:set>
                                      <p:cBhvr>
                                        <p:cTn id="31" dur="1" fill="hold">
                                          <p:stCondLst>
                                            <p:cond delay="0"/>
                                          </p:stCondLst>
                                        </p:cTn>
                                        <p:tgtEl>
                                          <p:spTgt spid="9"/>
                                        </p:tgtEl>
                                        <p:attrNameLst>
                                          <p:attrName>style.visibility</p:attrName>
                                        </p:attrNameLst>
                                      </p:cBhvr>
                                      <p:to>
                                        <p:strVal val="visible"/>
                                      </p:to>
                                    </p:set>
                                    <p:anim calcmode="lin" valueType="num">
                                      <p:cBhvr>
                                        <p:cTn id="32" dur="500" fill="hold"/>
                                        <p:tgtEl>
                                          <p:spTgt spid="9"/>
                                        </p:tgtEl>
                                        <p:attrNameLst>
                                          <p:attrName>ppt_w</p:attrName>
                                        </p:attrNameLst>
                                      </p:cBhvr>
                                      <p:tavLst>
                                        <p:tav tm="0">
                                          <p:val>
                                            <p:fltVal val="0"/>
                                          </p:val>
                                        </p:tav>
                                        <p:tav tm="100000">
                                          <p:val>
                                            <p:strVal val="#ppt_w"/>
                                          </p:val>
                                        </p:tav>
                                      </p:tavLst>
                                    </p:anim>
                                    <p:anim calcmode="lin" valueType="num">
                                      <p:cBhvr>
                                        <p:cTn id="33" dur="500" fill="hold"/>
                                        <p:tgtEl>
                                          <p:spTgt spid="9"/>
                                        </p:tgtEl>
                                        <p:attrNameLst>
                                          <p:attrName>ppt_h</p:attrName>
                                        </p:attrNameLst>
                                      </p:cBhvr>
                                      <p:tavLst>
                                        <p:tav tm="0">
                                          <p:val>
                                            <p:fltVal val="0"/>
                                          </p:val>
                                        </p:tav>
                                        <p:tav tm="100000">
                                          <p:val>
                                            <p:strVal val="#ppt_h"/>
                                          </p:val>
                                        </p:tav>
                                      </p:tavLst>
                                    </p:anim>
                                    <p:animEffect transition="in" filter="fade">
                                      <p:cBhvr>
                                        <p:cTn id="34" dur="500"/>
                                        <p:tgtEl>
                                          <p:spTgt spid="9"/>
                                        </p:tgtEl>
                                      </p:cBhvr>
                                    </p:animEffect>
                                  </p:childTnLst>
                                </p:cTn>
                              </p:par>
                              <p:par>
                                <p:cTn id="35" presetID="53" presetClass="entr" presetSubtype="16" fill="hold" grpId="0" nodeType="withEffect">
                                  <p:stCondLst>
                                    <p:cond delay="400"/>
                                  </p:stCondLst>
                                  <p:childTnLst>
                                    <p:set>
                                      <p:cBhvr>
                                        <p:cTn id="36" dur="1" fill="hold">
                                          <p:stCondLst>
                                            <p:cond delay="0"/>
                                          </p:stCondLst>
                                        </p:cTn>
                                        <p:tgtEl>
                                          <p:spTgt spid="10"/>
                                        </p:tgtEl>
                                        <p:attrNameLst>
                                          <p:attrName>style.visibility</p:attrName>
                                        </p:attrNameLst>
                                      </p:cBhvr>
                                      <p:to>
                                        <p:strVal val="visible"/>
                                      </p:to>
                                    </p:set>
                                    <p:anim calcmode="lin" valueType="num">
                                      <p:cBhvr>
                                        <p:cTn id="37" dur="500" fill="hold"/>
                                        <p:tgtEl>
                                          <p:spTgt spid="10"/>
                                        </p:tgtEl>
                                        <p:attrNameLst>
                                          <p:attrName>ppt_w</p:attrName>
                                        </p:attrNameLst>
                                      </p:cBhvr>
                                      <p:tavLst>
                                        <p:tav tm="0">
                                          <p:val>
                                            <p:fltVal val="0"/>
                                          </p:val>
                                        </p:tav>
                                        <p:tav tm="100000">
                                          <p:val>
                                            <p:strVal val="#ppt_w"/>
                                          </p:val>
                                        </p:tav>
                                      </p:tavLst>
                                    </p:anim>
                                    <p:anim calcmode="lin" valueType="num">
                                      <p:cBhvr>
                                        <p:cTn id="38" dur="500" fill="hold"/>
                                        <p:tgtEl>
                                          <p:spTgt spid="10"/>
                                        </p:tgtEl>
                                        <p:attrNameLst>
                                          <p:attrName>ppt_h</p:attrName>
                                        </p:attrNameLst>
                                      </p:cBhvr>
                                      <p:tavLst>
                                        <p:tav tm="0">
                                          <p:val>
                                            <p:fltVal val="0"/>
                                          </p:val>
                                        </p:tav>
                                        <p:tav tm="100000">
                                          <p:val>
                                            <p:strVal val="#ppt_h"/>
                                          </p:val>
                                        </p:tav>
                                      </p:tavLst>
                                    </p:anim>
                                    <p:animEffect transition="in" filter="fade">
                                      <p:cBhvr>
                                        <p:cTn id="39" dur="500"/>
                                        <p:tgtEl>
                                          <p:spTgt spid="10"/>
                                        </p:tgtEl>
                                      </p:cBhvr>
                                    </p:animEffect>
                                  </p:childTnLst>
                                </p:cTn>
                              </p:par>
                              <p:par>
                                <p:cTn id="40" presetID="42" presetClass="entr" presetSubtype="0" fill="hold" grpId="0" nodeType="withEffect">
                                  <p:stCondLst>
                                    <p:cond delay="40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600"/>
                                        <p:tgtEl>
                                          <p:spTgt spid="11"/>
                                        </p:tgtEl>
                                      </p:cBhvr>
                                    </p:animEffect>
                                    <p:anim calcmode="lin" valueType="num">
                                      <p:cBhvr>
                                        <p:cTn id="43" dur="600" fill="hold"/>
                                        <p:tgtEl>
                                          <p:spTgt spid="11"/>
                                        </p:tgtEl>
                                        <p:attrNameLst>
                                          <p:attrName>ppt_x</p:attrName>
                                        </p:attrNameLst>
                                      </p:cBhvr>
                                      <p:tavLst>
                                        <p:tav tm="0">
                                          <p:val>
                                            <p:strVal val="#ppt_x"/>
                                          </p:val>
                                        </p:tav>
                                        <p:tav tm="100000">
                                          <p:val>
                                            <p:strVal val="#ppt_x"/>
                                          </p:val>
                                        </p:tav>
                                      </p:tavLst>
                                    </p:anim>
                                    <p:anim calcmode="lin" valueType="num">
                                      <p:cBhvr>
                                        <p:cTn id="44" dur="600" fill="hold"/>
                                        <p:tgtEl>
                                          <p:spTgt spid="11"/>
                                        </p:tgtEl>
                                        <p:attrNameLst>
                                          <p:attrName>ppt_y</p:attrName>
                                        </p:attrNameLst>
                                      </p:cBhvr>
                                      <p:tavLst>
                                        <p:tav tm="0">
                                          <p:val>
                                            <p:strVal val="#ppt_y+.05"/>
                                          </p:val>
                                        </p:tav>
                                        <p:tav tm="100000">
                                          <p:val>
                                            <p:strVal val="#ppt_y"/>
                                          </p:val>
                                        </p:tav>
                                      </p:tavLst>
                                    </p:anim>
                                  </p:childTnLst>
                                </p:cTn>
                              </p:par>
                              <p:par>
                                <p:cTn id="45" presetID="42" presetClass="entr" presetSubtype="0" fill="hold" grpId="0" nodeType="withEffect">
                                  <p:stCondLst>
                                    <p:cond delay="40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600"/>
                                        <p:tgtEl>
                                          <p:spTgt spid="12"/>
                                        </p:tgtEl>
                                      </p:cBhvr>
                                    </p:animEffect>
                                    <p:anim calcmode="lin" valueType="num">
                                      <p:cBhvr>
                                        <p:cTn id="48" dur="600" fill="hold"/>
                                        <p:tgtEl>
                                          <p:spTgt spid="12"/>
                                        </p:tgtEl>
                                        <p:attrNameLst>
                                          <p:attrName>ppt_x</p:attrName>
                                        </p:attrNameLst>
                                      </p:cBhvr>
                                      <p:tavLst>
                                        <p:tav tm="0">
                                          <p:val>
                                            <p:strVal val="#ppt_x"/>
                                          </p:val>
                                        </p:tav>
                                        <p:tav tm="100000">
                                          <p:val>
                                            <p:strVal val="#ppt_x"/>
                                          </p:val>
                                        </p:tav>
                                      </p:tavLst>
                                    </p:anim>
                                    <p:anim calcmode="lin" valueType="num">
                                      <p:cBhvr>
                                        <p:cTn id="49" dur="600" fill="hold"/>
                                        <p:tgtEl>
                                          <p:spTgt spid="12"/>
                                        </p:tgtEl>
                                        <p:attrNameLst>
                                          <p:attrName>ppt_y</p:attrName>
                                        </p:attrNameLst>
                                      </p:cBhvr>
                                      <p:tavLst>
                                        <p:tav tm="0">
                                          <p:val>
                                            <p:strVal val="#ppt_y+.05"/>
                                          </p:val>
                                        </p:tav>
                                        <p:tav tm="100000">
                                          <p:val>
                                            <p:strVal val="#ppt_y"/>
                                          </p:val>
                                        </p:tav>
                                      </p:tavLst>
                                    </p:anim>
                                  </p:childTnLst>
                                </p:cTn>
                              </p:par>
                              <p:par>
                                <p:cTn id="50" presetID="53" presetClass="entr" presetSubtype="16" fill="hold" grpId="0" nodeType="withEffect">
                                  <p:stCondLst>
                                    <p:cond delay="600"/>
                                  </p:stCondLst>
                                  <p:childTnLst>
                                    <p:set>
                                      <p:cBhvr>
                                        <p:cTn id="51" dur="1" fill="hold">
                                          <p:stCondLst>
                                            <p:cond delay="0"/>
                                          </p:stCondLst>
                                        </p:cTn>
                                        <p:tgtEl>
                                          <p:spTgt spid="13"/>
                                        </p:tgtEl>
                                        <p:attrNameLst>
                                          <p:attrName>style.visibility</p:attrName>
                                        </p:attrNameLst>
                                      </p:cBhvr>
                                      <p:to>
                                        <p:strVal val="visible"/>
                                      </p:to>
                                    </p:set>
                                    <p:anim calcmode="lin" valueType="num">
                                      <p:cBhvr>
                                        <p:cTn id="52" dur="500" fill="hold"/>
                                        <p:tgtEl>
                                          <p:spTgt spid="13"/>
                                        </p:tgtEl>
                                        <p:attrNameLst>
                                          <p:attrName>ppt_w</p:attrName>
                                        </p:attrNameLst>
                                      </p:cBhvr>
                                      <p:tavLst>
                                        <p:tav tm="0">
                                          <p:val>
                                            <p:fltVal val="0"/>
                                          </p:val>
                                        </p:tav>
                                        <p:tav tm="100000">
                                          <p:val>
                                            <p:strVal val="#ppt_w"/>
                                          </p:val>
                                        </p:tav>
                                      </p:tavLst>
                                    </p:anim>
                                    <p:anim calcmode="lin" valueType="num">
                                      <p:cBhvr>
                                        <p:cTn id="53" dur="500" fill="hold"/>
                                        <p:tgtEl>
                                          <p:spTgt spid="13"/>
                                        </p:tgtEl>
                                        <p:attrNameLst>
                                          <p:attrName>ppt_h</p:attrName>
                                        </p:attrNameLst>
                                      </p:cBhvr>
                                      <p:tavLst>
                                        <p:tav tm="0">
                                          <p:val>
                                            <p:fltVal val="0"/>
                                          </p:val>
                                        </p:tav>
                                        <p:tav tm="100000">
                                          <p:val>
                                            <p:strVal val="#ppt_h"/>
                                          </p:val>
                                        </p:tav>
                                      </p:tavLst>
                                    </p:anim>
                                    <p:animEffect transition="in" filter="fade">
                                      <p:cBhvr>
                                        <p:cTn id="54" dur="500"/>
                                        <p:tgtEl>
                                          <p:spTgt spid="13"/>
                                        </p:tgtEl>
                                      </p:cBhvr>
                                    </p:animEffect>
                                  </p:childTnLst>
                                </p:cTn>
                              </p:par>
                              <p:par>
                                <p:cTn id="55" presetID="53" presetClass="entr" presetSubtype="16" fill="hold" grpId="0" nodeType="withEffect">
                                  <p:stCondLst>
                                    <p:cond delay="600"/>
                                  </p:stCondLst>
                                  <p:childTnLst>
                                    <p:set>
                                      <p:cBhvr>
                                        <p:cTn id="56" dur="1" fill="hold">
                                          <p:stCondLst>
                                            <p:cond delay="0"/>
                                          </p:stCondLst>
                                        </p:cTn>
                                        <p:tgtEl>
                                          <p:spTgt spid="14"/>
                                        </p:tgtEl>
                                        <p:attrNameLst>
                                          <p:attrName>style.visibility</p:attrName>
                                        </p:attrNameLst>
                                      </p:cBhvr>
                                      <p:to>
                                        <p:strVal val="visible"/>
                                      </p:to>
                                    </p:set>
                                    <p:anim calcmode="lin" valueType="num">
                                      <p:cBhvr>
                                        <p:cTn id="57" dur="500" fill="hold"/>
                                        <p:tgtEl>
                                          <p:spTgt spid="14"/>
                                        </p:tgtEl>
                                        <p:attrNameLst>
                                          <p:attrName>ppt_w</p:attrName>
                                        </p:attrNameLst>
                                      </p:cBhvr>
                                      <p:tavLst>
                                        <p:tav tm="0">
                                          <p:val>
                                            <p:fltVal val="0"/>
                                          </p:val>
                                        </p:tav>
                                        <p:tav tm="100000">
                                          <p:val>
                                            <p:strVal val="#ppt_w"/>
                                          </p:val>
                                        </p:tav>
                                      </p:tavLst>
                                    </p:anim>
                                    <p:anim calcmode="lin" valueType="num">
                                      <p:cBhvr>
                                        <p:cTn id="58" dur="500" fill="hold"/>
                                        <p:tgtEl>
                                          <p:spTgt spid="14"/>
                                        </p:tgtEl>
                                        <p:attrNameLst>
                                          <p:attrName>ppt_h</p:attrName>
                                        </p:attrNameLst>
                                      </p:cBhvr>
                                      <p:tavLst>
                                        <p:tav tm="0">
                                          <p:val>
                                            <p:fltVal val="0"/>
                                          </p:val>
                                        </p:tav>
                                        <p:tav tm="100000">
                                          <p:val>
                                            <p:strVal val="#ppt_h"/>
                                          </p:val>
                                        </p:tav>
                                      </p:tavLst>
                                    </p:anim>
                                    <p:animEffect transition="in" filter="fade">
                                      <p:cBhvr>
                                        <p:cTn id="59" dur="500"/>
                                        <p:tgtEl>
                                          <p:spTgt spid="14"/>
                                        </p:tgtEl>
                                      </p:cBhvr>
                                    </p:animEffect>
                                  </p:childTnLst>
                                </p:cTn>
                              </p:par>
                              <p:par>
                                <p:cTn id="60" presetID="42" presetClass="entr" presetSubtype="0" fill="hold" grpId="0" nodeType="withEffect">
                                  <p:stCondLst>
                                    <p:cond delay="60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600"/>
                                        <p:tgtEl>
                                          <p:spTgt spid="15"/>
                                        </p:tgtEl>
                                      </p:cBhvr>
                                    </p:animEffect>
                                    <p:anim calcmode="lin" valueType="num">
                                      <p:cBhvr>
                                        <p:cTn id="63" dur="600" fill="hold"/>
                                        <p:tgtEl>
                                          <p:spTgt spid="15"/>
                                        </p:tgtEl>
                                        <p:attrNameLst>
                                          <p:attrName>ppt_x</p:attrName>
                                        </p:attrNameLst>
                                      </p:cBhvr>
                                      <p:tavLst>
                                        <p:tav tm="0">
                                          <p:val>
                                            <p:strVal val="#ppt_x"/>
                                          </p:val>
                                        </p:tav>
                                        <p:tav tm="100000">
                                          <p:val>
                                            <p:strVal val="#ppt_x"/>
                                          </p:val>
                                        </p:tav>
                                      </p:tavLst>
                                    </p:anim>
                                    <p:anim calcmode="lin" valueType="num">
                                      <p:cBhvr>
                                        <p:cTn id="64" dur="600" fill="hold"/>
                                        <p:tgtEl>
                                          <p:spTgt spid="15"/>
                                        </p:tgtEl>
                                        <p:attrNameLst>
                                          <p:attrName>ppt_y</p:attrName>
                                        </p:attrNameLst>
                                      </p:cBhvr>
                                      <p:tavLst>
                                        <p:tav tm="0">
                                          <p:val>
                                            <p:strVal val="#ppt_y+.05"/>
                                          </p:val>
                                        </p:tav>
                                        <p:tav tm="100000">
                                          <p:val>
                                            <p:strVal val="#ppt_y"/>
                                          </p:val>
                                        </p:tav>
                                      </p:tavLst>
                                    </p:anim>
                                  </p:childTnLst>
                                </p:cTn>
                              </p:par>
                              <p:par>
                                <p:cTn id="65" presetID="42" presetClass="entr" presetSubtype="0" fill="hold" grpId="0" nodeType="withEffect">
                                  <p:stCondLst>
                                    <p:cond delay="60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600"/>
                                        <p:tgtEl>
                                          <p:spTgt spid="16"/>
                                        </p:tgtEl>
                                      </p:cBhvr>
                                    </p:animEffect>
                                    <p:anim calcmode="lin" valueType="num">
                                      <p:cBhvr>
                                        <p:cTn id="68" dur="600" fill="hold"/>
                                        <p:tgtEl>
                                          <p:spTgt spid="16"/>
                                        </p:tgtEl>
                                        <p:attrNameLst>
                                          <p:attrName>ppt_x</p:attrName>
                                        </p:attrNameLst>
                                      </p:cBhvr>
                                      <p:tavLst>
                                        <p:tav tm="0">
                                          <p:val>
                                            <p:strVal val="#ppt_x"/>
                                          </p:val>
                                        </p:tav>
                                        <p:tav tm="100000">
                                          <p:val>
                                            <p:strVal val="#ppt_x"/>
                                          </p:val>
                                        </p:tav>
                                      </p:tavLst>
                                    </p:anim>
                                    <p:anim calcmode="lin" valueType="num">
                                      <p:cBhvr>
                                        <p:cTn id="69" dur="600" fill="hold"/>
                                        <p:tgtEl>
                                          <p:spTgt spid="16"/>
                                        </p:tgtEl>
                                        <p:attrNameLst>
                                          <p:attrName>ppt_y</p:attrName>
                                        </p:attrNameLst>
                                      </p:cBhvr>
                                      <p:tavLst>
                                        <p:tav tm="0">
                                          <p:val>
                                            <p:strVal val="#ppt_y+.05"/>
                                          </p:val>
                                        </p:tav>
                                        <p:tav tm="100000">
                                          <p:val>
                                            <p:strVal val="#ppt_y"/>
                                          </p:val>
                                        </p:tav>
                                      </p:tavLst>
                                    </p:anim>
                                  </p:childTnLst>
                                </p:cTn>
                              </p:par>
                              <p:par>
                                <p:cTn id="70" presetID="53" presetClass="entr" presetSubtype="16" fill="hold" grpId="0" nodeType="withEffect">
                                  <p:stCondLst>
                                    <p:cond delay="800"/>
                                  </p:stCondLst>
                                  <p:childTnLst>
                                    <p:set>
                                      <p:cBhvr>
                                        <p:cTn id="71" dur="1" fill="hold">
                                          <p:stCondLst>
                                            <p:cond delay="0"/>
                                          </p:stCondLst>
                                        </p:cTn>
                                        <p:tgtEl>
                                          <p:spTgt spid="17"/>
                                        </p:tgtEl>
                                        <p:attrNameLst>
                                          <p:attrName>style.visibility</p:attrName>
                                        </p:attrNameLst>
                                      </p:cBhvr>
                                      <p:to>
                                        <p:strVal val="visible"/>
                                      </p:to>
                                    </p:set>
                                    <p:anim calcmode="lin" valueType="num">
                                      <p:cBhvr>
                                        <p:cTn id="72" dur="500" fill="hold"/>
                                        <p:tgtEl>
                                          <p:spTgt spid="17"/>
                                        </p:tgtEl>
                                        <p:attrNameLst>
                                          <p:attrName>ppt_w</p:attrName>
                                        </p:attrNameLst>
                                      </p:cBhvr>
                                      <p:tavLst>
                                        <p:tav tm="0">
                                          <p:val>
                                            <p:fltVal val="0"/>
                                          </p:val>
                                        </p:tav>
                                        <p:tav tm="100000">
                                          <p:val>
                                            <p:strVal val="#ppt_w"/>
                                          </p:val>
                                        </p:tav>
                                      </p:tavLst>
                                    </p:anim>
                                    <p:anim calcmode="lin" valueType="num">
                                      <p:cBhvr>
                                        <p:cTn id="73" dur="500" fill="hold"/>
                                        <p:tgtEl>
                                          <p:spTgt spid="17"/>
                                        </p:tgtEl>
                                        <p:attrNameLst>
                                          <p:attrName>ppt_h</p:attrName>
                                        </p:attrNameLst>
                                      </p:cBhvr>
                                      <p:tavLst>
                                        <p:tav tm="0">
                                          <p:val>
                                            <p:fltVal val="0"/>
                                          </p:val>
                                        </p:tav>
                                        <p:tav tm="100000">
                                          <p:val>
                                            <p:strVal val="#ppt_h"/>
                                          </p:val>
                                        </p:tav>
                                      </p:tavLst>
                                    </p:anim>
                                    <p:animEffect transition="in" filter="fade">
                                      <p:cBhvr>
                                        <p:cTn id="74" dur="500"/>
                                        <p:tgtEl>
                                          <p:spTgt spid="17"/>
                                        </p:tgtEl>
                                      </p:cBhvr>
                                    </p:animEffect>
                                  </p:childTnLst>
                                </p:cTn>
                              </p:par>
                              <p:par>
                                <p:cTn id="75" presetID="53" presetClass="entr" presetSubtype="16" fill="hold" grpId="0" nodeType="withEffect">
                                  <p:stCondLst>
                                    <p:cond delay="800"/>
                                  </p:stCondLst>
                                  <p:childTnLst>
                                    <p:set>
                                      <p:cBhvr>
                                        <p:cTn id="76" dur="1" fill="hold">
                                          <p:stCondLst>
                                            <p:cond delay="0"/>
                                          </p:stCondLst>
                                        </p:cTn>
                                        <p:tgtEl>
                                          <p:spTgt spid="18"/>
                                        </p:tgtEl>
                                        <p:attrNameLst>
                                          <p:attrName>style.visibility</p:attrName>
                                        </p:attrNameLst>
                                      </p:cBhvr>
                                      <p:to>
                                        <p:strVal val="visible"/>
                                      </p:to>
                                    </p:set>
                                    <p:anim calcmode="lin" valueType="num">
                                      <p:cBhvr>
                                        <p:cTn id="77" dur="500" fill="hold"/>
                                        <p:tgtEl>
                                          <p:spTgt spid="18"/>
                                        </p:tgtEl>
                                        <p:attrNameLst>
                                          <p:attrName>ppt_w</p:attrName>
                                        </p:attrNameLst>
                                      </p:cBhvr>
                                      <p:tavLst>
                                        <p:tav tm="0">
                                          <p:val>
                                            <p:fltVal val="0"/>
                                          </p:val>
                                        </p:tav>
                                        <p:tav tm="100000">
                                          <p:val>
                                            <p:strVal val="#ppt_w"/>
                                          </p:val>
                                        </p:tav>
                                      </p:tavLst>
                                    </p:anim>
                                    <p:anim calcmode="lin" valueType="num">
                                      <p:cBhvr>
                                        <p:cTn id="78" dur="500" fill="hold"/>
                                        <p:tgtEl>
                                          <p:spTgt spid="18"/>
                                        </p:tgtEl>
                                        <p:attrNameLst>
                                          <p:attrName>ppt_h</p:attrName>
                                        </p:attrNameLst>
                                      </p:cBhvr>
                                      <p:tavLst>
                                        <p:tav tm="0">
                                          <p:val>
                                            <p:fltVal val="0"/>
                                          </p:val>
                                        </p:tav>
                                        <p:tav tm="100000">
                                          <p:val>
                                            <p:strVal val="#ppt_h"/>
                                          </p:val>
                                        </p:tav>
                                      </p:tavLst>
                                    </p:anim>
                                    <p:animEffect transition="in" filter="fade">
                                      <p:cBhvr>
                                        <p:cTn id="79" dur="500"/>
                                        <p:tgtEl>
                                          <p:spTgt spid="18"/>
                                        </p:tgtEl>
                                      </p:cBhvr>
                                    </p:animEffect>
                                  </p:childTnLst>
                                </p:cTn>
                              </p:par>
                              <p:par>
                                <p:cTn id="80" presetID="42" presetClass="entr" presetSubtype="0" fill="hold" grpId="0" nodeType="withEffect">
                                  <p:stCondLst>
                                    <p:cond delay="80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600"/>
                                        <p:tgtEl>
                                          <p:spTgt spid="19"/>
                                        </p:tgtEl>
                                      </p:cBhvr>
                                    </p:animEffect>
                                    <p:anim calcmode="lin" valueType="num">
                                      <p:cBhvr>
                                        <p:cTn id="83" dur="600" fill="hold"/>
                                        <p:tgtEl>
                                          <p:spTgt spid="19"/>
                                        </p:tgtEl>
                                        <p:attrNameLst>
                                          <p:attrName>ppt_x</p:attrName>
                                        </p:attrNameLst>
                                      </p:cBhvr>
                                      <p:tavLst>
                                        <p:tav tm="0">
                                          <p:val>
                                            <p:strVal val="#ppt_x"/>
                                          </p:val>
                                        </p:tav>
                                        <p:tav tm="100000">
                                          <p:val>
                                            <p:strVal val="#ppt_x"/>
                                          </p:val>
                                        </p:tav>
                                      </p:tavLst>
                                    </p:anim>
                                    <p:anim calcmode="lin" valueType="num">
                                      <p:cBhvr>
                                        <p:cTn id="84" dur="600" fill="hold"/>
                                        <p:tgtEl>
                                          <p:spTgt spid="19"/>
                                        </p:tgtEl>
                                        <p:attrNameLst>
                                          <p:attrName>ppt_y</p:attrName>
                                        </p:attrNameLst>
                                      </p:cBhvr>
                                      <p:tavLst>
                                        <p:tav tm="0">
                                          <p:val>
                                            <p:strVal val="#ppt_y+.05"/>
                                          </p:val>
                                        </p:tav>
                                        <p:tav tm="100000">
                                          <p:val>
                                            <p:strVal val="#ppt_y"/>
                                          </p:val>
                                        </p:tav>
                                      </p:tavLst>
                                    </p:anim>
                                  </p:childTnLst>
                                </p:cTn>
                              </p:par>
                              <p:par>
                                <p:cTn id="85" presetID="42" presetClass="entr" presetSubtype="0" fill="hold" grpId="0" nodeType="withEffect">
                                  <p:stCondLst>
                                    <p:cond delay="80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600"/>
                                        <p:tgtEl>
                                          <p:spTgt spid="20"/>
                                        </p:tgtEl>
                                      </p:cBhvr>
                                    </p:animEffect>
                                    <p:anim calcmode="lin" valueType="num">
                                      <p:cBhvr>
                                        <p:cTn id="88" dur="600" fill="hold"/>
                                        <p:tgtEl>
                                          <p:spTgt spid="20"/>
                                        </p:tgtEl>
                                        <p:attrNameLst>
                                          <p:attrName>ppt_x</p:attrName>
                                        </p:attrNameLst>
                                      </p:cBhvr>
                                      <p:tavLst>
                                        <p:tav tm="0">
                                          <p:val>
                                            <p:strVal val="#ppt_x"/>
                                          </p:val>
                                        </p:tav>
                                        <p:tav tm="100000">
                                          <p:val>
                                            <p:strVal val="#ppt_x"/>
                                          </p:val>
                                        </p:tav>
                                      </p:tavLst>
                                    </p:anim>
                                    <p:anim calcmode="lin" valueType="num">
                                      <p:cBhvr>
                                        <p:cTn id="89" dur="600" fill="hold"/>
                                        <p:tgtEl>
                                          <p:spTgt spid="20"/>
                                        </p:tgtEl>
                                        <p:attrNameLst>
                                          <p:attrName>ppt_y</p:attrName>
                                        </p:attrNameLst>
                                      </p:cBhvr>
                                      <p:tavLst>
                                        <p:tav tm="0">
                                          <p:val>
                                            <p:strVal val="#ppt_y+.05"/>
                                          </p:val>
                                        </p:tav>
                                        <p:tav tm="100000">
                                          <p:val>
                                            <p:strVal val="#ppt_y"/>
                                          </p:val>
                                        </p:tav>
                                      </p:tavLst>
                                    </p:anim>
                                  </p:childTnLst>
                                </p:cTn>
                              </p:par>
                              <p:par>
                                <p:cTn id="90" presetID="53" presetClass="entr" presetSubtype="16" fill="hold" grpId="0" nodeType="withEffect">
                                  <p:stCondLst>
                                    <p:cond delay="1000"/>
                                  </p:stCondLst>
                                  <p:childTnLst>
                                    <p:set>
                                      <p:cBhvr>
                                        <p:cTn id="91" dur="1" fill="hold">
                                          <p:stCondLst>
                                            <p:cond delay="0"/>
                                          </p:stCondLst>
                                        </p:cTn>
                                        <p:tgtEl>
                                          <p:spTgt spid="21"/>
                                        </p:tgtEl>
                                        <p:attrNameLst>
                                          <p:attrName>style.visibility</p:attrName>
                                        </p:attrNameLst>
                                      </p:cBhvr>
                                      <p:to>
                                        <p:strVal val="visible"/>
                                      </p:to>
                                    </p:set>
                                    <p:anim calcmode="lin" valueType="num">
                                      <p:cBhvr>
                                        <p:cTn id="92" dur="500" fill="hold"/>
                                        <p:tgtEl>
                                          <p:spTgt spid="21"/>
                                        </p:tgtEl>
                                        <p:attrNameLst>
                                          <p:attrName>ppt_w</p:attrName>
                                        </p:attrNameLst>
                                      </p:cBhvr>
                                      <p:tavLst>
                                        <p:tav tm="0">
                                          <p:val>
                                            <p:fltVal val="0"/>
                                          </p:val>
                                        </p:tav>
                                        <p:tav tm="100000">
                                          <p:val>
                                            <p:strVal val="#ppt_w"/>
                                          </p:val>
                                        </p:tav>
                                      </p:tavLst>
                                    </p:anim>
                                    <p:anim calcmode="lin" valueType="num">
                                      <p:cBhvr>
                                        <p:cTn id="93" dur="500" fill="hold"/>
                                        <p:tgtEl>
                                          <p:spTgt spid="21"/>
                                        </p:tgtEl>
                                        <p:attrNameLst>
                                          <p:attrName>ppt_h</p:attrName>
                                        </p:attrNameLst>
                                      </p:cBhvr>
                                      <p:tavLst>
                                        <p:tav tm="0">
                                          <p:val>
                                            <p:fltVal val="0"/>
                                          </p:val>
                                        </p:tav>
                                        <p:tav tm="100000">
                                          <p:val>
                                            <p:strVal val="#ppt_h"/>
                                          </p:val>
                                        </p:tav>
                                      </p:tavLst>
                                    </p:anim>
                                    <p:animEffect transition="in" filter="fade">
                                      <p:cBhvr>
                                        <p:cTn id="94" dur="500"/>
                                        <p:tgtEl>
                                          <p:spTgt spid="21"/>
                                        </p:tgtEl>
                                      </p:cBhvr>
                                    </p:animEffect>
                                  </p:childTnLst>
                                </p:cTn>
                              </p:par>
                              <p:par>
                                <p:cTn id="95" presetID="53" presetClass="entr" presetSubtype="16" fill="hold" grpId="0" nodeType="withEffect">
                                  <p:stCondLst>
                                    <p:cond delay="1000"/>
                                  </p:stCondLst>
                                  <p:childTnLst>
                                    <p:set>
                                      <p:cBhvr>
                                        <p:cTn id="96" dur="1" fill="hold">
                                          <p:stCondLst>
                                            <p:cond delay="0"/>
                                          </p:stCondLst>
                                        </p:cTn>
                                        <p:tgtEl>
                                          <p:spTgt spid="22"/>
                                        </p:tgtEl>
                                        <p:attrNameLst>
                                          <p:attrName>style.visibility</p:attrName>
                                        </p:attrNameLst>
                                      </p:cBhvr>
                                      <p:to>
                                        <p:strVal val="visible"/>
                                      </p:to>
                                    </p:set>
                                    <p:anim calcmode="lin" valueType="num">
                                      <p:cBhvr>
                                        <p:cTn id="97" dur="500" fill="hold"/>
                                        <p:tgtEl>
                                          <p:spTgt spid="22"/>
                                        </p:tgtEl>
                                        <p:attrNameLst>
                                          <p:attrName>ppt_w</p:attrName>
                                        </p:attrNameLst>
                                      </p:cBhvr>
                                      <p:tavLst>
                                        <p:tav tm="0">
                                          <p:val>
                                            <p:fltVal val="0"/>
                                          </p:val>
                                        </p:tav>
                                        <p:tav tm="100000">
                                          <p:val>
                                            <p:strVal val="#ppt_w"/>
                                          </p:val>
                                        </p:tav>
                                      </p:tavLst>
                                    </p:anim>
                                    <p:anim calcmode="lin" valueType="num">
                                      <p:cBhvr>
                                        <p:cTn id="98" dur="500" fill="hold"/>
                                        <p:tgtEl>
                                          <p:spTgt spid="22"/>
                                        </p:tgtEl>
                                        <p:attrNameLst>
                                          <p:attrName>ppt_h</p:attrName>
                                        </p:attrNameLst>
                                      </p:cBhvr>
                                      <p:tavLst>
                                        <p:tav tm="0">
                                          <p:val>
                                            <p:fltVal val="0"/>
                                          </p:val>
                                        </p:tav>
                                        <p:tav tm="100000">
                                          <p:val>
                                            <p:strVal val="#ppt_h"/>
                                          </p:val>
                                        </p:tav>
                                      </p:tavLst>
                                    </p:anim>
                                    <p:animEffect transition="in" filter="fade">
                                      <p:cBhvr>
                                        <p:cTn id="99" dur="500"/>
                                        <p:tgtEl>
                                          <p:spTgt spid="22"/>
                                        </p:tgtEl>
                                      </p:cBhvr>
                                    </p:animEffect>
                                  </p:childTnLst>
                                </p:cTn>
                              </p:par>
                              <p:par>
                                <p:cTn id="100" presetID="42" presetClass="entr" presetSubtype="0" fill="hold" grpId="0" nodeType="withEffect">
                                  <p:stCondLst>
                                    <p:cond delay="100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600"/>
                                        <p:tgtEl>
                                          <p:spTgt spid="23"/>
                                        </p:tgtEl>
                                      </p:cBhvr>
                                    </p:animEffect>
                                    <p:anim calcmode="lin" valueType="num">
                                      <p:cBhvr>
                                        <p:cTn id="103" dur="600" fill="hold"/>
                                        <p:tgtEl>
                                          <p:spTgt spid="23"/>
                                        </p:tgtEl>
                                        <p:attrNameLst>
                                          <p:attrName>ppt_x</p:attrName>
                                        </p:attrNameLst>
                                      </p:cBhvr>
                                      <p:tavLst>
                                        <p:tav tm="0">
                                          <p:val>
                                            <p:strVal val="#ppt_x"/>
                                          </p:val>
                                        </p:tav>
                                        <p:tav tm="100000">
                                          <p:val>
                                            <p:strVal val="#ppt_x"/>
                                          </p:val>
                                        </p:tav>
                                      </p:tavLst>
                                    </p:anim>
                                    <p:anim calcmode="lin" valueType="num">
                                      <p:cBhvr>
                                        <p:cTn id="104" dur="600" fill="hold"/>
                                        <p:tgtEl>
                                          <p:spTgt spid="23"/>
                                        </p:tgtEl>
                                        <p:attrNameLst>
                                          <p:attrName>ppt_y</p:attrName>
                                        </p:attrNameLst>
                                      </p:cBhvr>
                                      <p:tavLst>
                                        <p:tav tm="0">
                                          <p:val>
                                            <p:strVal val="#ppt_y+.05"/>
                                          </p:val>
                                        </p:tav>
                                        <p:tav tm="100000">
                                          <p:val>
                                            <p:strVal val="#ppt_y"/>
                                          </p:val>
                                        </p:tav>
                                      </p:tavLst>
                                    </p:anim>
                                  </p:childTnLst>
                                </p:cTn>
                              </p:par>
                              <p:par>
                                <p:cTn id="105" presetID="42" presetClass="entr" presetSubtype="0" fill="hold" grpId="0" nodeType="withEffect">
                                  <p:stCondLst>
                                    <p:cond delay="100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600"/>
                                        <p:tgtEl>
                                          <p:spTgt spid="24"/>
                                        </p:tgtEl>
                                      </p:cBhvr>
                                    </p:animEffect>
                                    <p:anim calcmode="lin" valueType="num">
                                      <p:cBhvr>
                                        <p:cTn id="108" dur="600" fill="hold"/>
                                        <p:tgtEl>
                                          <p:spTgt spid="24"/>
                                        </p:tgtEl>
                                        <p:attrNameLst>
                                          <p:attrName>ppt_x</p:attrName>
                                        </p:attrNameLst>
                                      </p:cBhvr>
                                      <p:tavLst>
                                        <p:tav tm="0">
                                          <p:val>
                                            <p:strVal val="#ppt_x"/>
                                          </p:val>
                                        </p:tav>
                                        <p:tav tm="100000">
                                          <p:val>
                                            <p:strVal val="#ppt_x"/>
                                          </p:val>
                                        </p:tav>
                                      </p:tavLst>
                                    </p:anim>
                                    <p:anim calcmode="lin" valueType="num">
                                      <p:cBhvr>
                                        <p:cTn id="109" dur="600" fill="hold"/>
                                        <p:tgtEl>
                                          <p:spTgt spid="24"/>
                                        </p:tgtEl>
                                        <p:attrNameLst>
                                          <p:attrName>ppt_y</p:attrName>
                                        </p:attrNameLst>
                                      </p:cBhvr>
                                      <p:tavLst>
                                        <p:tav tm="0">
                                          <p:val>
                                            <p:strVal val="#ppt_y+.05"/>
                                          </p:val>
                                        </p:tav>
                                        <p:tav tm="100000">
                                          <p:val>
                                            <p:strVal val="#ppt_y"/>
                                          </p:val>
                                        </p:tav>
                                      </p:tavLst>
                                    </p:anim>
                                  </p:childTnLst>
                                </p:cTn>
                              </p:par>
                            </p:childTnLst>
                          </p:cTn>
                        </p:par>
                      </p:childTnLst>
                    </p:cTn>
                  </p:par>
                  <p:par>
                    <p:cTn id="110" fill="hold">
                      <p:stCondLst>
                        <p:cond delay="indefinite"/>
                      </p:stCondLst>
                      <p:childTnLst>
                        <p:par>
                          <p:cTn id="111" fill="hold">
                            <p:stCondLst>
                              <p:cond delay="0"/>
                            </p:stCondLst>
                            <p:childTnLst>
                              <p:par>
                                <p:cTn id="112" presetID="42" presetClass="entr" presetSubtype="0" fill="hold" grpId="0" nodeType="clickEffect">
                                  <p:stCondLst>
                                    <p:cond delay="0"/>
                                  </p:stCondLst>
                                  <p:childTnLst>
                                    <p:set>
                                      <p:cBhvr>
                                        <p:cTn id="113" dur="1" fill="hold">
                                          <p:stCondLst>
                                            <p:cond delay="0"/>
                                          </p:stCondLst>
                                        </p:cTn>
                                        <p:tgtEl>
                                          <p:spTgt spid="25"/>
                                        </p:tgtEl>
                                        <p:attrNameLst>
                                          <p:attrName>style.visibility</p:attrName>
                                        </p:attrNameLst>
                                      </p:cBhvr>
                                      <p:to>
                                        <p:strVal val="visible"/>
                                      </p:to>
                                    </p:set>
                                    <p:animEffect transition="in" filter="fade">
                                      <p:cBhvr>
                                        <p:cTn id="114" dur="600"/>
                                        <p:tgtEl>
                                          <p:spTgt spid="25"/>
                                        </p:tgtEl>
                                      </p:cBhvr>
                                    </p:animEffect>
                                    <p:anim calcmode="lin" valueType="num">
                                      <p:cBhvr>
                                        <p:cTn id="115" dur="600" fill="hold"/>
                                        <p:tgtEl>
                                          <p:spTgt spid="25"/>
                                        </p:tgtEl>
                                        <p:attrNameLst>
                                          <p:attrName>ppt_x</p:attrName>
                                        </p:attrNameLst>
                                      </p:cBhvr>
                                      <p:tavLst>
                                        <p:tav tm="0">
                                          <p:val>
                                            <p:strVal val="#ppt_x"/>
                                          </p:val>
                                        </p:tav>
                                        <p:tav tm="100000">
                                          <p:val>
                                            <p:strVal val="#ppt_x"/>
                                          </p:val>
                                        </p:tav>
                                      </p:tavLst>
                                    </p:anim>
                                    <p:anim calcmode="lin" valueType="num">
                                      <p:cBhvr>
                                        <p:cTn id="116" dur="600" fill="hold"/>
                                        <p:tgtEl>
                                          <p:spTgt spid="25"/>
                                        </p:tgtEl>
                                        <p:attrNameLst>
                                          <p:attrName>ppt_y</p:attrName>
                                        </p:attrNameLst>
                                      </p:cBhvr>
                                      <p:tavLst>
                                        <p:tav tm="0">
                                          <p:val>
                                            <p:strVal val="#ppt_y+.05"/>
                                          </p:val>
                                        </p:tav>
                                        <p:tav tm="100000">
                                          <p:val>
                                            <p:strVal val="#ppt_y"/>
                                          </p:val>
                                        </p:tav>
                                      </p:tavLst>
                                    </p:anim>
                                  </p:childTnLst>
                                </p:cTn>
                              </p:par>
                              <p:par>
                                <p:cTn id="117" presetID="42" presetClass="entr" presetSubtype="0" fill="hold" grpId="0" nodeType="withEffect">
                                  <p:stCondLst>
                                    <p:cond delay="200"/>
                                  </p:stCondLst>
                                  <p:childTnLst>
                                    <p:set>
                                      <p:cBhvr>
                                        <p:cTn id="118" dur="1" fill="hold">
                                          <p:stCondLst>
                                            <p:cond delay="0"/>
                                          </p:stCondLst>
                                        </p:cTn>
                                        <p:tgtEl>
                                          <p:spTgt spid="26"/>
                                        </p:tgtEl>
                                        <p:attrNameLst>
                                          <p:attrName>style.visibility</p:attrName>
                                        </p:attrNameLst>
                                      </p:cBhvr>
                                      <p:to>
                                        <p:strVal val="visible"/>
                                      </p:to>
                                    </p:set>
                                    <p:animEffect transition="in" filter="fade">
                                      <p:cBhvr>
                                        <p:cTn id="119" dur="600"/>
                                        <p:tgtEl>
                                          <p:spTgt spid="26"/>
                                        </p:tgtEl>
                                      </p:cBhvr>
                                    </p:animEffect>
                                    <p:anim calcmode="lin" valueType="num">
                                      <p:cBhvr>
                                        <p:cTn id="120" dur="600" fill="hold"/>
                                        <p:tgtEl>
                                          <p:spTgt spid="26"/>
                                        </p:tgtEl>
                                        <p:attrNameLst>
                                          <p:attrName>ppt_x</p:attrName>
                                        </p:attrNameLst>
                                      </p:cBhvr>
                                      <p:tavLst>
                                        <p:tav tm="0">
                                          <p:val>
                                            <p:strVal val="#ppt_x"/>
                                          </p:val>
                                        </p:tav>
                                        <p:tav tm="100000">
                                          <p:val>
                                            <p:strVal val="#ppt_x"/>
                                          </p:val>
                                        </p:tav>
                                      </p:tavLst>
                                    </p:anim>
                                    <p:anim calcmode="lin" valueType="num">
                                      <p:cBhvr>
                                        <p:cTn id="121" dur="600" fill="hold"/>
                                        <p:tgtEl>
                                          <p:spTgt spid="26"/>
                                        </p:tgtEl>
                                        <p:attrNameLst>
                                          <p:attrName>ppt_y</p:attrName>
                                        </p:attrNameLst>
                                      </p:cBhvr>
                                      <p:tavLst>
                                        <p:tav tm="0">
                                          <p:val>
                                            <p:strVal val="#ppt_y+.05"/>
                                          </p:val>
                                        </p:tav>
                                        <p:tav tm="100000">
                                          <p:val>
                                            <p:strVal val="#ppt_y"/>
                                          </p:val>
                                        </p:tav>
                                      </p:tavLst>
                                    </p:anim>
                                  </p:childTnLst>
                                </p:cTn>
                              </p:par>
                              <p:par>
                                <p:cTn id="122" presetID="53" presetClass="entr" presetSubtype="16" fill="hold" grpId="0" nodeType="withEffect">
                                  <p:stCondLst>
                                    <p:cond delay="200"/>
                                  </p:stCondLst>
                                  <p:childTnLst>
                                    <p:set>
                                      <p:cBhvr>
                                        <p:cTn id="123" dur="1" fill="hold">
                                          <p:stCondLst>
                                            <p:cond delay="0"/>
                                          </p:stCondLst>
                                        </p:cTn>
                                        <p:tgtEl>
                                          <p:spTgt spid="27"/>
                                        </p:tgtEl>
                                        <p:attrNameLst>
                                          <p:attrName>style.visibility</p:attrName>
                                        </p:attrNameLst>
                                      </p:cBhvr>
                                      <p:to>
                                        <p:strVal val="visible"/>
                                      </p:to>
                                    </p:set>
                                    <p:anim calcmode="lin" valueType="num">
                                      <p:cBhvr>
                                        <p:cTn id="124" dur="500" fill="hold"/>
                                        <p:tgtEl>
                                          <p:spTgt spid="27"/>
                                        </p:tgtEl>
                                        <p:attrNameLst>
                                          <p:attrName>ppt_w</p:attrName>
                                        </p:attrNameLst>
                                      </p:cBhvr>
                                      <p:tavLst>
                                        <p:tav tm="0">
                                          <p:val>
                                            <p:fltVal val="0"/>
                                          </p:val>
                                        </p:tav>
                                        <p:tav tm="100000">
                                          <p:val>
                                            <p:strVal val="#ppt_w"/>
                                          </p:val>
                                        </p:tav>
                                      </p:tavLst>
                                    </p:anim>
                                    <p:anim calcmode="lin" valueType="num">
                                      <p:cBhvr>
                                        <p:cTn id="125" dur="500" fill="hold"/>
                                        <p:tgtEl>
                                          <p:spTgt spid="27"/>
                                        </p:tgtEl>
                                        <p:attrNameLst>
                                          <p:attrName>ppt_h</p:attrName>
                                        </p:attrNameLst>
                                      </p:cBhvr>
                                      <p:tavLst>
                                        <p:tav tm="0">
                                          <p:val>
                                            <p:fltVal val="0"/>
                                          </p:val>
                                        </p:tav>
                                        <p:tav tm="100000">
                                          <p:val>
                                            <p:strVal val="#ppt_h"/>
                                          </p:val>
                                        </p:tav>
                                      </p:tavLst>
                                    </p:anim>
                                    <p:animEffect transition="in" filter="fade">
                                      <p:cBhvr>
                                        <p:cTn id="126" dur="500"/>
                                        <p:tgtEl>
                                          <p:spTgt spid="27"/>
                                        </p:tgtEl>
                                      </p:cBhvr>
                                    </p:animEffect>
                                  </p:childTnLst>
                                </p:cTn>
                              </p:par>
                              <p:par>
                                <p:cTn id="127" presetID="53" presetClass="entr" presetSubtype="16" fill="hold" grpId="0" nodeType="withEffect">
                                  <p:stCondLst>
                                    <p:cond delay="200"/>
                                  </p:stCondLst>
                                  <p:childTnLst>
                                    <p:set>
                                      <p:cBhvr>
                                        <p:cTn id="128" dur="1" fill="hold">
                                          <p:stCondLst>
                                            <p:cond delay="0"/>
                                          </p:stCondLst>
                                        </p:cTn>
                                        <p:tgtEl>
                                          <p:spTgt spid="28"/>
                                        </p:tgtEl>
                                        <p:attrNameLst>
                                          <p:attrName>style.visibility</p:attrName>
                                        </p:attrNameLst>
                                      </p:cBhvr>
                                      <p:to>
                                        <p:strVal val="visible"/>
                                      </p:to>
                                    </p:set>
                                    <p:anim calcmode="lin" valueType="num">
                                      <p:cBhvr>
                                        <p:cTn id="129" dur="500" fill="hold"/>
                                        <p:tgtEl>
                                          <p:spTgt spid="28"/>
                                        </p:tgtEl>
                                        <p:attrNameLst>
                                          <p:attrName>ppt_w</p:attrName>
                                        </p:attrNameLst>
                                      </p:cBhvr>
                                      <p:tavLst>
                                        <p:tav tm="0">
                                          <p:val>
                                            <p:fltVal val="0"/>
                                          </p:val>
                                        </p:tav>
                                        <p:tav tm="100000">
                                          <p:val>
                                            <p:strVal val="#ppt_w"/>
                                          </p:val>
                                        </p:tav>
                                      </p:tavLst>
                                    </p:anim>
                                    <p:anim calcmode="lin" valueType="num">
                                      <p:cBhvr>
                                        <p:cTn id="130" dur="500" fill="hold"/>
                                        <p:tgtEl>
                                          <p:spTgt spid="28"/>
                                        </p:tgtEl>
                                        <p:attrNameLst>
                                          <p:attrName>ppt_h</p:attrName>
                                        </p:attrNameLst>
                                      </p:cBhvr>
                                      <p:tavLst>
                                        <p:tav tm="0">
                                          <p:val>
                                            <p:fltVal val="0"/>
                                          </p:val>
                                        </p:tav>
                                        <p:tav tm="100000">
                                          <p:val>
                                            <p:strVal val="#ppt_h"/>
                                          </p:val>
                                        </p:tav>
                                      </p:tavLst>
                                    </p:anim>
                                    <p:animEffect transition="in" filter="fade">
                                      <p:cBhvr>
                                        <p:cTn id="131" dur="500"/>
                                        <p:tgtEl>
                                          <p:spTgt spid="28"/>
                                        </p:tgtEl>
                                      </p:cBhvr>
                                    </p:animEffect>
                                  </p:childTnLst>
                                </p:cTn>
                              </p:par>
                              <p:par>
                                <p:cTn id="132" presetID="42" presetClass="entr" presetSubtype="0" fill="hold" grpId="0" nodeType="withEffect">
                                  <p:stCondLst>
                                    <p:cond delay="200"/>
                                  </p:stCondLst>
                                  <p:childTnLst>
                                    <p:set>
                                      <p:cBhvr>
                                        <p:cTn id="133" dur="1" fill="hold">
                                          <p:stCondLst>
                                            <p:cond delay="0"/>
                                          </p:stCondLst>
                                        </p:cTn>
                                        <p:tgtEl>
                                          <p:spTgt spid="29"/>
                                        </p:tgtEl>
                                        <p:attrNameLst>
                                          <p:attrName>style.visibility</p:attrName>
                                        </p:attrNameLst>
                                      </p:cBhvr>
                                      <p:to>
                                        <p:strVal val="visible"/>
                                      </p:to>
                                    </p:set>
                                    <p:animEffect transition="in" filter="fade">
                                      <p:cBhvr>
                                        <p:cTn id="134" dur="600"/>
                                        <p:tgtEl>
                                          <p:spTgt spid="29"/>
                                        </p:tgtEl>
                                      </p:cBhvr>
                                    </p:animEffect>
                                    <p:anim calcmode="lin" valueType="num">
                                      <p:cBhvr>
                                        <p:cTn id="135" dur="600" fill="hold"/>
                                        <p:tgtEl>
                                          <p:spTgt spid="29"/>
                                        </p:tgtEl>
                                        <p:attrNameLst>
                                          <p:attrName>ppt_x</p:attrName>
                                        </p:attrNameLst>
                                      </p:cBhvr>
                                      <p:tavLst>
                                        <p:tav tm="0">
                                          <p:val>
                                            <p:strVal val="#ppt_x"/>
                                          </p:val>
                                        </p:tav>
                                        <p:tav tm="100000">
                                          <p:val>
                                            <p:strVal val="#ppt_x"/>
                                          </p:val>
                                        </p:tav>
                                      </p:tavLst>
                                    </p:anim>
                                    <p:anim calcmode="lin" valueType="num">
                                      <p:cBhvr>
                                        <p:cTn id="136" dur="600" fill="hold"/>
                                        <p:tgtEl>
                                          <p:spTgt spid="29"/>
                                        </p:tgtEl>
                                        <p:attrNameLst>
                                          <p:attrName>ppt_y</p:attrName>
                                        </p:attrNameLst>
                                      </p:cBhvr>
                                      <p:tavLst>
                                        <p:tav tm="0">
                                          <p:val>
                                            <p:strVal val="#ppt_y+.05"/>
                                          </p:val>
                                        </p:tav>
                                        <p:tav tm="100000">
                                          <p:val>
                                            <p:strVal val="#ppt_y"/>
                                          </p:val>
                                        </p:tav>
                                      </p:tavLst>
                                    </p:anim>
                                  </p:childTnLst>
                                </p:cTn>
                              </p:par>
                              <p:par>
                                <p:cTn id="137" presetID="42" presetClass="entr" presetSubtype="0" fill="hold" grpId="0" nodeType="withEffect">
                                  <p:stCondLst>
                                    <p:cond delay="200"/>
                                  </p:stCondLst>
                                  <p:childTnLst>
                                    <p:set>
                                      <p:cBhvr>
                                        <p:cTn id="138" dur="1" fill="hold">
                                          <p:stCondLst>
                                            <p:cond delay="0"/>
                                          </p:stCondLst>
                                        </p:cTn>
                                        <p:tgtEl>
                                          <p:spTgt spid="30"/>
                                        </p:tgtEl>
                                        <p:attrNameLst>
                                          <p:attrName>style.visibility</p:attrName>
                                        </p:attrNameLst>
                                      </p:cBhvr>
                                      <p:to>
                                        <p:strVal val="visible"/>
                                      </p:to>
                                    </p:set>
                                    <p:animEffect transition="in" filter="fade">
                                      <p:cBhvr>
                                        <p:cTn id="139" dur="600"/>
                                        <p:tgtEl>
                                          <p:spTgt spid="30"/>
                                        </p:tgtEl>
                                      </p:cBhvr>
                                    </p:animEffect>
                                    <p:anim calcmode="lin" valueType="num">
                                      <p:cBhvr>
                                        <p:cTn id="140" dur="600" fill="hold"/>
                                        <p:tgtEl>
                                          <p:spTgt spid="30"/>
                                        </p:tgtEl>
                                        <p:attrNameLst>
                                          <p:attrName>ppt_x</p:attrName>
                                        </p:attrNameLst>
                                      </p:cBhvr>
                                      <p:tavLst>
                                        <p:tav tm="0">
                                          <p:val>
                                            <p:strVal val="#ppt_x"/>
                                          </p:val>
                                        </p:tav>
                                        <p:tav tm="100000">
                                          <p:val>
                                            <p:strVal val="#ppt_x"/>
                                          </p:val>
                                        </p:tav>
                                      </p:tavLst>
                                    </p:anim>
                                    <p:anim calcmode="lin" valueType="num">
                                      <p:cBhvr>
                                        <p:cTn id="141" dur="600" fill="hold"/>
                                        <p:tgtEl>
                                          <p:spTgt spid="30"/>
                                        </p:tgtEl>
                                        <p:attrNameLst>
                                          <p:attrName>ppt_y</p:attrName>
                                        </p:attrNameLst>
                                      </p:cBhvr>
                                      <p:tavLst>
                                        <p:tav tm="0">
                                          <p:val>
                                            <p:strVal val="#ppt_y+.05"/>
                                          </p:val>
                                        </p:tav>
                                        <p:tav tm="100000">
                                          <p:val>
                                            <p:strVal val="#ppt_y"/>
                                          </p:val>
                                        </p:tav>
                                      </p:tavLst>
                                    </p:anim>
                                  </p:childTnLst>
                                </p:cTn>
                              </p:par>
                              <p:par>
                                <p:cTn id="142" presetID="42" presetClass="entr" presetSubtype="0" fill="hold" grpId="0" nodeType="withEffect">
                                  <p:stCondLst>
                                    <p:cond delay="400"/>
                                  </p:stCondLst>
                                  <p:childTnLst>
                                    <p:set>
                                      <p:cBhvr>
                                        <p:cTn id="143" dur="1" fill="hold">
                                          <p:stCondLst>
                                            <p:cond delay="0"/>
                                          </p:stCondLst>
                                        </p:cTn>
                                        <p:tgtEl>
                                          <p:spTgt spid="31"/>
                                        </p:tgtEl>
                                        <p:attrNameLst>
                                          <p:attrName>style.visibility</p:attrName>
                                        </p:attrNameLst>
                                      </p:cBhvr>
                                      <p:to>
                                        <p:strVal val="visible"/>
                                      </p:to>
                                    </p:set>
                                    <p:animEffect transition="in" filter="fade">
                                      <p:cBhvr>
                                        <p:cTn id="144" dur="600"/>
                                        <p:tgtEl>
                                          <p:spTgt spid="31"/>
                                        </p:tgtEl>
                                      </p:cBhvr>
                                    </p:animEffect>
                                    <p:anim calcmode="lin" valueType="num">
                                      <p:cBhvr>
                                        <p:cTn id="145" dur="600" fill="hold"/>
                                        <p:tgtEl>
                                          <p:spTgt spid="31"/>
                                        </p:tgtEl>
                                        <p:attrNameLst>
                                          <p:attrName>ppt_x</p:attrName>
                                        </p:attrNameLst>
                                      </p:cBhvr>
                                      <p:tavLst>
                                        <p:tav tm="0">
                                          <p:val>
                                            <p:strVal val="#ppt_x"/>
                                          </p:val>
                                        </p:tav>
                                        <p:tav tm="100000">
                                          <p:val>
                                            <p:strVal val="#ppt_x"/>
                                          </p:val>
                                        </p:tav>
                                      </p:tavLst>
                                    </p:anim>
                                    <p:anim calcmode="lin" valueType="num">
                                      <p:cBhvr>
                                        <p:cTn id="146" dur="600" fill="hold"/>
                                        <p:tgtEl>
                                          <p:spTgt spid="31"/>
                                        </p:tgtEl>
                                        <p:attrNameLst>
                                          <p:attrName>ppt_y</p:attrName>
                                        </p:attrNameLst>
                                      </p:cBhvr>
                                      <p:tavLst>
                                        <p:tav tm="0">
                                          <p:val>
                                            <p:strVal val="#ppt_y+.05"/>
                                          </p:val>
                                        </p:tav>
                                        <p:tav tm="100000">
                                          <p:val>
                                            <p:strVal val="#ppt_y"/>
                                          </p:val>
                                        </p:tav>
                                      </p:tavLst>
                                    </p:anim>
                                  </p:childTnLst>
                                </p:cTn>
                              </p:par>
                              <p:par>
                                <p:cTn id="147" presetID="53" presetClass="entr" presetSubtype="16" fill="hold" grpId="0" nodeType="withEffect">
                                  <p:stCondLst>
                                    <p:cond delay="400"/>
                                  </p:stCondLst>
                                  <p:childTnLst>
                                    <p:set>
                                      <p:cBhvr>
                                        <p:cTn id="148" dur="1" fill="hold">
                                          <p:stCondLst>
                                            <p:cond delay="0"/>
                                          </p:stCondLst>
                                        </p:cTn>
                                        <p:tgtEl>
                                          <p:spTgt spid="32"/>
                                        </p:tgtEl>
                                        <p:attrNameLst>
                                          <p:attrName>style.visibility</p:attrName>
                                        </p:attrNameLst>
                                      </p:cBhvr>
                                      <p:to>
                                        <p:strVal val="visible"/>
                                      </p:to>
                                    </p:set>
                                    <p:anim calcmode="lin" valueType="num">
                                      <p:cBhvr>
                                        <p:cTn id="149" dur="500" fill="hold"/>
                                        <p:tgtEl>
                                          <p:spTgt spid="32"/>
                                        </p:tgtEl>
                                        <p:attrNameLst>
                                          <p:attrName>ppt_w</p:attrName>
                                        </p:attrNameLst>
                                      </p:cBhvr>
                                      <p:tavLst>
                                        <p:tav tm="0">
                                          <p:val>
                                            <p:fltVal val="0"/>
                                          </p:val>
                                        </p:tav>
                                        <p:tav tm="100000">
                                          <p:val>
                                            <p:strVal val="#ppt_w"/>
                                          </p:val>
                                        </p:tav>
                                      </p:tavLst>
                                    </p:anim>
                                    <p:anim calcmode="lin" valueType="num">
                                      <p:cBhvr>
                                        <p:cTn id="150" dur="500" fill="hold"/>
                                        <p:tgtEl>
                                          <p:spTgt spid="32"/>
                                        </p:tgtEl>
                                        <p:attrNameLst>
                                          <p:attrName>ppt_h</p:attrName>
                                        </p:attrNameLst>
                                      </p:cBhvr>
                                      <p:tavLst>
                                        <p:tav tm="0">
                                          <p:val>
                                            <p:fltVal val="0"/>
                                          </p:val>
                                        </p:tav>
                                        <p:tav tm="100000">
                                          <p:val>
                                            <p:strVal val="#ppt_h"/>
                                          </p:val>
                                        </p:tav>
                                      </p:tavLst>
                                    </p:anim>
                                    <p:animEffect transition="in" filter="fade">
                                      <p:cBhvr>
                                        <p:cTn id="151" dur="500"/>
                                        <p:tgtEl>
                                          <p:spTgt spid="32"/>
                                        </p:tgtEl>
                                      </p:cBhvr>
                                    </p:animEffect>
                                  </p:childTnLst>
                                </p:cTn>
                              </p:par>
                              <p:par>
                                <p:cTn id="152" presetID="53" presetClass="entr" presetSubtype="16" fill="hold" grpId="0" nodeType="withEffect">
                                  <p:stCondLst>
                                    <p:cond delay="400"/>
                                  </p:stCondLst>
                                  <p:childTnLst>
                                    <p:set>
                                      <p:cBhvr>
                                        <p:cTn id="153" dur="1" fill="hold">
                                          <p:stCondLst>
                                            <p:cond delay="0"/>
                                          </p:stCondLst>
                                        </p:cTn>
                                        <p:tgtEl>
                                          <p:spTgt spid="33"/>
                                        </p:tgtEl>
                                        <p:attrNameLst>
                                          <p:attrName>style.visibility</p:attrName>
                                        </p:attrNameLst>
                                      </p:cBhvr>
                                      <p:to>
                                        <p:strVal val="visible"/>
                                      </p:to>
                                    </p:set>
                                    <p:anim calcmode="lin" valueType="num">
                                      <p:cBhvr>
                                        <p:cTn id="154" dur="500" fill="hold"/>
                                        <p:tgtEl>
                                          <p:spTgt spid="33"/>
                                        </p:tgtEl>
                                        <p:attrNameLst>
                                          <p:attrName>ppt_w</p:attrName>
                                        </p:attrNameLst>
                                      </p:cBhvr>
                                      <p:tavLst>
                                        <p:tav tm="0">
                                          <p:val>
                                            <p:fltVal val="0"/>
                                          </p:val>
                                        </p:tav>
                                        <p:tav tm="100000">
                                          <p:val>
                                            <p:strVal val="#ppt_w"/>
                                          </p:val>
                                        </p:tav>
                                      </p:tavLst>
                                    </p:anim>
                                    <p:anim calcmode="lin" valueType="num">
                                      <p:cBhvr>
                                        <p:cTn id="155" dur="500" fill="hold"/>
                                        <p:tgtEl>
                                          <p:spTgt spid="33"/>
                                        </p:tgtEl>
                                        <p:attrNameLst>
                                          <p:attrName>ppt_h</p:attrName>
                                        </p:attrNameLst>
                                      </p:cBhvr>
                                      <p:tavLst>
                                        <p:tav tm="0">
                                          <p:val>
                                            <p:fltVal val="0"/>
                                          </p:val>
                                        </p:tav>
                                        <p:tav tm="100000">
                                          <p:val>
                                            <p:strVal val="#ppt_h"/>
                                          </p:val>
                                        </p:tav>
                                      </p:tavLst>
                                    </p:anim>
                                    <p:animEffect transition="in" filter="fade">
                                      <p:cBhvr>
                                        <p:cTn id="156" dur="500"/>
                                        <p:tgtEl>
                                          <p:spTgt spid="33"/>
                                        </p:tgtEl>
                                      </p:cBhvr>
                                    </p:animEffect>
                                  </p:childTnLst>
                                </p:cTn>
                              </p:par>
                              <p:par>
                                <p:cTn id="157" presetID="42" presetClass="entr" presetSubtype="0" fill="hold" grpId="0" nodeType="withEffect">
                                  <p:stCondLst>
                                    <p:cond delay="400"/>
                                  </p:stCondLst>
                                  <p:childTnLst>
                                    <p:set>
                                      <p:cBhvr>
                                        <p:cTn id="158" dur="1" fill="hold">
                                          <p:stCondLst>
                                            <p:cond delay="0"/>
                                          </p:stCondLst>
                                        </p:cTn>
                                        <p:tgtEl>
                                          <p:spTgt spid="34"/>
                                        </p:tgtEl>
                                        <p:attrNameLst>
                                          <p:attrName>style.visibility</p:attrName>
                                        </p:attrNameLst>
                                      </p:cBhvr>
                                      <p:to>
                                        <p:strVal val="visible"/>
                                      </p:to>
                                    </p:set>
                                    <p:animEffect transition="in" filter="fade">
                                      <p:cBhvr>
                                        <p:cTn id="159" dur="600"/>
                                        <p:tgtEl>
                                          <p:spTgt spid="34"/>
                                        </p:tgtEl>
                                      </p:cBhvr>
                                    </p:animEffect>
                                    <p:anim calcmode="lin" valueType="num">
                                      <p:cBhvr>
                                        <p:cTn id="160" dur="600" fill="hold"/>
                                        <p:tgtEl>
                                          <p:spTgt spid="34"/>
                                        </p:tgtEl>
                                        <p:attrNameLst>
                                          <p:attrName>ppt_x</p:attrName>
                                        </p:attrNameLst>
                                      </p:cBhvr>
                                      <p:tavLst>
                                        <p:tav tm="0">
                                          <p:val>
                                            <p:strVal val="#ppt_x"/>
                                          </p:val>
                                        </p:tav>
                                        <p:tav tm="100000">
                                          <p:val>
                                            <p:strVal val="#ppt_x"/>
                                          </p:val>
                                        </p:tav>
                                      </p:tavLst>
                                    </p:anim>
                                    <p:anim calcmode="lin" valueType="num">
                                      <p:cBhvr>
                                        <p:cTn id="161" dur="600" fill="hold"/>
                                        <p:tgtEl>
                                          <p:spTgt spid="34"/>
                                        </p:tgtEl>
                                        <p:attrNameLst>
                                          <p:attrName>ppt_y</p:attrName>
                                        </p:attrNameLst>
                                      </p:cBhvr>
                                      <p:tavLst>
                                        <p:tav tm="0">
                                          <p:val>
                                            <p:strVal val="#ppt_y+.05"/>
                                          </p:val>
                                        </p:tav>
                                        <p:tav tm="100000">
                                          <p:val>
                                            <p:strVal val="#ppt_y"/>
                                          </p:val>
                                        </p:tav>
                                      </p:tavLst>
                                    </p:anim>
                                  </p:childTnLst>
                                </p:cTn>
                              </p:par>
                              <p:par>
                                <p:cTn id="162" presetID="42" presetClass="entr" presetSubtype="0" fill="hold" grpId="0" nodeType="withEffect">
                                  <p:stCondLst>
                                    <p:cond delay="400"/>
                                  </p:stCondLst>
                                  <p:childTnLst>
                                    <p:set>
                                      <p:cBhvr>
                                        <p:cTn id="163" dur="1" fill="hold">
                                          <p:stCondLst>
                                            <p:cond delay="0"/>
                                          </p:stCondLst>
                                        </p:cTn>
                                        <p:tgtEl>
                                          <p:spTgt spid="35"/>
                                        </p:tgtEl>
                                        <p:attrNameLst>
                                          <p:attrName>style.visibility</p:attrName>
                                        </p:attrNameLst>
                                      </p:cBhvr>
                                      <p:to>
                                        <p:strVal val="visible"/>
                                      </p:to>
                                    </p:set>
                                    <p:animEffect transition="in" filter="fade">
                                      <p:cBhvr>
                                        <p:cTn id="164" dur="600"/>
                                        <p:tgtEl>
                                          <p:spTgt spid="35"/>
                                        </p:tgtEl>
                                      </p:cBhvr>
                                    </p:animEffect>
                                    <p:anim calcmode="lin" valueType="num">
                                      <p:cBhvr>
                                        <p:cTn id="165" dur="600" fill="hold"/>
                                        <p:tgtEl>
                                          <p:spTgt spid="35"/>
                                        </p:tgtEl>
                                        <p:attrNameLst>
                                          <p:attrName>ppt_x</p:attrName>
                                        </p:attrNameLst>
                                      </p:cBhvr>
                                      <p:tavLst>
                                        <p:tav tm="0">
                                          <p:val>
                                            <p:strVal val="#ppt_x"/>
                                          </p:val>
                                        </p:tav>
                                        <p:tav tm="100000">
                                          <p:val>
                                            <p:strVal val="#ppt_x"/>
                                          </p:val>
                                        </p:tav>
                                      </p:tavLst>
                                    </p:anim>
                                    <p:anim calcmode="lin" valueType="num">
                                      <p:cBhvr>
                                        <p:cTn id="166" dur="600" fill="hold"/>
                                        <p:tgtEl>
                                          <p:spTgt spid="35"/>
                                        </p:tgtEl>
                                        <p:attrNameLst>
                                          <p:attrName>ppt_y</p:attrName>
                                        </p:attrNameLst>
                                      </p:cBhvr>
                                      <p:tavLst>
                                        <p:tav tm="0">
                                          <p:val>
                                            <p:strVal val="#ppt_y+.05"/>
                                          </p:val>
                                        </p:tav>
                                        <p:tav tm="100000">
                                          <p:val>
                                            <p:strVal val="#ppt_y"/>
                                          </p:val>
                                        </p:tav>
                                      </p:tavLst>
                                    </p:anim>
                                  </p:childTnLst>
                                </p:cTn>
                              </p:par>
                              <p:par>
                                <p:cTn id="167" presetID="42" presetClass="entr" presetSubtype="0" fill="hold" grpId="0" nodeType="withEffect">
                                  <p:stCondLst>
                                    <p:cond delay="600"/>
                                  </p:stCondLst>
                                  <p:childTnLst>
                                    <p:set>
                                      <p:cBhvr>
                                        <p:cTn id="168" dur="1" fill="hold">
                                          <p:stCondLst>
                                            <p:cond delay="0"/>
                                          </p:stCondLst>
                                        </p:cTn>
                                        <p:tgtEl>
                                          <p:spTgt spid="36"/>
                                        </p:tgtEl>
                                        <p:attrNameLst>
                                          <p:attrName>style.visibility</p:attrName>
                                        </p:attrNameLst>
                                      </p:cBhvr>
                                      <p:to>
                                        <p:strVal val="visible"/>
                                      </p:to>
                                    </p:set>
                                    <p:animEffect transition="in" filter="fade">
                                      <p:cBhvr>
                                        <p:cTn id="169" dur="600"/>
                                        <p:tgtEl>
                                          <p:spTgt spid="36"/>
                                        </p:tgtEl>
                                      </p:cBhvr>
                                    </p:animEffect>
                                    <p:anim calcmode="lin" valueType="num">
                                      <p:cBhvr>
                                        <p:cTn id="170" dur="600" fill="hold"/>
                                        <p:tgtEl>
                                          <p:spTgt spid="36"/>
                                        </p:tgtEl>
                                        <p:attrNameLst>
                                          <p:attrName>ppt_x</p:attrName>
                                        </p:attrNameLst>
                                      </p:cBhvr>
                                      <p:tavLst>
                                        <p:tav tm="0">
                                          <p:val>
                                            <p:strVal val="#ppt_x"/>
                                          </p:val>
                                        </p:tav>
                                        <p:tav tm="100000">
                                          <p:val>
                                            <p:strVal val="#ppt_x"/>
                                          </p:val>
                                        </p:tav>
                                      </p:tavLst>
                                    </p:anim>
                                    <p:anim calcmode="lin" valueType="num">
                                      <p:cBhvr>
                                        <p:cTn id="171" dur="600" fill="hold"/>
                                        <p:tgtEl>
                                          <p:spTgt spid="36"/>
                                        </p:tgtEl>
                                        <p:attrNameLst>
                                          <p:attrName>ppt_y</p:attrName>
                                        </p:attrNameLst>
                                      </p:cBhvr>
                                      <p:tavLst>
                                        <p:tav tm="0">
                                          <p:val>
                                            <p:strVal val="#ppt_y+.05"/>
                                          </p:val>
                                        </p:tav>
                                        <p:tav tm="100000">
                                          <p:val>
                                            <p:strVal val="#ppt_y"/>
                                          </p:val>
                                        </p:tav>
                                      </p:tavLst>
                                    </p:anim>
                                  </p:childTnLst>
                                </p:cTn>
                              </p:par>
                              <p:par>
                                <p:cTn id="172" presetID="53" presetClass="entr" presetSubtype="16" fill="hold" grpId="0" nodeType="withEffect">
                                  <p:stCondLst>
                                    <p:cond delay="600"/>
                                  </p:stCondLst>
                                  <p:childTnLst>
                                    <p:set>
                                      <p:cBhvr>
                                        <p:cTn id="173" dur="1" fill="hold">
                                          <p:stCondLst>
                                            <p:cond delay="0"/>
                                          </p:stCondLst>
                                        </p:cTn>
                                        <p:tgtEl>
                                          <p:spTgt spid="37"/>
                                        </p:tgtEl>
                                        <p:attrNameLst>
                                          <p:attrName>style.visibility</p:attrName>
                                        </p:attrNameLst>
                                      </p:cBhvr>
                                      <p:to>
                                        <p:strVal val="visible"/>
                                      </p:to>
                                    </p:set>
                                    <p:anim calcmode="lin" valueType="num">
                                      <p:cBhvr>
                                        <p:cTn id="174" dur="500" fill="hold"/>
                                        <p:tgtEl>
                                          <p:spTgt spid="37"/>
                                        </p:tgtEl>
                                        <p:attrNameLst>
                                          <p:attrName>ppt_w</p:attrName>
                                        </p:attrNameLst>
                                      </p:cBhvr>
                                      <p:tavLst>
                                        <p:tav tm="0">
                                          <p:val>
                                            <p:fltVal val="0"/>
                                          </p:val>
                                        </p:tav>
                                        <p:tav tm="100000">
                                          <p:val>
                                            <p:strVal val="#ppt_w"/>
                                          </p:val>
                                        </p:tav>
                                      </p:tavLst>
                                    </p:anim>
                                    <p:anim calcmode="lin" valueType="num">
                                      <p:cBhvr>
                                        <p:cTn id="175" dur="500" fill="hold"/>
                                        <p:tgtEl>
                                          <p:spTgt spid="37"/>
                                        </p:tgtEl>
                                        <p:attrNameLst>
                                          <p:attrName>ppt_h</p:attrName>
                                        </p:attrNameLst>
                                      </p:cBhvr>
                                      <p:tavLst>
                                        <p:tav tm="0">
                                          <p:val>
                                            <p:fltVal val="0"/>
                                          </p:val>
                                        </p:tav>
                                        <p:tav tm="100000">
                                          <p:val>
                                            <p:strVal val="#ppt_h"/>
                                          </p:val>
                                        </p:tav>
                                      </p:tavLst>
                                    </p:anim>
                                    <p:animEffect transition="in" filter="fade">
                                      <p:cBhvr>
                                        <p:cTn id="176" dur="500"/>
                                        <p:tgtEl>
                                          <p:spTgt spid="37"/>
                                        </p:tgtEl>
                                      </p:cBhvr>
                                    </p:animEffect>
                                  </p:childTnLst>
                                </p:cTn>
                              </p:par>
                              <p:par>
                                <p:cTn id="177" presetID="53" presetClass="entr" presetSubtype="16" fill="hold" grpId="0" nodeType="withEffect">
                                  <p:stCondLst>
                                    <p:cond delay="600"/>
                                  </p:stCondLst>
                                  <p:childTnLst>
                                    <p:set>
                                      <p:cBhvr>
                                        <p:cTn id="178" dur="1" fill="hold">
                                          <p:stCondLst>
                                            <p:cond delay="0"/>
                                          </p:stCondLst>
                                        </p:cTn>
                                        <p:tgtEl>
                                          <p:spTgt spid="38"/>
                                        </p:tgtEl>
                                        <p:attrNameLst>
                                          <p:attrName>style.visibility</p:attrName>
                                        </p:attrNameLst>
                                      </p:cBhvr>
                                      <p:to>
                                        <p:strVal val="visible"/>
                                      </p:to>
                                    </p:set>
                                    <p:anim calcmode="lin" valueType="num">
                                      <p:cBhvr>
                                        <p:cTn id="179" dur="500" fill="hold"/>
                                        <p:tgtEl>
                                          <p:spTgt spid="38"/>
                                        </p:tgtEl>
                                        <p:attrNameLst>
                                          <p:attrName>ppt_w</p:attrName>
                                        </p:attrNameLst>
                                      </p:cBhvr>
                                      <p:tavLst>
                                        <p:tav tm="0">
                                          <p:val>
                                            <p:fltVal val="0"/>
                                          </p:val>
                                        </p:tav>
                                        <p:tav tm="100000">
                                          <p:val>
                                            <p:strVal val="#ppt_w"/>
                                          </p:val>
                                        </p:tav>
                                      </p:tavLst>
                                    </p:anim>
                                    <p:anim calcmode="lin" valueType="num">
                                      <p:cBhvr>
                                        <p:cTn id="180" dur="500" fill="hold"/>
                                        <p:tgtEl>
                                          <p:spTgt spid="38"/>
                                        </p:tgtEl>
                                        <p:attrNameLst>
                                          <p:attrName>ppt_h</p:attrName>
                                        </p:attrNameLst>
                                      </p:cBhvr>
                                      <p:tavLst>
                                        <p:tav tm="0">
                                          <p:val>
                                            <p:fltVal val="0"/>
                                          </p:val>
                                        </p:tav>
                                        <p:tav tm="100000">
                                          <p:val>
                                            <p:strVal val="#ppt_h"/>
                                          </p:val>
                                        </p:tav>
                                      </p:tavLst>
                                    </p:anim>
                                    <p:animEffect transition="in" filter="fade">
                                      <p:cBhvr>
                                        <p:cTn id="181" dur="500"/>
                                        <p:tgtEl>
                                          <p:spTgt spid="38"/>
                                        </p:tgtEl>
                                      </p:cBhvr>
                                    </p:animEffect>
                                  </p:childTnLst>
                                </p:cTn>
                              </p:par>
                              <p:par>
                                <p:cTn id="182" presetID="42" presetClass="entr" presetSubtype="0" fill="hold" grpId="0" nodeType="withEffect">
                                  <p:stCondLst>
                                    <p:cond delay="600"/>
                                  </p:stCondLst>
                                  <p:childTnLst>
                                    <p:set>
                                      <p:cBhvr>
                                        <p:cTn id="183" dur="1" fill="hold">
                                          <p:stCondLst>
                                            <p:cond delay="0"/>
                                          </p:stCondLst>
                                        </p:cTn>
                                        <p:tgtEl>
                                          <p:spTgt spid="39"/>
                                        </p:tgtEl>
                                        <p:attrNameLst>
                                          <p:attrName>style.visibility</p:attrName>
                                        </p:attrNameLst>
                                      </p:cBhvr>
                                      <p:to>
                                        <p:strVal val="visible"/>
                                      </p:to>
                                    </p:set>
                                    <p:animEffect transition="in" filter="fade">
                                      <p:cBhvr>
                                        <p:cTn id="184" dur="600"/>
                                        <p:tgtEl>
                                          <p:spTgt spid="39"/>
                                        </p:tgtEl>
                                      </p:cBhvr>
                                    </p:animEffect>
                                    <p:anim calcmode="lin" valueType="num">
                                      <p:cBhvr>
                                        <p:cTn id="185" dur="600" fill="hold"/>
                                        <p:tgtEl>
                                          <p:spTgt spid="39"/>
                                        </p:tgtEl>
                                        <p:attrNameLst>
                                          <p:attrName>ppt_x</p:attrName>
                                        </p:attrNameLst>
                                      </p:cBhvr>
                                      <p:tavLst>
                                        <p:tav tm="0">
                                          <p:val>
                                            <p:strVal val="#ppt_x"/>
                                          </p:val>
                                        </p:tav>
                                        <p:tav tm="100000">
                                          <p:val>
                                            <p:strVal val="#ppt_x"/>
                                          </p:val>
                                        </p:tav>
                                      </p:tavLst>
                                    </p:anim>
                                    <p:anim calcmode="lin" valueType="num">
                                      <p:cBhvr>
                                        <p:cTn id="186" dur="600" fill="hold"/>
                                        <p:tgtEl>
                                          <p:spTgt spid="39"/>
                                        </p:tgtEl>
                                        <p:attrNameLst>
                                          <p:attrName>ppt_y</p:attrName>
                                        </p:attrNameLst>
                                      </p:cBhvr>
                                      <p:tavLst>
                                        <p:tav tm="0">
                                          <p:val>
                                            <p:strVal val="#ppt_y+.05"/>
                                          </p:val>
                                        </p:tav>
                                        <p:tav tm="100000">
                                          <p:val>
                                            <p:strVal val="#ppt_y"/>
                                          </p:val>
                                        </p:tav>
                                      </p:tavLst>
                                    </p:anim>
                                  </p:childTnLst>
                                </p:cTn>
                              </p:par>
                              <p:par>
                                <p:cTn id="187" presetID="42" presetClass="entr" presetSubtype="0" fill="hold" grpId="0" nodeType="withEffect">
                                  <p:stCondLst>
                                    <p:cond delay="600"/>
                                  </p:stCondLst>
                                  <p:childTnLst>
                                    <p:set>
                                      <p:cBhvr>
                                        <p:cTn id="188" dur="1" fill="hold">
                                          <p:stCondLst>
                                            <p:cond delay="0"/>
                                          </p:stCondLst>
                                        </p:cTn>
                                        <p:tgtEl>
                                          <p:spTgt spid="40"/>
                                        </p:tgtEl>
                                        <p:attrNameLst>
                                          <p:attrName>style.visibility</p:attrName>
                                        </p:attrNameLst>
                                      </p:cBhvr>
                                      <p:to>
                                        <p:strVal val="visible"/>
                                      </p:to>
                                    </p:set>
                                    <p:animEffect transition="in" filter="fade">
                                      <p:cBhvr>
                                        <p:cTn id="189" dur="600"/>
                                        <p:tgtEl>
                                          <p:spTgt spid="40"/>
                                        </p:tgtEl>
                                      </p:cBhvr>
                                    </p:animEffect>
                                    <p:anim calcmode="lin" valueType="num">
                                      <p:cBhvr>
                                        <p:cTn id="190" dur="600" fill="hold"/>
                                        <p:tgtEl>
                                          <p:spTgt spid="40"/>
                                        </p:tgtEl>
                                        <p:attrNameLst>
                                          <p:attrName>ppt_x</p:attrName>
                                        </p:attrNameLst>
                                      </p:cBhvr>
                                      <p:tavLst>
                                        <p:tav tm="0">
                                          <p:val>
                                            <p:strVal val="#ppt_x"/>
                                          </p:val>
                                        </p:tav>
                                        <p:tav tm="100000">
                                          <p:val>
                                            <p:strVal val="#ppt_x"/>
                                          </p:val>
                                        </p:tav>
                                      </p:tavLst>
                                    </p:anim>
                                    <p:anim calcmode="lin" valueType="num">
                                      <p:cBhvr>
                                        <p:cTn id="191" dur="600" fill="hold"/>
                                        <p:tgtEl>
                                          <p:spTgt spid="40"/>
                                        </p:tgtEl>
                                        <p:attrNameLst>
                                          <p:attrName>ppt_y</p:attrName>
                                        </p:attrNameLst>
                                      </p:cBhvr>
                                      <p:tavLst>
                                        <p:tav tm="0">
                                          <p:val>
                                            <p:strVal val="#ppt_y+.05"/>
                                          </p:val>
                                        </p:tav>
                                        <p:tav tm="100000">
                                          <p:val>
                                            <p:strVal val="#ppt_y"/>
                                          </p:val>
                                        </p:tav>
                                      </p:tavLst>
                                    </p:anim>
                                  </p:childTnLst>
                                </p:cTn>
                              </p:par>
                              <p:par>
                                <p:cTn id="192" presetID="42" presetClass="entr" presetSubtype="0" fill="hold" grpId="0" nodeType="withEffect">
                                  <p:stCondLst>
                                    <p:cond delay="800"/>
                                  </p:stCondLst>
                                  <p:childTnLst>
                                    <p:set>
                                      <p:cBhvr>
                                        <p:cTn id="193" dur="1" fill="hold">
                                          <p:stCondLst>
                                            <p:cond delay="0"/>
                                          </p:stCondLst>
                                        </p:cTn>
                                        <p:tgtEl>
                                          <p:spTgt spid="41"/>
                                        </p:tgtEl>
                                        <p:attrNameLst>
                                          <p:attrName>style.visibility</p:attrName>
                                        </p:attrNameLst>
                                      </p:cBhvr>
                                      <p:to>
                                        <p:strVal val="visible"/>
                                      </p:to>
                                    </p:set>
                                    <p:animEffect transition="in" filter="fade">
                                      <p:cBhvr>
                                        <p:cTn id="194" dur="600"/>
                                        <p:tgtEl>
                                          <p:spTgt spid="41"/>
                                        </p:tgtEl>
                                      </p:cBhvr>
                                    </p:animEffect>
                                    <p:anim calcmode="lin" valueType="num">
                                      <p:cBhvr>
                                        <p:cTn id="195" dur="600" fill="hold"/>
                                        <p:tgtEl>
                                          <p:spTgt spid="41"/>
                                        </p:tgtEl>
                                        <p:attrNameLst>
                                          <p:attrName>ppt_x</p:attrName>
                                        </p:attrNameLst>
                                      </p:cBhvr>
                                      <p:tavLst>
                                        <p:tav tm="0">
                                          <p:val>
                                            <p:strVal val="#ppt_x"/>
                                          </p:val>
                                        </p:tav>
                                        <p:tav tm="100000">
                                          <p:val>
                                            <p:strVal val="#ppt_x"/>
                                          </p:val>
                                        </p:tav>
                                      </p:tavLst>
                                    </p:anim>
                                    <p:anim calcmode="lin" valueType="num">
                                      <p:cBhvr>
                                        <p:cTn id="196" dur="600" fill="hold"/>
                                        <p:tgtEl>
                                          <p:spTgt spid="41"/>
                                        </p:tgtEl>
                                        <p:attrNameLst>
                                          <p:attrName>ppt_y</p:attrName>
                                        </p:attrNameLst>
                                      </p:cBhvr>
                                      <p:tavLst>
                                        <p:tav tm="0">
                                          <p:val>
                                            <p:strVal val="#ppt_y+.05"/>
                                          </p:val>
                                        </p:tav>
                                        <p:tav tm="100000">
                                          <p:val>
                                            <p:strVal val="#ppt_y"/>
                                          </p:val>
                                        </p:tav>
                                      </p:tavLst>
                                    </p:anim>
                                  </p:childTnLst>
                                </p:cTn>
                              </p:par>
                              <p:par>
                                <p:cTn id="197" presetID="53" presetClass="entr" presetSubtype="16" fill="hold" grpId="0" nodeType="withEffect">
                                  <p:stCondLst>
                                    <p:cond delay="800"/>
                                  </p:stCondLst>
                                  <p:childTnLst>
                                    <p:set>
                                      <p:cBhvr>
                                        <p:cTn id="198" dur="1" fill="hold">
                                          <p:stCondLst>
                                            <p:cond delay="0"/>
                                          </p:stCondLst>
                                        </p:cTn>
                                        <p:tgtEl>
                                          <p:spTgt spid="42"/>
                                        </p:tgtEl>
                                        <p:attrNameLst>
                                          <p:attrName>style.visibility</p:attrName>
                                        </p:attrNameLst>
                                      </p:cBhvr>
                                      <p:to>
                                        <p:strVal val="visible"/>
                                      </p:to>
                                    </p:set>
                                    <p:anim calcmode="lin" valueType="num">
                                      <p:cBhvr>
                                        <p:cTn id="199" dur="500" fill="hold"/>
                                        <p:tgtEl>
                                          <p:spTgt spid="42"/>
                                        </p:tgtEl>
                                        <p:attrNameLst>
                                          <p:attrName>ppt_w</p:attrName>
                                        </p:attrNameLst>
                                      </p:cBhvr>
                                      <p:tavLst>
                                        <p:tav tm="0">
                                          <p:val>
                                            <p:fltVal val="0"/>
                                          </p:val>
                                        </p:tav>
                                        <p:tav tm="100000">
                                          <p:val>
                                            <p:strVal val="#ppt_w"/>
                                          </p:val>
                                        </p:tav>
                                      </p:tavLst>
                                    </p:anim>
                                    <p:anim calcmode="lin" valueType="num">
                                      <p:cBhvr>
                                        <p:cTn id="200" dur="500" fill="hold"/>
                                        <p:tgtEl>
                                          <p:spTgt spid="42"/>
                                        </p:tgtEl>
                                        <p:attrNameLst>
                                          <p:attrName>ppt_h</p:attrName>
                                        </p:attrNameLst>
                                      </p:cBhvr>
                                      <p:tavLst>
                                        <p:tav tm="0">
                                          <p:val>
                                            <p:fltVal val="0"/>
                                          </p:val>
                                        </p:tav>
                                        <p:tav tm="100000">
                                          <p:val>
                                            <p:strVal val="#ppt_h"/>
                                          </p:val>
                                        </p:tav>
                                      </p:tavLst>
                                    </p:anim>
                                    <p:animEffect transition="in" filter="fade">
                                      <p:cBhvr>
                                        <p:cTn id="201" dur="500"/>
                                        <p:tgtEl>
                                          <p:spTgt spid="42"/>
                                        </p:tgtEl>
                                      </p:cBhvr>
                                    </p:animEffect>
                                  </p:childTnLst>
                                </p:cTn>
                              </p:par>
                              <p:par>
                                <p:cTn id="202" presetID="53" presetClass="entr" presetSubtype="16" fill="hold" grpId="0" nodeType="withEffect">
                                  <p:stCondLst>
                                    <p:cond delay="800"/>
                                  </p:stCondLst>
                                  <p:childTnLst>
                                    <p:set>
                                      <p:cBhvr>
                                        <p:cTn id="203" dur="1" fill="hold">
                                          <p:stCondLst>
                                            <p:cond delay="0"/>
                                          </p:stCondLst>
                                        </p:cTn>
                                        <p:tgtEl>
                                          <p:spTgt spid="43"/>
                                        </p:tgtEl>
                                        <p:attrNameLst>
                                          <p:attrName>style.visibility</p:attrName>
                                        </p:attrNameLst>
                                      </p:cBhvr>
                                      <p:to>
                                        <p:strVal val="visible"/>
                                      </p:to>
                                    </p:set>
                                    <p:anim calcmode="lin" valueType="num">
                                      <p:cBhvr>
                                        <p:cTn id="204" dur="500" fill="hold"/>
                                        <p:tgtEl>
                                          <p:spTgt spid="43"/>
                                        </p:tgtEl>
                                        <p:attrNameLst>
                                          <p:attrName>ppt_w</p:attrName>
                                        </p:attrNameLst>
                                      </p:cBhvr>
                                      <p:tavLst>
                                        <p:tav tm="0">
                                          <p:val>
                                            <p:fltVal val="0"/>
                                          </p:val>
                                        </p:tav>
                                        <p:tav tm="100000">
                                          <p:val>
                                            <p:strVal val="#ppt_w"/>
                                          </p:val>
                                        </p:tav>
                                      </p:tavLst>
                                    </p:anim>
                                    <p:anim calcmode="lin" valueType="num">
                                      <p:cBhvr>
                                        <p:cTn id="205" dur="500" fill="hold"/>
                                        <p:tgtEl>
                                          <p:spTgt spid="43"/>
                                        </p:tgtEl>
                                        <p:attrNameLst>
                                          <p:attrName>ppt_h</p:attrName>
                                        </p:attrNameLst>
                                      </p:cBhvr>
                                      <p:tavLst>
                                        <p:tav tm="0">
                                          <p:val>
                                            <p:fltVal val="0"/>
                                          </p:val>
                                        </p:tav>
                                        <p:tav tm="100000">
                                          <p:val>
                                            <p:strVal val="#ppt_h"/>
                                          </p:val>
                                        </p:tav>
                                      </p:tavLst>
                                    </p:anim>
                                    <p:animEffect transition="in" filter="fade">
                                      <p:cBhvr>
                                        <p:cTn id="206" dur="500"/>
                                        <p:tgtEl>
                                          <p:spTgt spid="43"/>
                                        </p:tgtEl>
                                      </p:cBhvr>
                                    </p:animEffect>
                                  </p:childTnLst>
                                </p:cTn>
                              </p:par>
                              <p:par>
                                <p:cTn id="207" presetID="42" presetClass="entr" presetSubtype="0" fill="hold" grpId="0" nodeType="withEffect">
                                  <p:stCondLst>
                                    <p:cond delay="800"/>
                                  </p:stCondLst>
                                  <p:childTnLst>
                                    <p:set>
                                      <p:cBhvr>
                                        <p:cTn id="208" dur="1" fill="hold">
                                          <p:stCondLst>
                                            <p:cond delay="0"/>
                                          </p:stCondLst>
                                        </p:cTn>
                                        <p:tgtEl>
                                          <p:spTgt spid="44"/>
                                        </p:tgtEl>
                                        <p:attrNameLst>
                                          <p:attrName>style.visibility</p:attrName>
                                        </p:attrNameLst>
                                      </p:cBhvr>
                                      <p:to>
                                        <p:strVal val="visible"/>
                                      </p:to>
                                    </p:set>
                                    <p:animEffect transition="in" filter="fade">
                                      <p:cBhvr>
                                        <p:cTn id="209" dur="600"/>
                                        <p:tgtEl>
                                          <p:spTgt spid="44"/>
                                        </p:tgtEl>
                                      </p:cBhvr>
                                    </p:animEffect>
                                    <p:anim calcmode="lin" valueType="num">
                                      <p:cBhvr>
                                        <p:cTn id="210" dur="600" fill="hold"/>
                                        <p:tgtEl>
                                          <p:spTgt spid="44"/>
                                        </p:tgtEl>
                                        <p:attrNameLst>
                                          <p:attrName>ppt_x</p:attrName>
                                        </p:attrNameLst>
                                      </p:cBhvr>
                                      <p:tavLst>
                                        <p:tav tm="0">
                                          <p:val>
                                            <p:strVal val="#ppt_x"/>
                                          </p:val>
                                        </p:tav>
                                        <p:tav tm="100000">
                                          <p:val>
                                            <p:strVal val="#ppt_x"/>
                                          </p:val>
                                        </p:tav>
                                      </p:tavLst>
                                    </p:anim>
                                    <p:anim calcmode="lin" valueType="num">
                                      <p:cBhvr>
                                        <p:cTn id="211" dur="600" fill="hold"/>
                                        <p:tgtEl>
                                          <p:spTgt spid="44"/>
                                        </p:tgtEl>
                                        <p:attrNameLst>
                                          <p:attrName>ppt_y</p:attrName>
                                        </p:attrNameLst>
                                      </p:cBhvr>
                                      <p:tavLst>
                                        <p:tav tm="0">
                                          <p:val>
                                            <p:strVal val="#ppt_y+.05"/>
                                          </p:val>
                                        </p:tav>
                                        <p:tav tm="100000">
                                          <p:val>
                                            <p:strVal val="#ppt_y"/>
                                          </p:val>
                                        </p:tav>
                                      </p:tavLst>
                                    </p:anim>
                                  </p:childTnLst>
                                </p:cTn>
                              </p:par>
                              <p:par>
                                <p:cTn id="212" presetID="42" presetClass="entr" presetSubtype="0" fill="hold" grpId="0" nodeType="withEffect">
                                  <p:stCondLst>
                                    <p:cond delay="800"/>
                                  </p:stCondLst>
                                  <p:childTnLst>
                                    <p:set>
                                      <p:cBhvr>
                                        <p:cTn id="213" dur="1" fill="hold">
                                          <p:stCondLst>
                                            <p:cond delay="0"/>
                                          </p:stCondLst>
                                        </p:cTn>
                                        <p:tgtEl>
                                          <p:spTgt spid="45"/>
                                        </p:tgtEl>
                                        <p:attrNameLst>
                                          <p:attrName>style.visibility</p:attrName>
                                        </p:attrNameLst>
                                      </p:cBhvr>
                                      <p:to>
                                        <p:strVal val="visible"/>
                                      </p:to>
                                    </p:set>
                                    <p:animEffect transition="in" filter="fade">
                                      <p:cBhvr>
                                        <p:cTn id="214" dur="600"/>
                                        <p:tgtEl>
                                          <p:spTgt spid="45"/>
                                        </p:tgtEl>
                                      </p:cBhvr>
                                    </p:animEffect>
                                    <p:anim calcmode="lin" valueType="num">
                                      <p:cBhvr>
                                        <p:cTn id="215" dur="600" fill="hold"/>
                                        <p:tgtEl>
                                          <p:spTgt spid="45"/>
                                        </p:tgtEl>
                                        <p:attrNameLst>
                                          <p:attrName>ppt_x</p:attrName>
                                        </p:attrNameLst>
                                      </p:cBhvr>
                                      <p:tavLst>
                                        <p:tav tm="0">
                                          <p:val>
                                            <p:strVal val="#ppt_x"/>
                                          </p:val>
                                        </p:tav>
                                        <p:tav tm="100000">
                                          <p:val>
                                            <p:strVal val="#ppt_x"/>
                                          </p:val>
                                        </p:tav>
                                      </p:tavLst>
                                    </p:anim>
                                    <p:anim calcmode="lin" valueType="num">
                                      <p:cBhvr>
                                        <p:cTn id="216" dur="600" fill="hold"/>
                                        <p:tgtEl>
                                          <p:spTgt spid="45"/>
                                        </p:tgtEl>
                                        <p:attrNameLst>
                                          <p:attrName>ppt_y</p:attrName>
                                        </p:attrNameLst>
                                      </p:cBhvr>
                                      <p:tavLst>
                                        <p:tav tm="0">
                                          <p:val>
                                            <p:strVal val="#ppt_y+.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1" grpId="0" animBg="1"/>
      <p:bldP spid="12" grpId="0" animBg="1"/>
      <p:bldP spid="13" grpId="0" animBg="1"/>
      <p:bldP spid="15" grpId="0" animBg="1"/>
      <p:bldP spid="16" grpId="0" animBg="1"/>
      <p:bldP spid="17" grpId="0" animBg="1"/>
      <p:bldP spid="19" grpId="0" animBg="1"/>
      <p:bldP spid="20" grpId="0" animBg="1"/>
      <p:bldP spid="21" grpId="0" animBg="1"/>
      <p:bldP spid="23" grpId="0" animBg="1"/>
      <p:bldP spid="24" grpId="0" animBg="1"/>
      <p:bldP spid="25" grpId="0" animBg="1"/>
      <p:bldP spid="26" grpId="0" animBg="1"/>
      <p:bldP spid="27" grpId="0" animBg="1"/>
      <p:bldP spid="29" grpId="0" animBg="1"/>
      <p:bldP spid="30" grpId="0" animBg="1"/>
      <p:bldP spid="31" grpId="0" animBg="1"/>
      <p:bldP spid="32" grpId="0" animBg="1"/>
      <p:bldP spid="34" grpId="0" animBg="1"/>
      <p:bldP spid="35" grpId="0" animBg="1"/>
      <p:bldP spid="36" grpId="0" animBg="1"/>
      <p:bldP spid="37" grpId="0" animBg="1"/>
      <p:bldP spid="39" grpId="0" animBg="1"/>
      <p:bldP spid="40" grpId="0" animBg="1"/>
      <p:bldP spid="41" grpId="0" animBg="1"/>
      <p:bldP spid="42" grpId="0" animBg="1"/>
      <p:bldP spid="44" grpId="0" animBg="1"/>
      <p:bldP spid="4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hip"/>
          <p:cNvSpPr/>
          <p:nvPr/>
        </p:nvSpPr>
        <p:spPr>
          <a:xfrm>
            <a:off x="548640" y="237744"/>
            <a:ext cx="1444752" cy="274320"/>
          </a:xfrm>
          <a:prstGeom prst="roundRect">
            <a:avLst>
              <a:gd name="adj" fmla="val 50000"/>
            </a:avLst>
          </a:prstGeom>
          <a:solidFill>
            <a:schemeClr val="accent2"/>
          </a:solidFill>
          <a:ln/>
        </p:spPr>
        <p:txBody>
          <a:bodyPr wrap="square" lIns="0" tIns="0" rIns="0" bIns="0" rtlCol="0" anchor="ctr"/>
          <a:lstStyle/>
          <a:p>
            <a:pPr algn="ctr" indent="0" marL="0">
              <a:buNone/>
            </a:pPr>
            <a:r>
              <a:rPr lang="en-US" sz="1050" b="1" spc="150" kern="0" dirty="0">
                <a:solidFill>
                  <a:schemeClr val="bg1"/>
                </a:solidFill>
              </a:rPr>
              <a:t>TPM · OVERVIEW</a:t>
            </a:r>
            <a:endParaRPr lang="en-US" sz="1050" dirty="0"/>
          </a:p>
        </p:txBody>
      </p:sp>
      <p:sp>
        <p:nvSpPr>
          <p:cNvPr id="3" name="Text 0"/>
          <p:cNvSpPr/>
          <p:nvPr>
            <p:ph idx="100" type="title" hasCustomPrompt="1"/>
          </p:nvPr>
        </p:nvSpPr>
        <p:spPr>
          <a:xfrm>
            <a:off x="548640" y="566928"/>
            <a:ext cx="11094415" cy="731520"/>
          </a:xfrm>
          <a:prstGeom prst="rect">
            <a:avLst/>
          </a:prstGeom>
          <a:noFill/>
          <a:ln/>
        </p:spPr>
        <p:txBody>
          <a:bodyPr wrap="square" lIns="0" tIns="0" rIns="0" bIns="0" rtlCol="0" anchor="ctr"/>
          <a:lstStyle/>
          <a:p>
            <a:pPr algn="l" indent="0" marL="0">
              <a:buNone/>
            </a:pPr>
            <a:r>
              <a:rPr lang="en-US" sz="3400" b="1" dirty="0">
                <a:solidFill>
                  <a:schemeClr val="tx1"/>
                </a:solidFill>
              </a:rPr>
              <a:t>TPM: definition, purpose and principles</a:t>
            </a:r>
            <a:endParaRPr lang="en-US" sz="3400" dirty="0"/>
          </a:p>
        </p:txBody>
      </p:sp>
      <p:sp>
        <p:nvSpPr>
          <p:cNvPr id="4" name="3DC_definition"/>
          <p:cNvSpPr/>
          <p:nvPr/>
        </p:nvSpPr>
        <p:spPr>
          <a:xfrm>
            <a:off x="548640" y="1572768"/>
            <a:ext cx="6903720" cy="1417320"/>
          </a:xfrm>
          <a:prstGeom prst="roundRect">
            <a:avLst>
              <a:gd name="adj" fmla="val 7742"/>
            </a:avLst>
          </a:prstGeom>
          <a:solidFill>
            <a:schemeClr val="tx1"/>
          </a:solidFill>
          <a:ln w="12700">
            <a:solidFill>
              <a:schemeClr val="tx1"/>
            </a:solidFill>
            <a:prstDash val="solid"/>
          </a:ln>
          <a:effectLst>
            <a:outerShdw sx="100000" sy="100000" kx="0" ky="0" algn="bl" rotWithShape="0" blurRad="127000" dist="38100" dir="5400000">
              <a:srgbClr val="16212E">
                <a:alpha val="16000"/>
              </a:srgbClr>
            </a:outerShdw>
          </a:effectLst>
          <a:scene3d>
            <a:camera prst="orthographicFront"/>
            <a:lightRig rig="threePt" dir="t"/>
          </a:scene3d>
          <a:sp3d>
            <a:bevelT w="25400" h="12700" prst="softRound"/>
          </a:sp3d>
        </p:spPr>
      </p:sp>
      <p:sp>
        <p:nvSpPr>
          <p:cNvPr id="5" name="text"/>
          <p:cNvSpPr txBox="1"/>
          <p:nvPr/>
        </p:nvSpPr>
        <p:spPr>
          <a:xfrm>
            <a:off x="822960" y="1709928"/>
            <a:ext cx="635508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DEFINITION</a:t>
            </a:r>
            <a:endParaRPr lang="en-US" sz="1200" dirty="0"/>
          </a:p>
        </p:txBody>
      </p:sp>
      <p:sp>
        <p:nvSpPr>
          <p:cNvPr id="6" name="text"/>
          <p:cNvSpPr txBox="1"/>
          <p:nvPr/>
        </p:nvSpPr>
        <p:spPr>
          <a:xfrm>
            <a:off x="822960" y="2002536"/>
            <a:ext cx="6355080" cy="868680"/>
          </a:xfrm>
          <a:prstGeom prst="rect">
            <a:avLst/>
          </a:prstGeom>
          <a:noFill/>
          <a:ln/>
        </p:spPr>
        <p:txBody>
          <a:bodyPr wrap="square" lIns="0" tIns="0" rIns="0" bIns="0" rtlCol="0" anchor="t"/>
          <a:lstStyle/>
          <a:p>
            <a:pPr indent="0" marL="0">
              <a:buNone/>
            </a:pPr>
            <a:r>
              <a:rPr lang="en-US" sz="1700" dirty="0">
                <a:solidFill>
                  <a:schemeClr val="bg1"/>
                </a:solidFill>
              </a:rPr>
              <a:t>TPM (Total Productive Maintenance) is a Lean method where operators and maintenance staff work together to keep every machine in perfect working condition.</a:t>
            </a:r>
            <a:endParaRPr lang="en-US" sz="1700" dirty="0"/>
          </a:p>
        </p:txBody>
      </p:sp>
      <p:sp>
        <p:nvSpPr>
          <p:cNvPr id="7" name="text"/>
          <p:cNvSpPr txBox="1"/>
          <p:nvPr/>
        </p:nvSpPr>
        <p:spPr>
          <a:xfrm>
            <a:off x="7680960" y="1572768"/>
            <a:ext cx="3962095"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PURPOSE</a:t>
            </a:r>
            <a:endParaRPr lang="en-US" sz="1200" dirty="0"/>
          </a:p>
        </p:txBody>
      </p:sp>
      <p:sp>
        <p:nvSpPr>
          <p:cNvPr id="8" name="3DB_zero"/>
          <p:cNvSpPr/>
          <p:nvPr/>
        </p:nvSpPr>
        <p:spPr>
          <a:xfrm>
            <a:off x="7680960" y="1865376"/>
            <a:ext cx="3962095" cy="329184"/>
          </a:xfrm>
          <a:prstGeom prst="roundRect">
            <a:avLst>
              <a:gd name="adj" fmla="val 22222"/>
            </a:avLst>
          </a:prstGeom>
          <a:solidFill>
            <a:schemeClr val="accent2"/>
          </a:solidFill>
          <a:ln>
            <a:solidFill>
              <a:schemeClr val="accent2"/>
            </a:solidFill>
          </a:ln>
          <a:scene3d>
            <a:camera prst="orthographicFront"/>
            <a:lightRig rig="threePt" dir="t"/>
          </a:scene3d>
          <a:sp3d prstMaterial="plastic">
            <a:bevelT w="88900" h="38100"/>
          </a:sp3d>
        </p:spPr>
        <p:txBody>
          <a:bodyPr wrap="square" lIns="177800" tIns="0" rIns="0" bIns="0" rtlCol="0" anchor="ctr"/>
          <a:lstStyle/>
          <a:p>
            <a:pPr algn="l" indent="0" marL="0">
              <a:buNone/>
            </a:pPr>
            <a:r>
              <a:rPr lang="en-US" sz="1800" b="1" dirty="0">
                <a:solidFill>
                  <a:schemeClr val="bg1"/>
                </a:solidFill>
              </a:rPr>
              <a:t>0</a:t>
            </a:r>
            <a:pPr algn="l" indent="0" marL="0">
              <a:buNone/>
            </a:pPr>
            <a:r>
              <a:rPr lang="en-US" sz="1600" b="1" dirty="0">
                <a:solidFill>
                  <a:schemeClr val="bg1"/>
                </a:solidFill>
              </a:rPr>
              <a:t>   breakdowns</a:t>
            </a:r>
            <a:endParaRPr lang="en-US" sz="1800" dirty="0"/>
          </a:p>
        </p:txBody>
      </p:sp>
      <p:sp>
        <p:nvSpPr>
          <p:cNvPr id="9" name="3DB_zero"/>
          <p:cNvSpPr/>
          <p:nvPr/>
        </p:nvSpPr>
        <p:spPr>
          <a:xfrm>
            <a:off x="7680960" y="2249424"/>
            <a:ext cx="3962095" cy="329184"/>
          </a:xfrm>
          <a:prstGeom prst="roundRect">
            <a:avLst>
              <a:gd name="adj" fmla="val 22222"/>
            </a:avLst>
          </a:prstGeom>
          <a:solidFill>
            <a:schemeClr val="accent4"/>
          </a:solidFill>
          <a:ln>
            <a:solidFill>
              <a:schemeClr val="accent4"/>
            </a:solidFill>
          </a:ln>
          <a:scene3d>
            <a:camera prst="orthographicFront"/>
            <a:lightRig rig="threePt" dir="t"/>
          </a:scene3d>
          <a:sp3d prstMaterial="plastic">
            <a:bevelT w="88900" h="38100"/>
          </a:sp3d>
        </p:spPr>
        <p:txBody>
          <a:bodyPr wrap="square" lIns="177800" tIns="0" rIns="0" bIns="0" rtlCol="0" anchor="ctr"/>
          <a:lstStyle/>
          <a:p>
            <a:pPr algn="l" indent="0" marL="0">
              <a:buNone/>
            </a:pPr>
            <a:r>
              <a:rPr lang="en-US" sz="1800" b="1" dirty="0">
                <a:solidFill>
                  <a:schemeClr val="bg1"/>
                </a:solidFill>
              </a:rPr>
              <a:t>0</a:t>
            </a:r>
            <a:pPr algn="l" indent="0" marL="0">
              <a:buNone/>
            </a:pPr>
            <a:r>
              <a:rPr lang="en-US" sz="1600" b="1" dirty="0">
                <a:solidFill>
                  <a:schemeClr val="bg1"/>
                </a:solidFill>
              </a:rPr>
              <a:t>   defects</a:t>
            </a:r>
            <a:endParaRPr lang="en-US" sz="1800" dirty="0"/>
          </a:p>
        </p:txBody>
      </p:sp>
      <p:sp>
        <p:nvSpPr>
          <p:cNvPr id="10" name="3DB_zero"/>
          <p:cNvSpPr/>
          <p:nvPr/>
        </p:nvSpPr>
        <p:spPr>
          <a:xfrm>
            <a:off x="7680960" y="2633472"/>
            <a:ext cx="3962095" cy="329184"/>
          </a:xfrm>
          <a:prstGeom prst="roundRect">
            <a:avLst>
              <a:gd name="adj" fmla="val 22222"/>
            </a:avLst>
          </a:prstGeom>
          <a:solidFill>
            <a:schemeClr val="accent2"/>
          </a:solidFill>
          <a:ln>
            <a:solidFill>
              <a:schemeClr val="accent2"/>
            </a:solidFill>
          </a:ln>
          <a:scene3d>
            <a:camera prst="orthographicFront"/>
            <a:lightRig rig="threePt" dir="t"/>
          </a:scene3d>
          <a:sp3d prstMaterial="plastic">
            <a:bevelT w="88900" h="38100"/>
          </a:sp3d>
        </p:spPr>
        <p:txBody>
          <a:bodyPr wrap="square" lIns="177800" tIns="0" rIns="0" bIns="0" rtlCol="0" anchor="ctr"/>
          <a:lstStyle/>
          <a:p>
            <a:pPr algn="l" indent="0" marL="0">
              <a:buNone/>
            </a:pPr>
            <a:r>
              <a:rPr lang="en-US" sz="1800" b="1" dirty="0">
                <a:solidFill>
                  <a:schemeClr val="bg1"/>
                </a:solidFill>
              </a:rPr>
              <a:t>0</a:t>
            </a:r>
            <a:pPr algn="l" indent="0" marL="0">
              <a:buNone/>
            </a:pPr>
            <a:r>
              <a:rPr lang="en-US" sz="1600" b="1" dirty="0">
                <a:solidFill>
                  <a:schemeClr val="bg1"/>
                </a:solidFill>
              </a:rPr>
              <a:t>   accidents</a:t>
            </a:r>
            <a:endParaRPr lang="en-US" sz="1800" dirty="0"/>
          </a:p>
        </p:txBody>
      </p:sp>
      <p:sp>
        <p:nvSpPr>
          <p:cNvPr id="11" name="3DP_roof"/>
          <p:cNvSpPr/>
          <p:nvPr/>
        </p:nvSpPr>
        <p:spPr>
          <a:xfrm>
            <a:off x="548640" y="3127248"/>
            <a:ext cx="11094415" cy="530352"/>
          </a:xfrm>
          <a:prstGeom prst="triangle">
            <a:avLst/>
          </a:prstGeom>
          <a:solidFill>
            <a:schemeClr val="accent2"/>
          </a:solidFill>
          <a:ln w="12700">
            <a:solidFill>
              <a:schemeClr val="accent2"/>
            </a:solidFill>
            <a:prstDash val="solid"/>
          </a:ln>
          <a:scene3d>
            <a:camera prst="orthographicFront"/>
            <a:lightRig rig="threePt" dir="t"/>
          </a:scene3d>
          <a:sp3d prstMaterial="matte">
            <a:bevelT w="44450" h="25400" prst="angle"/>
          </a:sp3d>
        </p:spPr>
      </p:sp>
      <p:sp>
        <p:nvSpPr>
          <p:cNvPr id="12" name="text"/>
          <p:cNvSpPr txBox="1"/>
          <p:nvPr/>
        </p:nvSpPr>
        <p:spPr>
          <a:xfrm>
            <a:off x="4998568" y="3392424"/>
            <a:ext cx="2194560" cy="256032"/>
          </a:xfrm>
          <a:prstGeom prst="rect">
            <a:avLst/>
          </a:prstGeom>
          <a:noFill/>
          <a:ln/>
        </p:spPr>
        <p:txBody>
          <a:bodyPr wrap="square" lIns="0" tIns="0" rIns="0" bIns="0" rtlCol="0" anchor="t"/>
          <a:lstStyle/>
          <a:p>
            <a:pPr algn="ctr" indent="0" marL="0">
              <a:buNone/>
            </a:pPr>
            <a:r>
              <a:rPr lang="en-US" sz="1200" b="1" spc="200" kern="0" dirty="0">
                <a:solidFill>
                  <a:schemeClr val="bg1"/>
                </a:solidFill>
              </a:rPr>
              <a:t>8 PILLARS</a:t>
            </a:r>
            <a:endParaRPr lang="en-US" sz="1200" dirty="0"/>
          </a:p>
        </p:txBody>
      </p:sp>
      <p:sp>
        <p:nvSpPr>
          <p:cNvPr id="13" name="3DP_pillar"/>
          <p:cNvSpPr/>
          <p:nvPr/>
        </p:nvSpPr>
        <p:spPr>
          <a:xfrm>
            <a:off x="548640" y="3703320"/>
            <a:ext cx="1290790" cy="1828800"/>
          </a:xfrm>
          <a:prstGeom prst="rect">
            <a:avLst/>
          </a:prstGeom>
          <a:solidFill>
            <a:schemeClr val="bg2"/>
          </a:solidFill>
          <a:ln w="9525">
            <a:solidFill>
              <a:srgbClr val="D6DCE3"/>
            </a:solidFill>
            <a:prstDash val="solid"/>
          </a:ln>
          <a:scene3d>
            <a:camera prst="orthographicFront"/>
            <a:lightRig rig="threePt" dir="t"/>
          </a:scene3d>
          <a:sp3d prstMaterial="matte">
            <a:bevelT w="44450" h="25400" prst="angle"/>
          </a:sp3d>
        </p:spPr>
      </p:sp>
      <p:sp>
        <p:nvSpPr>
          <p:cNvPr id="14" name="3DB_icon"/>
          <p:cNvSpPr/>
          <p:nvPr/>
        </p:nvSpPr>
        <p:spPr>
          <a:xfrm>
            <a:off x="974579" y="3794760"/>
            <a:ext cx="438912" cy="438912"/>
          </a:xfrm>
          <a:prstGeom prst="ellipse">
            <a:avLst/>
          </a:prstGeom>
          <a:solidFill>
            <a:schemeClr val="accent2"/>
          </a:solidFill>
          <a:ln w="12700">
            <a:solidFill>
              <a:schemeClr val="accent2"/>
            </a:solidFill>
            <a:prstDash val="solid"/>
          </a:ln>
          <a:scene3d>
            <a:camera prst="orthographicFront"/>
            <a:lightRig rig="threePt" dir="t"/>
          </a:scene3d>
          <a:sp3d prstMaterial="plastic">
            <a:bevelT w="88900" h="38100"/>
          </a:sp3d>
        </p:spPr>
      </p:sp>
      <p:pic>
        <p:nvPicPr>
          <p:cNvPr id="15" name="icon_FaBroom" descr="preencoded.png">    </p:cNvPr>
          <p:cNvPicPr>
            <a:picLocks noChangeAspect="1"/>
          </p:cNvPicPr>
          <p:nvPr/>
        </p:nvPicPr>
        <p:blipFill>
          <a:blip r:embed="rId1"/>
          <a:stretch>
            <a:fillRect/>
          </a:stretch>
        </p:blipFill>
        <p:spPr>
          <a:xfrm>
            <a:off x="1093085" y="3913266"/>
            <a:ext cx="201900" cy="201900"/>
          </a:xfrm>
          <a:prstGeom prst="rect">
            <a:avLst/>
          </a:prstGeom>
        </p:spPr>
      </p:pic>
      <p:sp>
        <p:nvSpPr>
          <p:cNvPr id="16" name="text"/>
          <p:cNvSpPr txBox="1"/>
          <p:nvPr/>
        </p:nvSpPr>
        <p:spPr>
          <a:xfrm>
            <a:off x="594360" y="4270248"/>
            <a:ext cx="1199350" cy="457200"/>
          </a:xfrm>
          <a:prstGeom prst="rect">
            <a:avLst/>
          </a:prstGeom>
          <a:noFill/>
          <a:ln/>
        </p:spPr>
        <p:txBody>
          <a:bodyPr wrap="square" lIns="0" tIns="0" rIns="0" bIns="0" rtlCol="0" anchor="ctr"/>
          <a:lstStyle/>
          <a:p>
            <a:pPr algn="ctr" indent="0" marL="0">
              <a:buNone/>
            </a:pPr>
            <a:r>
              <a:rPr lang="en-US" sz="1200" b="1" dirty="0">
                <a:solidFill>
                  <a:schemeClr val="tx1"/>
                </a:solidFill>
              </a:rPr>
              <a:t>Autonomous Maintenance</a:t>
            </a:r>
            <a:endParaRPr lang="en-US" sz="1200" dirty="0"/>
          </a:p>
        </p:txBody>
      </p:sp>
      <p:sp>
        <p:nvSpPr>
          <p:cNvPr id="17" name="text"/>
          <p:cNvSpPr txBox="1"/>
          <p:nvPr/>
        </p:nvSpPr>
        <p:spPr>
          <a:xfrm>
            <a:off x="612648" y="4764024"/>
            <a:ext cx="1162774" cy="731520"/>
          </a:xfrm>
          <a:prstGeom prst="rect">
            <a:avLst/>
          </a:prstGeom>
          <a:noFill/>
          <a:ln/>
        </p:spPr>
        <p:txBody>
          <a:bodyPr wrap="square" lIns="0" tIns="0" rIns="0" bIns="0" rtlCol="0" anchor="t"/>
          <a:lstStyle/>
          <a:p>
            <a:pPr algn="ctr" indent="0" marL="0">
              <a:buNone/>
            </a:pPr>
            <a:r>
              <a:rPr lang="en-US" sz="1200" dirty="0">
                <a:solidFill>
                  <a:schemeClr val="tx2"/>
                </a:solidFill>
              </a:rPr>
              <a:t>Operators clean, inspect, lubricate</a:t>
            </a:r>
            <a:endParaRPr lang="en-US" sz="1200" dirty="0"/>
          </a:p>
        </p:txBody>
      </p:sp>
      <p:sp>
        <p:nvSpPr>
          <p:cNvPr id="18" name="3DP_pillar"/>
          <p:cNvSpPr/>
          <p:nvPr/>
        </p:nvSpPr>
        <p:spPr>
          <a:xfrm>
            <a:off x="1949158" y="3703320"/>
            <a:ext cx="1290790" cy="1828800"/>
          </a:xfrm>
          <a:prstGeom prst="rect">
            <a:avLst/>
          </a:prstGeom>
          <a:solidFill>
            <a:schemeClr val="bg2"/>
          </a:solidFill>
          <a:ln w="9525">
            <a:solidFill>
              <a:srgbClr val="D6DCE3"/>
            </a:solidFill>
            <a:prstDash val="solid"/>
          </a:ln>
          <a:scene3d>
            <a:camera prst="orthographicFront"/>
            <a:lightRig rig="threePt" dir="t"/>
          </a:scene3d>
          <a:sp3d prstMaterial="matte">
            <a:bevelT w="44450" h="25400" prst="angle"/>
          </a:sp3d>
        </p:spPr>
      </p:sp>
      <p:sp>
        <p:nvSpPr>
          <p:cNvPr id="19" name="3DB_icon"/>
          <p:cNvSpPr/>
          <p:nvPr/>
        </p:nvSpPr>
        <p:spPr>
          <a:xfrm>
            <a:off x="2375097" y="3794760"/>
            <a:ext cx="438912" cy="438912"/>
          </a:xfrm>
          <a:prstGeom prst="ellipse">
            <a:avLst/>
          </a:prstGeom>
          <a:solidFill>
            <a:schemeClr val="accent4"/>
          </a:solidFill>
          <a:ln w="12700">
            <a:solidFill>
              <a:schemeClr val="accent4"/>
            </a:solidFill>
            <a:prstDash val="solid"/>
          </a:ln>
          <a:scene3d>
            <a:camera prst="orthographicFront"/>
            <a:lightRig rig="threePt" dir="t"/>
          </a:scene3d>
          <a:sp3d prstMaterial="plastic">
            <a:bevelT w="88900" h="38100"/>
          </a:sp3d>
        </p:spPr>
      </p:sp>
      <p:pic>
        <p:nvPicPr>
          <p:cNvPr id="20" name="icon_FaCalendarAlt" descr="preencoded.png">    </p:cNvPr>
          <p:cNvPicPr>
            <a:picLocks noChangeAspect="1"/>
          </p:cNvPicPr>
          <p:nvPr/>
        </p:nvPicPr>
        <p:blipFill>
          <a:blip r:embed="rId2"/>
          <a:stretch>
            <a:fillRect/>
          </a:stretch>
        </p:blipFill>
        <p:spPr>
          <a:xfrm>
            <a:off x="2493603" y="3913266"/>
            <a:ext cx="201900" cy="201900"/>
          </a:xfrm>
          <a:prstGeom prst="rect">
            <a:avLst/>
          </a:prstGeom>
        </p:spPr>
      </p:pic>
      <p:sp>
        <p:nvSpPr>
          <p:cNvPr id="21" name="text"/>
          <p:cNvSpPr txBox="1"/>
          <p:nvPr/>
        </p:nvSpPr>
        <p:spPr>
          <a:xfrm>
            <a:off x="1994878" y="4270248"/>
            <a:ext cx="1199350" cy="457200"/>
          </a:xfrm>
          <a:prstGeom prst="rect">
            <a:avLst/>
          </a:prstGeom>
          <a:noFill/>
          <a:ln/>
        </p:spPr>
        <p:txBody>
          <a:bodyPr wrap="square" lIns="0" tIns="0" rIns="0" bIns="0" rtlCol="0" anchor="ctr"/>
          <a:lstStyle/>
          <a:p>
            <a:pPr algn="ctr" indent="0" marL="0">
              <a:buNone/>
            </a:pPr>
            <a:r>
              <a:rPr lang="en-US" sz="1200" b="1" dirty="0">
                <a:solidFill>
                  <a:schemeClr val="tx1"/>
                </a:solidFill>
              </a:rPr>
              <a:t>Planned Maintenance</a:t>
            </a:r>
            <a:endParaRPr lang="en-US" sz="1200" dirty="0"/>
          </a:p>
        </p:txBody>
      </p:sp>
      <p:sp>
        <p:nvSpPr>
          <p:cNvPr id="22" name="text"/>
          <p:cNvSpPr txBox="1"/>
          <p:nvPr/>
        </p:nvSpPr>
        <p:spPr>
          <a:xfrm>
            <a:off x="2013166" y="4764024"/>
            <a:ext cx="1162774" cy="731520"/>
          </a:xfrm>
          <a:prstGeom prst="rect">
            <a:avLst/>
          </a:prstGeom>
          <a:noFill/>
          <a:ln/>
        </p:spPr>
        <p:txBody>
          <a:bodyPr wrap="square" lIns="0" tIns="0" rIns="0" bIns="0" rtlCol="0" anchor="t"/>
          <a:lstStyle/>
          <a:p>
            <a:pPr algn="ctr" indent="0" marL="0">
              <a:buNone/>
            </a:pPr>
            <a:r>
              <a:rPr lang="en-US" sz="1200" dirty="0">
                <a:solidFill>
                  <a:schemeClr val="tx2"/>
                </a:solidFill>
              </a:rPr>
              <a:t>Service planned on failure data</a:t>
            </a:r>
            <a:endParaRPr lang="en-US" sz="1200" dirty="0"/>
          </a:p>
        </p:txBody>
      </p:sp>
      <p:sp>
        <p:nvSpPr>
          <p:cNvPr id="23" name="3DP_pillar"/>
          <p:cNvSpPr/>
          <p:nvPr/>
        </p:nvSpPr>
        <p:spPr>
          <a:xfrm>
            <a:off x="3349676" y="3703320"/>
            <a:ext cx="1290790" cy="1828800"/>
          </a:xfrm>
          <a:prstGeom prst="rect">
            <a:avLst/>
          </a:prstGeom>
          <a:solidFill>
            <a:schemeClr val="bg2"/>
          </a:solidFill>
          <a:ln w="9525">
            <a:solidFill>
              <a:srgbClr val="D6DCE3"/>
            </a:solidFill>
            <a:prstDash val="solid"/>
          </a:ln>
          <a:scene3d>
            <a:camera prst="orthographicFront"/>
            <a:lightRig rig="threePt" dir="t"/>
          </a:scene3d>
          <a:sp3d prstMaterial="matte">
            <a:bevelT w="44450" h="25400" prst="angle"/>
          </a:sp3d>
        </p:spPr>
      </p:sp>
      <p:sp>
        <p:nvSpPr>
          <p:cNvPr id="24" name="3DB_icon"/>
          <p:cNvSpPr/>
          <p:nvPr/>
        </p:nvSpPr>
        <p:spPr>
          <a:xfrm>
            <a:off x="3775615" y="3794760"/>
            <a:ext cx="438912" cy="438912"/>
          </a:xfrm>
          <a:prstGeom prst="ellipse">
            <a:avLst/>
          </a:prstGeom>
          <a:solidFill>
            <a:schemeClr val="accent2"/>
          </a:solidFill>
          <a:ln w="12700">
            <a:solidFill>
              <a:schemeClr val="accent2"/>
            </a:solidFill>
            <a:prstDash val="solid"/>
          </a:ln>
          <a:scene3d>
            <a:camera prst="orthographicFront"/>
            <a:lightRig rig="threePt" dir="t"/>
          </a:scene3d>
          <a:sp3d prstMaterial="plastic">
            <a:bevelT w="88900" h="38100"/>
          </a:sp3d>
        </p:spPr>
      </p:sp>
      <p:pic>
        <p:nvPicPr>
          <p:cNvPr id="25" name="icon_FaBullseye" descr="preencoded.png">    </p:cNvPr>
          <p:cNvPicPr>
            <a:picLocks noChangeAspect="1"/>
          </p:cNvPicPr>
          <p:nvPr/>
        </p:nvPicPr>
        <p:blipFill>
          <a:blip r:embed="rId3"/>
          <a:stretch>
            <a:fillRect/>
          </a:stretch>
        </p:blipFill>
        <p:spPr>
          <a:xfrm>
            <a:off x="3894121" y="3913266"/>
            <a:ext cx="201900" cy="201900"/>
          </a:xfrm>
          <a:prstGeom prst="rect">
            <a:avLst/>
          </a:prstGeom>
        </p:spPr>
      </p:pic>
      <p:sp>
        <p:nvSpPr>
          <p:cNvPr id="26" name="text"/>
          <p:cNvSpPr txBox="1"/>
          <p:nvPr/>
        </p:nvSpPr>
        <p:spPr>
          <a:xfrm>
            <a:off x="3395396" y="4270248"/>
            <a:ext cx="1199350" cy="457200"/>
          </a:xfrm>
          <a:prstGeom prst="rect">
            <a:avLst/>
          </a:prstGeom>
          <a:noFill/>
          <a:ln/>
        </p:spPr>
        <p:txBody>
          <a:bodyPr wrap="square" lIns="0" tIns="0" rIns="0" bIns="0" rtlCol="0" anchor="ctr"/>
          <a:lstStyle/>
          <a:p>
            <a:pPr algn="ctr" indent="0" marL="0">
              <a:buNone/>
            </a:pPr>
            <a:r>
              <a:rPr lang="en-US" sz="1200" b="1" dirty="0">
                <a:solidFill>
                  <a:schemeClr val="tx1"/>
                </a:solidFill>
              </a:rPr>
              <a:t>Focused Improvement</a:t>
            </a:r>
            <a:endParaRPr lang="en-US" sz="1200" dirty="0"/>
          </a:p>
        </p:txBody>
      </p:sp>
      <p:sp>
        <p:nvSpPr>
          <p:cNvPr id="27" name="text"/>
          <p:cNvSpPr txBox="1"/>
          <p:nvPr/>
        </p:nvSpPr>
        <p:spPr>
          <a:xfrm>
            <a:off x="3413684" y="4764024"/>
            <a:ext cx="1162774" cy="731520"/>
          </a:xfrm>
          <a:prstGeom prst="rect">
            <a:avLst/>
          </a:prstGeom>
          <a:noFill/>
          <a:ln/>
        </p:spPr>
        <p:txBody>
          <a:bodyPr wrap="square" lIns="0" tIns="0" rIns="0" bIns="0" rtlCol="0" anchor="t"/>
          <a:lstStyle/>
          <a:p>
            <a:pPr algn="ctr" indent="0" marL="0">
              <a:buNone/>
            </a:pPr>
            <a:r>
              <a:rPr lang="en-US" sz="1200" dirty="0">
                <a:solidFill>
                  <a:schemeClr val="tx2"/>
                </a:solidFill>
              </a:rPr>
              <a:t>Teams remove the biggest losses</a:t>
            </a:r>
            <a:endParaRPr lang="en-US" sz="1200" dirty="0"/>
          </a:p>
        </p:txBody>
      </p:sp>
      <p:sp>
        <p:nvSpPr>
          <p:cNvPr id="28" name="3DP_pillar"/>
          <p:cNvSpPr/>
          <p:nvPr/>
        </p:nvSpPr>
        <p:spPr>
          <a:xfrm>
            <a:off x="4750194" y="3703320"/>
            <a:ext cx="1290790" cy="1828800"/>
          </a:xfrm>
          <a:prstGeom prst="rect">
            <a:avLst/>
          </a:prstGeom>
          <a:solidFill>
            <a:schemeClr val="bg2"/>
          </a:solidFill>
          <a:ln w="9525">
            <a:solidFill>
              <a:srgbClr val="D6DCE3"/>
            </a:solidFill>
            <a:prstDash val="solid"/>
          </a:ln>
          <a:scene3d>
            <a:camera prst="orthographicFront"/>
            <a:lightRig rig="threePt" dir="t"/>
          </a:scene3d>
          <a:sp3d prstMaterial="matte">
            <a:bevelT w="44450" h="25400" prst="angle"/>
          </a:sp3d>
        </p:spPr>
      </p:sp>
      <p:sp>
        <p:nvSpPr>
          <p:cNvPr id="29" name="3DB_icon"/>
          <p:cNvSpPr/>
          <p:nvPr/>
        </p:nvSpPr>
        <p:spPr>
          <a:xfrm>
            <a:off x="5176133" y="3794760"/>
            <a:ext cx="438912" cy="438912"/>
          </a:xfrm>
          <a:prstGeom prst="ellipse">
            <a:avLst/>
          </a:prstGeom>
          <a:solidFill>
            <a:schemeClr val="accent4"/>
          </a:solidFill>
          <a:ln w="12700">
            <a:solidFill>
              <a:schemeClr val="accent4"/>
            </a:solidFill>
            <a:prstDash val="solid"/>
          </a:ln>
          <a:scene3d>
            <a:camera prst="orthographicFront"/>
            <a:lightRig rig="threePt" dir="t"/>
          </a:scene3d>
          <a:sp3d prstMaterial="plastic">
            <a:bevelT w="88900" h="38100"/>
          </a:sp3d>
        </p:spPr>
      </p:sp>
      <p:pic>
        <p:nvPicPr>
          <p:cNvPr id="30" name="icon_FaCheckCircle" descr="preencoded.png">    </p:cNvPr>
          <p:cNvPicPr>
            <a:picLocks noChangeAspect="1"/>
          </p:cNvPicPr>
          <p:nvPr/>
        </p:nvPicPr>
        <p:blipFill>
          <a:blip r:embed="rId4"/>
          <a:stretch>
            <a:fillRect/>
          </a:stretch>
        </p:blipFill>
        <p:spPr>
          <a:xfrm>
            <a:off x="5294639" y="3913266"/>
            <a:ext cx="201900" cy="201900"/>
          </a:xfrm>
          <a:prstGeom prst="rect">
            <a:avLst/>
          </a:prstGeom>
        </p:spPr>
      </p:pic>
      <p:sp>
        <p:nvSpPr>
          <p:cNvPr id="31" name="text"/>
          <p:cNvSpPr txBox="1"/>
          <p:nvPr/>
        </p:nvSpPr>
        <p:spPr>
          <a:xfrm>
            <a:off x="4795914" y="4270248"/>
            <a:ext cx="1199350" cy="457200"/>
          </a:xfrm>
          <a:prstGeom prst="rect">
            <a:avLst/>
          </a:prstGeom>
          <a:noFill/>
          <a:ln/>
        </p:spPr>
        <p:txBody>
          <a:bodyPr wrap="square" lIns="0" tIns="0" rIns="0" bIns="0" rtlCol="0" anchor="ctr"/>
          <a:lstStyle/>
          <a:p>
            <a:pPr algn="ctr" indent="0" marL="0">
              <a:buNone/>
            </a:pPr>
            <a:r>
              <a:rPr lang="en-US" sz="1200" b="1" dirty="0">
                <a:solidFill>
                  <a:schemeClr val="tx1"/>
                </a:solidFill>
              </a:rPr>
              <a:t>Quality Maintenance</a:t>
            </a:r>
            <a:endParaRPr lang="en-US" sz="1200" dirty="0"/>
          </a:p>
        </p:txBody>
      </p:sp>
      <p:sp>
        <p:nvSpPr>
          <p:cNvPr id="32" name="text"/>
          <p:cNvSpPr txBox="1"/>
          <p:nvPr/>
        </p:nvSpPr>
        <p:spPr>
          <a:xfrm>
            <a:off x="4814202" y="4764024"/>
            <a:ext cx="1162774" cy="731520"/>
          </a:xfrm>
          <a:prstGeom prst="rect">
            <a:avLst/>
          </a:prstGeom>
          <a:noFill/>
          <a:ln/>
        </p:spPr>
        <p:txBody>
          <a:bodyPr wrap="square" lIns="0" tIns="0" rIns="0" bIns="0" rtlCol="0" anchor="t"/>
          <a:lstStyle/>
          <a:p>
            <a:pPr algn="ctr" indent="0" marL="0">
              <a:buNone/>
            </a:pPr>
            <a:r>
              <a:rPr lang="en-US" sz="1200" dirty="0">
                <a:solidFill>
                  <a:schemeClr val="tx2"/>
                </a:solidFill>
              </a:rPr>
              <a:t>Conditions for zero defects</a:t>
            </a:r>
            <a:endParaRPr lang="en-US" sz="1200" dirty="0"/>
          </a:p>
        </p:txBody>
      </p:sp>
      <p:sp>
        <p:nvSpPr>
          <p:cNvPr id="33" name="3DP_pillar"/>
          <p:cNvSpPr/>
          <p:nvPr/>
        </p:nvSpPr>
        <p:spPr>
          <a:xfrm>
            <a:off x="6150712" y="3703320"/>
            <a:ext cx="1290790" cy="1828800"/>
          </a:xfrm>
          <a:prstGeom prst="rect">
            <a:avLst/>
          </a:prstGeom>
          <a:solidFill>
            <a:schemeClr val="bg2"/>
          </a:solidFill>
          <a:ln w="9525">
            <a:solidFill>
              <a:srgbClr val="D6DCE3"/>
            </a:solidFill>
            <a:prstDash val="solid"/>
          </a:ln>
          <a:scene3d>
            <a:camera prst="orthographicFront"/>
            <a:lightRig rig="threePt" dir="t"/>
          </a:scene3d>
          <a:sp3d prstMaterial="matte">
            <a:bevelT w="44450" h="25400" prst="angle"/>
          </a:sp3d>
        </p:spPr>
      </p:sp>
      <p:sp>
        <p:nvSpPr>
          <p:cNvPr id="34" name="3DB_icon"/>
          <p:cNvSpPr/>
          <p:nvPr/>
        </p:nvSpPr>
        <p:spPr>
          <a:xfrm>
            <a:off x="6576651" y="3794760"/>
            <a:ext cx="438912" cy="438912"/>
          </a:xfrm>
          <a:prstGeom prst="ellipse">
            <a:avLst/>
          </a:prstGeom>
          <a:solidFill>
            <a:schemeClr val="accent2"/>
          </a:solidFill>
          <a:ln w="12700">
            <a:solidFill>
              <a:schemeClr val="accent2"/>
            </a:solidFill>
            <a:prstDash val="solid"/>
          </a:ln>
          <a:scene3d>
            <a:camera prst="orthographicFront"/>
            <a:lightRig rig="threePt" dir="t"/>
          </a:scene3d>
          <a:sp3d prstMaterial="plastic">
            <a:bevelT w="88900" h="38100"/>
          </a:sp3d>
        </p:spPr>
      </p:sp>
      <p:pic>
        <p:nvPicPr>
          <p:cNvPr id="35" name="icon_FaDraftingCompass" descr="preencoded.png">    </p:cNvPr>
          <p:cNvPicPr>
            <a:picLocks noChangeAspect="1"/>
          </p:cNvPicPr>
          <p:nvPr/>
        </p:nvPicPr>
        <p:blipFill>
          <a:blip r:embed="rId5"/>
          <a:stretch>
            <a:fillRect/>
          </a:stretch>
        </p:blipFill>
        <p:spPr>
          <a:xfrm>
            <a:off x="6695157" y="3913266"/>
            <a:ext cx="201900" cy="201900"/>
          </a:xfrm>
          <a:prstGeom prst="rect">
            <a:avLst/>
          </a:prstGeom>
        </p:spPr>
      </p:pic>
      <p:sp>
        <p:nvSpPr>
          <p:cNvPr id="36" name="text"/>
          <p:cNvSpPr txBox="1"/>
          <p:nvPr/>
        </p:nvSpPr>
        <p:spPr>
          <a:xfrm>
            <a:off x="6196432" y="4270248"/>
            <a:ext cx="1199350" cy="457200"/>
          </a:xfrm>
          <a:prstGeom prst="rect">
            <a:avLst/>
          </a:prstGeom>
          <a:noFill/>
          <a:ln/>
        </p:spPr>
        <p:txBody>
          <a:bodyPr wrap="square" lIns="0" tIns="0" rIns="0" bIns="0" rtlCol="0" anchor="ctr"/>
          <a:lstStyle/>
          <a:p>
            <a:pPr algn="ctr" indent="0" marL="0">
              <a:buNone/>
            </a:pPr>
            <a:r>
              <a:rPr lang="en-US" sz="1200" b="1" dirty="0">
                <a:solidFill>
                  <a:schemeClr val="tx1"/>
                </a:solidFill>
              </a:rPr>
              <a:t>Early Equipment Mgmt.</a:t>
            </a:r>
            <a:endParaRPr lang="en-US" sz="1200" dirty="0"/>
          </a:p>
        </p:txBody>
      </p:sp>
      <p:sp>
        <p:nvSpPr>
          <p:cNvPr id="37" name="text"/>
          <p:cNvSpPr txBox="1"/>
          <p:nvPr/>
        </p:nvSpPr>
        <p:spPr>
          <a:xfrm>
            <a:off x="6214720" y="4764024"/>
            <a:ext cx="1162774" cy="731520"/>
          </a:xfrm>
          <a:prstGeom prst="rect">
            <a:avLst/>
          </a:prstGeom>
          <a:noFill/>
          <a:ln/>
        </p:spPr>
        <p:txBody>
          <a:bodyPr wrap="square" lIns="0" tIns="0" rIns="0" bIns="0" rtlCol="0" anchor="t"/>
          <a:lstStyle/>
          <a:p>
            <a:pPr algn="ctr" indent="0" marL="0">
              <a:buNone/>
            </a:pPr>
            <a:r>
              <a:rPr lang="en-US" sz="1200" dirty="0">
                <a:solidFill>
                  <a:schemeClr val="tx2"/>
                </a:solidFill>
              </a:rPr>
              <a:t>New machines easy to run &amp; fix</a:t>
            </a:r>
            <a:endParaRPr lang="en-US" sz="1200" dirty="0"/>
          </a:p>
        </p:txBody>
      </p:sp>
      <p:sp>
        <p:nvSpPr>
          <p:cNvPr id="38" name="3DP_pillar"/>
          <p:cNvSpPr/>
          <p:nvPr/>
        </p:nvSpPr>
        <p:spPr>
          <a:xfrm>
            <a:off x="7551230" y="3703320"/>
            <a:ext cx="1290790" cy="1828800"/>
          </a:xfrm>
          <a:prstGeom prst="rect">
            <a:avLst/>
          </a:prstGeom>
          <a:solidFill>
            <a:schemeClr val="bg2"/>
          </a:solidFill>
          <a:ln w="9525">
            <a:solidFill>
              <a:srgbClr val="D6DCE3"/>
            </a:solidFill>
            <a:prstDash val="solid"/>
          </a:ln>
          <a:scene3d>
            <a:camera prst="orthographicFront"/>
            <a:lightRig rig="threePt" dir="t"/>
          </a:scene3d>
          <a:sp3d prstMaterial="matte">
            <a:bevelT w="44450" h="25400" prst="angle"/>
          </a:sp3d>
        </p:spPr>
      </p:sp>
      <p:sp>
        <p:nvSpPr>
          <p:cNvPr id="39" name="3DB_icon"/>
          <p:cNvSpPr/>
          <p:nvPr/>
        </p:nvSpPr>
        <p:spPr>
          <a:xfrm>
            <a:off x="7977168" y="3794760"/>
            <a:ext cx="438912" cy="438912"/>
          </a:xfrm>
          <a:prstGeom prst="ellipse">
            <a:avLst/>
          </a:prstGeom>
          <a:solidFill>
            <a:schemeClr val="accent4"/>
          </a:solidFill>
          <a:ln w="12700">
            <a:solidFill>
              <a:schemeClr val="accent4"/>
            </a:solidFill>
            <a:prstDash val="solid"/>
          </a:ln>
          <a:scene3d>
            <a:camera prst="orthographicFront"/>
            <a:lightRig rig="threePt" dir="t"/>
          </a:scene3d>
          <a:sp3d prstMaterial="plastic">
            <a:bevelT w="88900" h="38100"/>
          </a:sp3d>
        </p:spPr>
      </p:sp>
      <p:pic>
        <p:nvPicPr>
          <p:cNvPr id="40" name="icon_FaGraduationCap" descr="preencoded.png">    </p:cNvPr>
          <p:cNvPicPr>
            <a:picLocks noChangeAspect="1"/>
          </p:cNvPicPr>
          <p:nvPr/>
        </p:nvPicPr>
        <p:blipFill>
          <a:blip r:embed="rId6"/>
          <a:stretch>
            <a:fillRect/>
          </a:stretch>
        </p:blipFill>
        <p:spPr>
          <a:xfrm>
            <a:off x="8095675" y="3913266"/>
            <a:ext cx="201900" cy="201900"/>
          </a:xfrm>
          <a:prstGeom prst="rect">
            <a:avLst/>
          </a:prstGeom>
        </p:spPr>
      </p:pic>
      <p:sp>
        <p:nvSpPr>
          <p:cNvPr id="41" name="text"/>
          <p:cNvSpPr txBox="1"/>
          <p:nvPr/>
        </p:nvSpPr>
        <p:spPr>
          <a:xfrm>
            <a:off x="7596950" y="4270248"/>
            <a:ext cx="1199350" cy="457200"/>
          </a:xfrm>
          <a:prstGeom prst="rect">
            <a:avLst/>
          </a:prstGeom>
          <a:noFill/>
          <a:ln/>
        </p:spPr>
        <p:txBody>
          <a:bodyPr wrap="square" lIns="0" tIns="0" rIns="0" bIns="0" rtlCol="0" anchor="ctr"/>
          <a:lstStyle/>
          <a:p>
            <a:pPr algn="ctr" indent="0" marL="0">
              <a:buNone/>
            </a:pPr>
            <a:r>
              <a:rPr lang="en-US" sz="1200" b="1" dirty="0">
                <a:solidFill>
                  <a:schemeClr val="tx1"/>
                </a:solidFill>
              </a:rPr>
              <a:t>Training &amp; Education</a:t>
            </a:r>
            <a:endParaRPr lang="en-US" sz="1200" dirty="0"/>
          </a:p>
        </p:txBody>
      </p:sp>
      <p:sp>
        <p:nvSpPr>
          <p:cNvPr id="42" name="text"/>
          <p:cNvSpPr txBox="1"/>
          <p:nvPr/>
        </p:nvSpPr>
        <p:spPr>
          <a:xfrm>
            <a:off x="7615238" y="4764024"/>
            <a:ext cx="1162774" cy="731520"/>
          </a:xfrm>
          <a:prstGeom prst="rect">
            <a:avLst/>
          </a:prstGeom>
          <a:noFill/>
          <a:ln/>
        </p:spPr>
        <p:txBody>
          <a:bodyPr wrap="square" lIns="0" tIns="0" rIns="0" bIns="0" rtlCol="0" anchor="t"/>
          <a:lstStyle/>
          <a:p>
            <a:pPr algn="ctr" indent="0" marL="0">
              <a:buNone/>
            </a:pPr>
            <a:r>
              <a:rPr lang="en-US" sz="1200" dirty="0">
                <a:solidFill>
                  <a:schemeClr val="tx2"/>
                </a:solidFill>
              </a:rPr>
              <a:t>Skills for operators &amp; technicians</a:t>
            </a:r>
            <a:endParaRPr lang="en-US" sz="1200" dirty="0"/>
          </a:p>
        </p:txBody>
      </p:sp>
      <p:sp>
        <p:nvSpPr>
          <p:cNvPr id="43" name="3DP_pillar"/>
          <p:cNvSpPr/>
          <p:nvPr/>
        </p:nvSpPr>
        <p:spPr>
          <a:xfrm>
            <a:off x="8951747" y="3703320"/>
            <a:ext cx="1290790" cy="1828800"/>
          </a:xfrm>
          <a:prstGeom prst="rect">
            <a:avLst/>
          </a:prstGeom>
          <a:solidFill>
            <a:schemeClr val="bg2"/>
          </a:solidFill>
          <a:ln w="9525">
            <a:solidFill>
              <a:srgbClr val="D6DCE3"/>
            </a:solidFill>
            <a:prstDash val="solid"/>
          </a:ln>
          <a:scene3d>
            <a:camera prst="orthographicFront"/>
            <a:lightRig rig="threePt" dir="t"/>
          </a:scene3d>
          <a:sp3d prstMaterial="matte">
            <a:bevelT w="44450" h="25400" prst="angle"/>
          </a:sp3d>
        </p:spPr>
      </p:sp>
      <p:sp>
        <p:nvSpPr>
          <p:cNvPr id="44" name="3DB_icon"/>
          <p:cNvSpPr/>
          <p:nvPr/>
        </p:nvSpPr>
        <p:spPr>
          <a:xfrm>
            <a:off x="9377686" y="3794760"/>
            <a:ext cx="438912" cy="438912"/>
          </a:xfrm>
          <a:prstGeom prst="ellipse">
            <a:avLst/>
          </a:prstGeom>
          <a:solidFill>
            <a:schemeClr val="accent2"/>
          </a:solidFill>
          <a:ln w="12700">
            <a:solidFill>
              <a:schemeClr val="accent2"/>
            </a:solidFill>
            <a:prstDash val="solid"/>
          </a:ln>
          <a:scene3d>
            <a:camera prst="orthographicFront"/>
            <a:lightRig rig="threePt" dir="t"/>
          </a:scene3d>
          <a:sp3d prstMaterial="plastic">
            <a:bevelT w="88900" h="38100"/>
          </a:sp3d>
        </p:spPr>
      </p:sp>
      <p:pic>
        <p:nvPicPr>
          <p:cNvPr id="45" name="icon_FaHardHat" descr="preencoded.png">    </p:cNvPr>
          <p:cNvPicPr>
            <a:picLocks noChangeAspect="1"/>
          </p:cNvPicPr>
          <p:nvPr/>
        </p:nvPicPr>
        <p:blipFill>
          <a:blip r:embed="rId7"/>
          <a:stretch>
            <a:fillRect/>
          </a:stretch>
        </p:blipFill>
        <p:spPr>
          <a:xfrm>
            <a:off x="9496193" y="3913266"/>
            <a:ext cx="201900" cy="201900"/>
          </a:xfrm>
          <a:prstGeom prst="rect">
            <a:avLst/>
          </a:prstGeom>
        </p:spPr>
      </p:pic>
      <p:sp>
        <p:nvSpPr>
          <p:cNvPr id="46" name="text"/>
          <p:cNvSpPr txBox="1"/>
          <p:nvPr/>
        </p:nvSpPr>
        <p:spPr>
          <a:xfrm>
            <a:off x="8997467" y="4270248"/>
            <a:ext cx="1199350" cy="457200"/>
          </a:xfrm>
          <a:prstGeom prst="rect">
            <a:avLst/>
          </a:prstGeom>
          <a:noFill/>
          <a:ln/>
        </p:spPr>
        <p:txBody>
          <a:bodyPr wrap="square" lIns="0" tIns="0" rIns="0" bIns="0" rtlCol="0" anchor="ctr"/>
          <a:lstStyle/>
          <a:p>
            <a:pPr algn="ctr" indent="0" marL="0">
              <a:buNone/>
            </a:pPr>
            <a:r>
              <a:rPr lang="en-US" sz="1200" b="1" dirty="0">
                <a:solidFill>
                  <a:schemeClr val="tx1"/>
                </a:solidFill>
              </a:rPr>
              <a:t>Safety, Health &amp; Env.</a:t>
            </a:r>
            <a:endParaRPr lang="en-US" sz="1200" dirty="0"/>
          </a:p>
        </p:txBody>
      </p:sp>
      <p:sp>
        <p:nvSpPr>
          <p:cNvPr id="47" name="text"/>
          <p:cNvSpPr txBox="1"/>
          <p:nvPr/>
        </p:nvSpPr>
        <p:spPr>
          <a:xfrm>
            <a:off x="9015755" y="4764024"/>
            <a:ext cx="1162774" cy="731520"/>
          </a:xfrm>
          <a:prstGeom prst="rect">
            <a:avLst/>
          </a:prstGeom>
          <a:noFill/>
          <a:ln/>
        </p:spPr>
        <p:txBody>
          <a:bodyPr wrap="square" lIns="0" tIns="0" rIns="0" bIns="0" rtlCol="0" anchor="t"/>
          <a:lstStyle/>
          <a:p>
            <a:pPr algn="ctr" indent="0" marL="0">
              <a:buNone/>
            </a:pPr>
            <a:r>
              <a:rPr lang="en-US" sz="1200" dirty="0">
                <a:solidFill>
                  <a:schemeClr val="tx2"/>
                </a:solidFill>
              </a:rPr>
              <a:t>Zero accidents and pollution</a:t>
            </a:r>
            <a:endParaRPr lang="en-US" sz="1200" dirty="0"/>
          </a:p>
        </p:txBody>
      </p:sp>
      <p:sp>
        <p:nvSpPr>
          <p:cNvPr id="48" name="3DP_pillar"/>
          <p:cNvSpPr/>
          <p:nvPr/>
        </p:nvSpPr>
        <p:spPr>
          <a:xfrm>
            <a:off x="10352265" y="3703320"/>
            <a:ext cx="1290790" cy="1828800"/>
          </a:xfrm>
          <a:prstGeom prst="rect">
            <a:avLst/>
          </a:prstGeom>
          <a:solidFill>
            <a:schemeClr val="bg2"/>
          </a:solidFill>
          <a:ln w="9525">
            <a:solidFill>
              <a:srgbClr val="D6DCE3"/>
            </a:solidFill>
            <a:prstDash val="solid"/>
          </a:ln>
          <a:scene3d>
            <a:camera prst="orthographicFront"/>
            <a:lightRig rig="threePt" dir="t"/>
          </a:scene3d>
          <a:sp3d prstMaterial="matte">
            <a:bevelT w="44450" h="25400" prst="angle"/>
          </a:sp3d>
        </p:spPr>
      </p:sp>
      <p:sp>
        <p:nvSpPr>
          <p:cNvPr id="49" name="3DB_icon"/>
          <p:cNvSpPr/>
          <p:nvPr/>
        </p:nvSpPr>
        <p:spPr>
          <a:xfrm>
            <a:off x="10778204" y="3794760"/>
            <a:ext cx="438912" cy="438912"/>
          </a:xfrm>
          <a:prstGeom prst="ellipse">
            <a:avLst/>
          </a:prstGeom>
          <a:solidFill>
            <a:schemeClr val="accent4"/>
          </a:solidFill>
          <a:ln w="12700">
            <a:solidFill>
              <a:schemeClr val="accent4"/>
            </a:solidFill>
            <a:prstDash val="solid"/>
          </a:ln>
          <a:scene3d>
            <a:camera prst="orthographicFront"/>
            <a:lightRig rig="threePt" dir="t"/>
          </a:scene3d>
          <a:sp3d prstMaterial="plastic">
            <a:bevelT w="88900" h="38100"/>
          </a:sp3d>
        </p:spPr>
      </p:sp>
      <p:pic>
        <p:nvPicPr>
          <p:cNvPr id="50" name="icon_FaBriefcase" descr="preencoded.png">    </p:cNvPr>
          <p:cNvPicPr>
            <a:picLocks noChangeAspect="1"/>
          </p:cNvPicPr>
          <p:nvPr/>
        </p:nvPicPr>
        <p:blipFill>
          <a:blip r:embed="rId8"/>
          <a:stretch>
            <a:fillRect/>
          </a:stretch>
        </p:blipFill>
        <p:spPr>
          <a:xfrm>
            <a:off x="10896710" y="3913266"/>
            <a:ext cx="201900" cy="201900"/>
          </a:xfrm>
          <a:prstGeom prst="rect">
            <a:avLst/>
          </a:prstGeom>
        </p:spPr>
      </p:pic>
      <p:sp>
        <p:nvSpPr>
          <p:cNvPr id="51" name="text"/>
          <p:cNvSpPr txBox="1"/>
          <p:nvPr/>
        </p:nvSpPr>
        <p:spPr>
          <a:xfrm>
            <a:off x="10397985" y="4270248"/>
            <a:ext cx="1199350" cy="457200"/>
          </a:xfrm>
          <a:prstGeom prst="rect">
            <a:avLst/>
          </a:prstGeom>
          <a:noFill/>
          <a:ln/>
        </p:spPr>
        <p:txBody>
          <a:bodyPr wrap="square" lIns="0" tIns="0" rIns="0" bIns="0" rtlCol="0" anchor="ctr"/>
          <a:lstStyle/>
          <a:p>
            <a:pPr algn="ctr" indent="0" marL="0">
              <a:buNone/>
            </a:pPr>
            <a:r>
              <a:rPr lang="en-US" sz="1200" b="1" dirty="0">
                <a:solidFill>
                  <a:schemeClr val="tx1"/>
                </a:solidFill>
              </a:rPr>
              <a:t>Office TPM</a:t>
            </a:r>
            <a:endParaRPr lang="en-US" sz="1200" dirty="0"/>
          </a:p>
        </p:txBody>
      </p:sp>
      <p:sp>
        <p:nvSpPr>
          <p:cNvPr id="52" name="text"/>
          <p:cNvSpPr txBox="1"/>
          <p:nvPr/>
        </p:nvSpPr>
        <p:spPr>
          <a:xfrm>
            <a:off x="10416273" y="4764024"/>
            <a:ext cx="1162774" cy="731520"/>
          </a:xfrm>
          <a:prstGeom prst="rect">
            <a:avLst/>
          </a:prstGeom>
          <a:noFill/>
          <a:ln/>
        </p:spPr>
        <p:txBody>
          <a:bodyPr wrap="square" lIns="0" tIns="0" rIns="0" bIns="0" rtlCol="0" anchor="t"/>
          <a:lstStyle/>
          <a:p>
            <a:pPr algn="ctr" indent="0" marL="0">
              <a:buNone/>
            </a:pPr>
            <a:r>
              <a:rPr lang="en-US" sz="1200" dirty="0">
                <a:solidFill>
                  <a:schemeClr val="tx2"/>
                </a:solidFill>
              </a:rPr>
              <a:t>Fewer losses in admin work</a:t>
            </a:r>
            <a:endParaRPr lang="en-US" sz="1200" dirty="0"/>
          </a:p>
        </p:txBody>
      </p:sp>
      <p:sp>
        <p:nvSpPr>
          <p:cNvPr id="53" name="3DP_base"/>
          <p:cNvSpPr/>
          <p:nvPr/>
        </p:nvSpPr>
        <p:spPr>
          <a:xfrm>
            <a:off x="548640" y="5577840"/>
            <a:ext cx="11094415" cy="530352"/>
          </a:xfrm>
          <a:prstGeom prst="rect">
            <a:avLst/>
          </a:prstGeom>
          <a:solidFill>
            <a:schemeClr val="tx1"/>
          </a:solidFill>
          <a:ln>
            <a:solidFill>
              <a:schemeClr val="tx1"/>
            </a:solidFill>
          </a:ln>
          <a:scene3d>
            <a:camera prst="orthographicFront"/>
            <a:lightRig rig="threePt" dir="t"/>
          </a:scene3d>
          <a:sp3d prstMaterial="matte">
            <a:bevelT w="44450" h="25400" prst="angle"/>
          </a:sp3d>
        </p:spPr>
        <p:txBody>
          <a:bodyPr wrap="square" lIns="50800" tIns="50800" rIns="50800" bIns="50800" rtlCol="0" anchor="ctr"/>
          <a:lstStyle/>
          <a:p>
            <a:pPr algn="ctr" indent="0" marL="0">
              <a:buNone/>
            </a:pPr>
            <a:r>
              <a:rPr lang="en-US" sz="1500" b="1" dirty="0">
                <a:solidFill>
                  <a:schemeClr val="bg1"/>
                </a:solidFill>
              </a:rPr>
              <a:t>Foundation: 5S + small-group team activities</a:t>
            </a:r>
            <a:endParaRPr lang="en-US" sz="15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mc:AlternateContent xmlns:mc="http://schemas.openxmlformats.org/markup-compatibility/2006">
    <mc:Choice xmlns:p14="http://schemas.microsoft.com/office/powerpoint/2010/main" Requires="p14">
      <p:transition spd="slow" p14:dur="1400">
        <p14:prism/>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anim calcmode="lin" valueType="num">
                                      <p:cBhvr>
                                        <p:cTn id="8" dur="600" fill="hold"/>
                                        <p:tgtEl>
                                          <p:spTgt spid="4"/>
                                        </p:tgtEl>
                                        <p:attrNameLst>
                                          <p:attrName>ppt_x</p:attrName>
                                        </p:attrNameLst>
                                      </p:cBhvr>
                                      <p:tavLst>
                                        <p:tav tm="0">
                                          <p:val>
                                            <p:strVal val="#ppt_x"/>
                                          </p:val>
                                        </p:tav>
                                        <p:tav tm="100000">
                                          <p:val>
                                            <p:strVal val="#ppt_x"/>
                                          </p:val>
                                        </p:tav>
                                      </p:tavLst>
                                    </p:anim>
                                    <p:anim calcmode="lin" valueType="num">
                                      <p:cBhvr>
                                        <p:cTn id="9" dur="600" fill="hold"/>
                                        <p:tgtEl>
                                          <p:spTgt spid="4"/>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anim calcmode="lin" valueType="num">
                                      <p:cBhvr>
                                        <p:cTn id="13" dur="600" fill="hold"/>
                                        <p:tgtEl>
                                          <p:spTgt spid="5"/>
                                        </p:tgtEl>
                                        <p:attrNameLst>
                                          <p:attrName>ppt_x</p:attrName>
                                        </p:attrNameLst>
                                      </p:cBhvr>
                                      <p:tavLst>
                                        <p:tav tm="0">
                                          <p:val>
                                            <p:strVal val="#ppt_x"/>
                                          </p:val>
                                        </p:tav>
                                        <p:tav tm="100000">
                                          <p:val>
                                            <p:strVal val="#ppt_x"/>
                                          </p:val>
                                        </p:tav>
                                      </p:tavLst>
                                    </p:anim>
                                    <p:anim calcmode="lin" valueType="num">
                                      <p:cBhvr>
                                        <p:cTn id="14" dur="600" fill="hold"/>
                                        <p:tgtEl>
                                          <p:spTgt spid="5"/>
                                        </p:tgtEl>
                                        <p:attrNameLst>
                                          <p:attrName>ppt_y</p:attrName>
                                        </p:attrNameLst>
                                      </p:cBhvr>
                                      <p:tavLst>
                                        <p:tav tm="0">
                                          <p:val>
                                            <p:strVal val="#ppt_y+.05"/>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600"/>
                                        <p:tgtEl>
                                          <p:spTgt spid="6"/>
                                        </p:tgtEl>
                                      </p:cBhvr>
                                    </p:animEffect>
                                    <p:anim calcmode="lin" valueType="num">
                                      <p:cBhvr>
                                        <p:cTn id="18" dur="600" fill="hold"/>
                                        <p:tgtEl>
                                          <p:spTgt spid="6"/>
                                        </p:tgtEl>
                                        <p:attrNameLst>
                                          <p:attrName>ppt_x</p:attrName>
                                        </p:attrNameLst>
                                      </p:cBhvr>
                                      <p:tavLst>
                                        <p:tav tm="0">
                                          <p:val>
                                            <p:strVal val="#ppt_x"/>
                                          </p:val>
                                        </p:tav>
                                        <p:tav tm="100000">
                                          <p:val>
                                            <p:strVal val="#ppt_x"/>
                                          </p:val>
                                        </p:tav>
                                      </p:tavLst>
                                    </p:anim>
                                    <p:anim calcmode="lin" valueType="num">
                                      <p:cBhvr>
                                        <p:cTn id="19" dur="600" fill="hold"/>
                                        <p:tgtEl>
                                          <p:spTgt spid="6"/>
                                        </p:tgtEl>
                                        <p:attrNameLst>
                                          <p:attrName>ppt_y</p:attrName>
                                        </p:attrNameLst>
                                      </p:cBhvr>
                                      <p:tavLst>
                                        <p:tav tm="0">
                                          <p:val>
                                            <p:strVal val="#ppt_y+.05"/>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grpId="0" nodeType="click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600"/>
                                        <p:tgtEl>
                                          <p:spTgt spid="7"/>
                                        </p:tgtEl>
                                      </p:cBhvr>
                                    </p:animEffect>
                                    <p:anim calcmode="lin" valueType="num">
                                      <p:cBhvr>
                                        <p:cTn id="25" dur="600" fill="hold"/>
                                        <p:tgtEl>
                                          <p:spTgt spid="7"/>
                                        </p:tgtEl>
                                        <p:attrNameLst>
                                          <p:attrName>ppt_x</p:attrName>
                                        </p:attrNameLst>
                                      </p:cBhvr>
                                      <p:tavLst>
                                        <p:tav tm="0">
                                          <p:val>
                                            <p:strVal val="#ppt_x"/>
                                          </p:val>
                                        </p:tav>
                                        <p:tav tm="100000">
                                          <p:val>
                                            <p:strVal val="#ppt_x"/>
                                          </p:val>
                                        </p:tav>
                                      </p:tavLst>
                                    </p:anim>
                                    <p:anim calcmode="lin" valueType="num">
                                      <p:cBhvr>
                                        <p:cTn id="26" dur="600" fill="hold"/>
                                        <p:tgtEl>
                                          <p:spTgt spid="7"/>
                                        </p:tgtEl>
                                        <p:attrNameLst>
                                          <p:attrName>ppt_y</p:attrName>
                                        </p:attrNameLst>
                                      </p:cBhvr>
                                      <p:tavLst>
                                        <p:tav tm="0">
                                          <p:val>
                                            <p:strVal val="#ppt_y+.05"/>
                                          </p:val>
                                        </p:tav>
                                        <p:tav tm="100000">
                                          <p:val>
                                            <p:strVal val="#ppt_y"/>
                                          </p:val>
                                        </p:tav>
                                      </p:tavLst>
                                    </p:anim>
                                  </p:childTnLst>
                                </p:cTn>
                              </p:par>
                              <p:par>
                                <p:cTn id="27" presetID="42" presetClass="entr" presetSubtype="0" fill="hold" grpId="0" nodeType="withEffect">
                                  <p:stCondLst>
                                    <p:cond delay="20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600"/>
                                        <p:tgtEl>
                                          <p:spTgt spid="8"/>
                                        </p:tgtEl>
                                      </p:cBhvr>
                                    </p:animEffect>
                                    <p:anim calcmode="lin" valueType="num">
                                      <p:cBhvr>
                                        <p:cTn id="30" dur="600" fill="hold"/>
                                        <p:tgtEl>
                                          <p:spTgt spid="8"/>
                                        </p:tgtEl>
                                        <p:attrNameLst>
                                          <p:attrName>ppt_x</p:attrName>
                                        </p:attrNameLst>
                                      </p:cBhvr>
                                      <p:tavLst>
                                        <p:tav tm="0">
                                          <p:val>
                                            <p:strVal val="#ppt_x"/>
                                          </p:val>
                                        </p:tav>
                                        <p:tav tm="100000">
                                          <p:val>
                                            <p:strVal val="#ppt_x"/>
                                          </p:val>
                                        </p:tav>
                                      </p:tavLst>
                                    </p:anim>
                                    <p:anim calcmode="lin" valueType="num">
                                      <p:cBhvr>
                                        <p:cTn id="31" dur="600" fill="hold"/>
                                        <p:tgtEl>
                                          <p:spTgt spid="8"/>
                                        </p:tgtEl>
                                        <p:attrNameLst>
                                          <p:attrName>ppt_y</p:attrName>
                                        </p:attrNameLst>
                                      </p:cBhvr>
                                      <p:tavLst>
                                        <p:tav tm="0">
                                          <p:val>
                                            <p:strVal val="#ppt_y+.05"/>
                                          </p:val>
                                        </p:tav>
                                        <p:tav tm="100000">
                                          <p:val>
                                            <p:strVal val="#ppt_y"/>
                                          </p:val>
                                        </p:tav>
                                      </p:tavLst>
                                    </p:anim>
                                  </p:childTnLst>
                                </p:cTn>
                              </p:par>
                              <p:par>
                                <p:cTn id="32" presetID="42" presetClass="entr" presetSubtype="0" fill="hold" grpId="0" nodeType="withEffect">
                                  <p:stCondLst>
                                    <p:cond delay="40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600"/>
                                        <p:tgtEl>
                                          <p:spTgt spid="9"/>
                                        </p:tgtEl>
                                      </p:cBhvr>
                                    </p:animEffect>
                                    <p:anim calcmode="lin" valueType="num">
                                      <p:cBhvr>
                                        <p:cTn id="35" dur="600" fill="hold"/>
                                        <p:tgtEl>
                                          <p:spTgt spid="9"/>
                                        </p:tgtEl>
                                        <p:attrNameLst>
                                          <p:attrName>ppt_x</p:attrName>
                                        </p:attrNameLst>
                                      </p:cBhvr>
                                      <p:tavLst>
                                        <p:tav tm="0">
                                          <p:val>
                                            <p:strVal val="#ppt_x"/>
                                          </p:val>
                                        </p:tav>
                                        <p:tav tm="100000">
                                          <p:val>
                                            <p:strVal val="#ppt_x"/>
                                          </p:val>
                                        </p:tav>
                                      </p:tavLst>
                                    </p:anim>
                                    <p:anim calcmode="lin" valueType="num">
                                      <p:cBhvr>
                                        <p:cTn id="36" dur="600" fill="hold"/>
                                        <p:tgtEl>
                                          <p:spTgt spid="9"/>
                                        </p:tgtEl>
                                        <p:attrNameLst>
                                          <p:attrName>ppt_y</p:attrName>
                                        </p:attrNameLst>
                                      </p:cBhvr>
                                      <p:tavLst>
                                        <p:tav tm="0">
                                          <p:val>
                                            <p:strVal val="#ppt_y+.05"/>
                                          </p:val>
                                        </p:tav>
                                        <p:tav tm="100000">
                                          <p:val>
                                            <p:strVal val="#ppt_y"/>
                                          </p:val>
                                        </p:tav>
                                      </p:tavLst>
                                    </p:anim>
                                  </p:childTnLst>
                                </p:cTn>
                              </p:par>
                              <p:par>
                                <p:cTn id="37" presetID="42" presetClass="entr" presetSubtype="0" fill="hold" grpId="0" nodeType="withEffect">
                                  <p:stCondLst>
                                    <p:cond delay="60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600"/>
                                        <p:tgtEl>
                                          <p:spTgt spid="10"/>
                                        </p:tgtEl>
                                      </p:cBhvr>
                                    </p:animEffect>
                                    <p:anim calcmode="lin" valueType="num">
                                      <p:cBhvr>
                                        <p:cTn id="40" dur="600" fill="hold"/>
                                        <p:tgtEl>
                                          <p:spTgt spid="10"/>
                                        </p:tgtEl>
                                        <p:attrNameLst>
                                          <p:attrName>ppt_x</p:attrName>
                                        </p:attrNameLst>
                                      </p:cBhvr>
                                      <p:tavLst>
                                        <p:tav tm="0">
                                          <p:val>
                                            <p:strVal val="#ppt_x"/>
                                          </p:val>
                                        </p:tav>
                                        <p:tav tm="100000">
                                          <p:val>
                                            <p:strVal val="#ppt_x"/>
                                          </p:val>
                                        </p:tav>
                                      </p:tavLst>
                                    </p:anim>
                                    <p:anim calcmode="lin" valueType="num">
                                      <p:cBhvr>
                                        <p:cTn id="41" dur="600" fill="hold"/>
                                        <p:tgtEl>
                                          <p:spTgt spid="10"/>
                                        </p:tgtEl>
                                        <p:attrNameLst>
                                          <p:attrName>ppt_y</p:attrName>
                                        </p:attrNameLst>
                                      </p:cBhvr>
                                      <p:tavLst>
                                        <p:tav tm="0">
                                          <p:val>
                                            <p:strVal val="#ppt_y+.05"/>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4" presetID="42" presetClass="entr" presetSubtype="0" fill="hold" grpId="0" nodeType="clickEffect">
                                  <p:stCondLst>
                                    <p:cond delay="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600"/>
                                        <p:tgtEl>
                                          <p:spTgt spid="11"/>
                                        </p:tgtEl>
                                      </p:cBhvr>
                                    </p:animEffect>
                                    <p:anim calcmode="lin" valueType="num">
                                      <p:cBhvr>
                                        <p:cTn id="47" dur="600" fill="hold"/>
                                        <p:tgtEl>
                                          <p:spTgt spid="11"/>
                                        </p:tgtEl>
                                        <p:attrNameLst>
                                          <p:attrName>ppt_x</p:attrName>
                                        </p:attrNameLst>
                                      </p:cBhvr>
                                      <p:tavLst>
                                        <p:tav tm="0">
                                          <p:val>
                                            <p:strVal val="#ppt_x"/>
                                          </p:val>
                                        </p:tav>
                                        <p:tav tm="100000">
                                          <p:val>
                                            <p:strVal val="#ppt_x"/>
                                          </p:val>
                                        </p:tav>
                                      </p:tavLst>
                                    </p:anim>
                                    <p:anim calcmode="lin" valueType="num">
                                      <p:cBhvr>
                                        <p:cTn id="48" dur="600" fill="hold"/>
                                        <p:tgtEl>
                                          <p:spTgt spid="11"/>
                                        </p:tgtEl>
                                        <p:attrNameLst>
                                          <p:attrName>ppt_y</p:attrName>
                                        </p:attrNameLst>
                                      </p:cBhvr>
                                      <p:tavLst>
                                        <p:tav tm="0">
                                          <p:val>
                                            <p:strVal val="#ppt_y+.05"/>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12"/>
                                        </p:tgtEl>
                                        <p:attrNameLst>
                                          <p:attrName>style.visibility</p:attrName>
                                        </p:attrNameLst>
                                      </p:cBhvr>
                                      <p:to>
                                        <p:strVal val="visible"/>
                                      </p:to>
                                    </p:set>
                                    <p:animEffect transition="in" filter="fade">
                                      <p:cBhvr>
                                        <p:cTn id="51" dur="600"/>
                                        <p:tgtEl>
                                          <p:spTgt spid="12"/>
                                        </p:tgtEl>
                                      </p:cBhvr>
                                    </p:animEffect>
                                    <p:anim calcmode="lin" valueType="num">
                                      <p:cBhvr>
                                        <p:cTn id="52" dur="600" fill="hold"/>
                                        <p:tgtEl>
                                          <p:spTgt spid="12"/>
                                        </p:tgtEl>
                                        <p:attrNameLst>
                                          <p:attrName>ppt_x</p:attrName>
                                        </p:attrNameLst>
                                      </p:cBhvr>
                                      <p:tavLst>
                                        <p:tav tm="0">
                                          <p:val>
                                            <p:strVal val="#ppt_x"/>
                                          </p:val>
                                        </p:tav>
                                        <p:tav tm="100000">
                                          <p:val>
                                            <p:strVal val="#ppt_x"/>
                                          </p:val>
                                        </p:tav>
                                      </p:tavLst>
                                    </p:anim>
                                    <p:anim calcmode="lin" valueType="num">
                                      <p:cBhvr>
                                        <p:cTn id="53" dur="600" fill="hold"/>
                                        <p:tgtEl>
                                          <p:spTgt spid="12"/>
                                        </p:tgtEl>
                                        <p:attrNameLst>
                                          <p:attrName>ppt_y</p:attrName>
                                        </p:attrNameLst>
                                      </p:cBhvr>
                                      <p:tavLst>
                                        <p:tav tm="0">
                                          <p:val>
                                            <p:strVal val="#ppt_y+.05"/>
                                          </p:val>
                                        </p:tav>
                                        <p:tav tm="100000">
                                          <p:val>
                                            <p:strVal val="#ppt_y"/>
                                          </p:val>
                                        </p:tav>
                                      </p:tavLst>
                                    </p:anim>
                                  </p:childTnLst>
                                </p:cTn>
                              </p:par>
                              <p:par>
                                <p:cTn id="54" presetID="42" presetClass="entr" presetSubtype="0" fill="hold" grpId="0" nodeType="withEffect">
                                  <p:stCondLst>
                                    <p:cond delay="200"/>
                                  </p:stCondLst>
                                  <p:childTnLst>
                                    <p:set>
                                      <p:cBhvr>
                                        <p:cTn id="55" dur="1" fill="hold">
                                          <p:stCondLst>
                                            <p:cond delay="0"/>
                                          </p:stCondLst>
                                        </p:cTn>
                                        <p:tgtEl>
                                          <p:spTgt spid="13"/>
                                        </p:tgtEl>
                                        <p:attrNameLst>
                                          <p:attrName>style.visibility</p:attrName>
                                        </p:attrNameLst>
                                      </p:cBhvr>
                                      <p:to>
                                        <p:strVal val="visible"/>
                                      </p:to>
                                    </p:set>
                                    <p:animEffect transition="in" filter="fade">
                                      <p:cBhvr>
                                        <p:cTn id="56" dur="600"/>
                                        <p:tgtEl>
                                          <p:spTgt spid="13"/>
                                        </p:tgtEl>
                                      </p:cBhvr>
                                    </p:animEffect>
                                    <p:anim calcmode="lin" valueType="num">
                                      <p:cBhvr>
                                        <p:cTn id="57" dur="600" fill="hold"/>
                                        <p:tgtEl>
                                          <p:spTgt spid="13"/>
                                        </p:tgtEl>
                                        <p:attrNameLst>
                                          <p:attrName>ppt_x</p:attrName>
                                        </p:attrNameLst>
                                      </p:cBhvr>
                                      <p:tavLst>
                                        <p:tav tm="0">
                                          <p:val>
                                            <p:strVal val="#ppt_x"/>
                                          </p:val>
                                        </p:tav>
                                        <p:tav tm="100000">
                                          <p:val>
                                            <p:strVal val="#ppt_x"/>
                                          </p:val>
                                        </p:tav>
                                      </p:tavLst>
                                    </p:anim>
                                    <p:anim calcmode="lin" valueType="num">
                                      <p:cBhvr>
                                        <p:cTn id="58" dur="600" fill="hold"/>
                                        <p:tgtEl>
                                          <p:spTgt spid="13"/>
                                        </p:tgtEl>
                                        <p:attrNameLst>
                                          <p:attrName>ppt_y</p:attrName>
                                        </p:attrNameLst>
                                      </p:cBhvr>
                                      <p:tavLst>
                                        <p:tav tm="0">
                                          <p:val>
                                            <p:strVal val="#ppt_y+.05"/>
                                          </p:val>
                                        </p:tav>
                                        <p:tav tm="100000">
                                          <p:val>
                                            <p:strVal val="#ppt_y"/>
                                          </p:val>
                                        </p:tav>
                                      </p:tavLst>
                                    </p:anim>
                                  </p:childTnLst>
                                </p:cTn>
                              </p:par>
                              <p:par>
                                <p:cTn id="59" presetID="53" presetClass="entr" presetSubtype="16" fill="hold" grpId="0" nodeType="withEffect">
                                  <p:stCondLst>
                                    <p:cond delay="200"/>
                                  </p:stCondLst>
                                  <p:childTnLst>
                                    <p:set>
                                      <p:cBhvr>
                                        <p:cTn id="60" dur="1" fill="hold">
                                          <p:stCondLst>
                                            <p:cond delay="0"/>
                                          </p:stCondLst>
                                        </p:cTn>
                                        <p:tgtEl>
                                          <p:spTgt spid="14"/>
                                        </p:tgtEl>
                                        <p:attrNameLst>
                                          <p:attrName>style.visibility</p:attrName>
                                        </p:attrNameLst>
                                      </p:cBhvr>
                                      <p:to>
                                        <p:strVal val="visible"/>
                                      </p:to>
                                    </p:set>
                                    <p:anim calcmode="lin" valueType="num">
                                      <p:cBhvr>
                                        <p:cTn id="61" dur="500" fill="hold"/>
                                        <p:tgtEl>
                                          <p:spTgt spid="14"/>
                                        </p:tgtEl>
                                        <p:attrNameLst>
                                          <p:attrName>ppt_w</p:attrName>
                                        </p:attrNameLst>
                                      </p:cBhvr>
                                      <p:tavLst>
                                        <p:tav tm="0">
                                          <p:val>
                                            <p:fltVal val="0"/>
                                          </p:val>
                                        </p:tav>
                                        <p:tav tm="100000">
                                          <p:val>
                                            <p:strVal val="#ppt_w"/>
                                          </p:val>
                                        </p:tav>
                                      </p:tavLst>
                                    </p:anim>
                                    <p:anim calcmode="lin" valueType="num">
                                      <p:cBhvr>
                                        <p:cTn id="62" dur="500" fill="hold"/>
                                        <p:tgtEl>
                                          <p:spTgt spid="14"/>
                                        </p:tgtEl>
                                        <p:attrNameLst>
                                          <p:attrName>ppt_h</p:attrName>
                                        </p:attrNameLst>
                                      </p:cBhvr>
                                      <p:tavLst>
                                        <p:tav tm="0">
                                          <p:val>
                                            <p:fltVal val="0"/>
                                          </p:val>
                                        </p:tav>
                                        <p:tav tm="100000">
                                          <p:val>
                                            <p:strVal val="#ppt_h"/>
                                          </p:val>
                                        </p:tav>
                                      </p:tavLst>
                                    </p:anim>
                                    <p:animEffect transition="in" filter="fade">
                                      <p:cBhvr>
                                        <p:cTn id="63" dur="500"/>
                                        <p:tgtEl>
                                          <p:spTgt spid="14"/>
                                        </p:tgtEl>
                                      </p:cBhvr>
                                    </p:animEffect>
                                  </p:childTnLst>
                                </p:cTn>
                              </p:par>
                              <p:par>
                                <p:cTn id="64" presetID="53" presetClass="entr" presetSubtype="16" fill="hold" grpId="0" nodeType="withEffect">
                                  <p:stCondLst>
                                    <p:cond delay="200"/>
                                  </p:stCondLst>
                                  <p:childTnLst>
                                    <p:set>
                                      <p:cBhvr>
                                        <p:cTn id="65" dur="1" fill="hold">
                                          <p:stCondLst>
                                            <p:cond delay="0"/>
                                          </p:stCondLst>
                                        </p:cTn>
                                        <p:tgtEl>
                                          <p:spTgt spid="15"/>
                                        </p:tgtEl>
                                        <p:attrNameLst>
                                          <p:attrName>style.visibility</p:attrName>
                                        </p:attrNameLst>
                                      </p:cBhvr>
                                      <p:to>
                                        <p:strVal val="visible"/>
                                      </p:to>
                                    </p:set>
                                    <p:anim calcmode="lin" valueType="num">
                                      <p:cBhvr>
                                        <p:cTn id="66" dur="500" fill="hold"/>
                                        <p:tgtEl>
                                          <p:spTgt spid="15"/>
                                        </p:tgtEl>
                                        <p:attrNameLst>
                                          <p:attrName>ppt_w</p:attrName>
                                        </p:attrNameLst>
                                      </p:cBhvr>
                                      <p:tavLst>
                                        <p:tav tm="0">
                                          <p:val>
                                            <p:fltVal val="0"/>
                                          </p:val>
                                        </p:tav>
                                        <p:tav tm="100000">
                                          <p:val>
                                            <p:strVal val="#ppt_w"/>
                                          </p:val>
                                        </p:tav>
                                      </p:tavLst>
                                    </p:anim>
                                    <p:anim calcmode="lin" valueType="num">
                                      <p:cBhvr>
                                        <p:cTn id="67" dur="500" fill="hold"/>
                                        <p:tgtEl>
                                          <p:spTgt spid="15"/>
                                        </p:tgtEl>
                                        <p:attrNameLst>
                                          <p:attrName>ppt_h</p:attrName>
                                        </p:attrNameLst>
                                      </p:cBhvr>
                                      <p:tavLst>
                                        <p:tav tm="0">
                                          <p:val>
                                            <p:fltVal val="0"/>
                                          </p:val>
                                        </p:tav>
                                        <p:tav tm="100000">
                                          <p:val>
                                            <p:strVal val="#ppt_h"/>
                                          </p:val>
                                        </p:tav>
                                      </p:tavLst>
                                    </p:anim>
                                    <p:animEffect transition="in" filter="fade">
                                      <p:cBhvr>
                                        <p:cTn id="68" dur="500"/>
                                        <p:tgtEl>
                                          <p:spTgt spid="15"/>
                                        </p:tgtEl>
                                      </p:cBhvr>
                                    </p:animEffect>
                                  </p:childTnLst>
                                </p:cTn>
                              </p:par>
                              <p:par>
                                <p:cTn id="69" presetID="42" presetClass="entr" presetSubtype="0" fill="hold" grpId="0" nodeType="withEffect">
                                  <p:stCondLst>
                                    <p:cond delay="200"/>
                                  </p:stCondLst>
                                  <p:childTnLst>
                                    <p:set>
                                      <p:cBhvr>
                                        <p:cTn id="70" dur="1" fill="hold">
                                          <p:stCondLst>
                                            <p:cond delay="0"/>
                                          </p:stCondLst>
                                        </p:cTn>
                                        <p:tgtEl>
                                          <p:spTgt spid="16"/>
                                        </p:tgtEl>
                                        <p:attrNameLst>
                                          <p:attrName>style.visibility</p:attrName>
                                        </p:attrNameLst>
                                      </p:cBhvr>
                                      <p:to>
                                        <p:strVal val="visible"/>
                                      </p:to>
                                    </p:set>
                                    <p:animEffect transition="in" filter="fade">
                                      <p:cBhvr>
                                        <p:cTn id="71" dur="600"/>
                                        <p:tgtEl>
                                          <p:spTgt spid="16"/>
                                        </p:tgtEl>
                                      </p:cBhvr>
                                    </p:animEffect>
                                    <p:anim calcmode="lin" valueType="num">
                                      <p:cBhvr>
                                        <p:cTn id="72" dur="600" fill="hold"/>
                                        <p:tgtEl>
                                          <p:spTgt spid="16"/>
                                        </p:tgtEl>
                                        <p:attrNameLst>
                                          <p:attrName>ppt_x</p:attrName>
                                        </p:attrNameLst>
                                      </p:cBhvr>
                                      <p:tavLst>
                                        <p:tav tm="0">
                                          <p:val>
                                            <p:strVal val="#ppt_x"/>
                                          </p:val>
                                        </p:tav>
                                        <p:tav tm="100000">
                                          <p:val>
                                            <p:strVal val="#ppt_x"/>
                                          </p:val>
                                        </p:tav>
                                      </p:tavLst>
                                    </p:anim>
                                    <p:anim calcmode="lin" valueType="num">
                                      <p:cBhvr>
                                        <p:cTn id="73" dur="600" fill="hold"/>
                                        <p:tgtEl>
                                          <p:spTgt spid="16"/>
                                        </p:tgtEl>
                                        <p:attrNameLst>
                                          <p:attrName>ppt_y</p:attrName>
                                        </p:attrNameLst>
                                      </p:cBhvr>
                                      <p:tavLst>
                                        <p:tav tm="0">
                                          <p:val>
                                            <p:strVal val="#ppt_y+.05"/>
                                          </p:val>
                                        </p:tav>
                                        <p:tav tm="100000">
                                          <p:val>
                                            <p:strVal val="#ppt_y"/>
                                          </p:val>
                                        </p:tav>
                                      </p:tavLst>
                                    </p:anim>
                                  </p:childTnLst>
                                </p:cTn>
                              </p:par>
                              <p:par>
                                <p:cTn id="74" presetID="42" presetClass="entr" presetSubtype="0" fill="hold" grpId="0" nodeType="withEffect">
                                  <p:stCondLst>
                                    <p:cond delay="200"/>
                                  </p:stCondLst>
                                  <p:childTnLst>
                                    <p:set>
                                      <p:cBhvr>
                                        <p:cTn id="75" dur="1" fill="hold">
                                          <p:stCondLst>
                                            <p:cond delay="0"/>
                                          </p:stCondLst>
                                        </p:cTn>
                                        <p:tgtEl>
                                          <p:spTgt spid="17"/>
                                        </p:tgtEl>
                                        <p:attrNameLst>
                                          <p:attrName>style.visibility</p:attrName>
                                        </p:attrNameLst>
                                      </p:cBhvr>
                                      <p:to>
                                        <p:strVal val="visible"/>
                                      </p:to>
                                    </p:set>
                                    <p:animEffect transition="in" filter="fade">
                                      <p:cBhvr>
                                        <p:cTn id="76" dur="600"/>
                                        <p:tgtEl>
                                          <p:spTgt spid="17"/>
                                        </p:tgtEl>
                                      </p:cBhvr>
                                    </p:animEffect>
                                    <p:anim calcmode="lin" valueType="num">
                                      <p:cBhvr>
                                        <p:cTn id="77" dur="600" fill="hold"/>
                                        <p:tgtEl>
                                          <p:spTgt spid="17"/>
                                        </p:tgtEl>
                                        <p:attrNameLst>
                                          <p:attrName>ppt_x</p:attrName>
                                        </p:attrNameLst>
                                      </p:cBhvr>
                                      <p:tavLst>
                                        <p:tav tm="0">
                                          <p:val>
                                            <p:strVal val="#ppt_x"/>
                                          </p:val>
                                        </p:tav>
                                        <p:tav tm="100000">
                                          <p:val>
                                            <p:strVal val="#ppt_x"/>
                                          </p:val>
                                        </p:tav>
                                      </p:tavLst>
                                    </p:anim>
                                    <p:anim calcmode="lin" valueType="num">
                                      <p:cBhvr>
                                        <p:cTn id="78" dur="600" fill="hold"/>
                                        <p:tgtEl>
                                          <p:spTgt spid="17"/>
                                        </p:tgtEl>
                                        <p:attrNameLst>
                                          <p:attrName>ppt_y</p:attrName>
                                        </p:attrNameLst>
                                      </p:cBhvr>
                                      <p:tavLst>
                                        <p:tav tm="0">
                                          <p:val>
                                            <p:strVal val="#ppt_y+.05"/>
                                          </p:val>
                                        </p:tav>
                                        <p:tav tm="100000">
                                          <p:val>
                                            <p:strVal val="#ppt_y"/>
                                          </p:val>
                                        </p:tav>
                                      </p:tavLst>
                                    </p:anim>
                                  </p:childTnLst>
                                </p:cTn>
                              </p:par>
                              <p:par>
                                <p:cTn id="79" presetID="42" presetClass="entr" presetSubtype="0" fill="hold" grpId="0" nodeType="withEffect">
                                  <p:stCondLst>
                                    <p:cond delay="400"/>
                                  </p:stCondLst>
                                  <p:childTnLst>
                                    <p:set>
                                      <p:cBhvr>
                                        <p:cTn id="80" dur="1" fill="hold">
                                          <p:stCondLst>
                                            <p:cond delay="0"/>
                                          </p:stCondLst>
                                        </p:cTn>
                                        <p:tgtEl>
                                          <p:spTgt spid="18"/>
                                        </p:tgtEl>
                                        <p:attrNameLst>
                                          <p:attrName>style.visibility</p:attrName>
                                        </p:attrNameLst>
                                      </p:cBhvr>
                                      <p:to>
                                        <p:strVal val="visible"/>
                                      </p:to>
                                    </p:set>
                                    <p:animEffect transition="in" filter="fade">
                                      <p:cBhvr>
                                        <p:cTn id="81" dur="600"/>
                                        <p:tgtEl>
                                          <p:spTgt spid="18"/>
                                        </p:tgtEl>
                                      </p:cBhvr>
                                    </p:animEffect>
                                    <p:anim calcmode="lin" valueType="num">
                                      <p:cBhvr>
                                        <p:cTn id="82" dur="600" fill="hold"/>
                                        <p:tgtEl>
                                          <p:spTgt spid="18"/>
                                        </p:tgtEl>
                                        <p:attrNameLst>
                                          <p:attrName>ppt_x</p:attrName>
                                        </p:attrNameLst>
                                      </p:cBhvr>
                                      <p:tavLst>
                                        <p:tav tm="0">
                                          <p:val>
                                            <p:strVal val="#ppt_x"/>
                                          </p:val>
                                        </p:tav>
                                        <p:tav tm="100000">
                                          <p:val>
                                            <p:strVal val="#ppt_x"/>
                                          </p:val>
                                        </p:tav>
                                      </p:tavLst>
                                    </p:anim>
                                    <p:anim calcmode="lin" valueType="num">
                                      <p:cBhvr>
                                        <p:cTn id="83" dur="600" fill="hold"/>
                                        <p:tgtEl>
                                          <p:spTgt spid="18"/>
                                        </p:tgtEl>
                                        <p:attrNameLst>
                                          <p:attrName>ppt_y</p:attrName>
                                        </p:attrNameLst>
                                      </p:cBhvr>
                                      <p:tavLst>
                                        <p:tav tm="0">
                                          <p:val>
                                            <p:strVal val="#ppt_y+.05"/>
                                          </p:val>
                                        </p:tav>
                                        <p:tav tm="100000">
                                          <p:val>
                                            <p:strVal val="#ppt_y"/>
                                          </p:val>
                                        </p:tav>
                                      </p:tavLst>
                                    </p:anim>
                                  </p:childTnLst>
                                </p:cTn>
                              </p:par>
                              <p:par>
                                <p:cTn id="84" presetID="53" presetClass="entr" presetSubtype="16" fill="hold" grpId="0" nodeType="withEffect">
                                  <p:stCondLst>
                                    <p:cond delay="400"/>
                                  </p:stCondLst>
                                  <p:childTnLst>
                                    <p:set>
                                      <p:cBhvr>
                                        <p:cTn id="85" dur="1" fill="hold">
                                          <p:stCondLst>
                                            <p:cond delay="0"/>
                                          </p:stCondLst>
                                        </p:cTn>
                                        <p:tgtEl>
                                          <p:spTgt spid="19"/>
                                        </p:tgtEl>
                                        <p:attrNameLst>
                                          <p:attrName>style.visibility</p:attrName>
                                        </p:attrNameLst>
                                      </p:cBhvr>
                                      <p:to>
                                        <p:strVal val="visible"/>
                                      </p:to>
                                    </p:set>
                                    <p:anim calcmode="lin" valueType="num">
                                      <p:cBhvr>
                                        <p:cTn id="86" dur="500" fill="hold"/>
                                        <p:tgtEl>
                                          <p:spTgt spid="19"/>
                                        </p:tgtEl>
                                        <p:attrNameLst>
                                          <p:attrName>ppt_w</p:attrName>
                                        </p:attrNameLst>
                                      </p:cBhvr>
                                      <p:tavLst>
                                        <p:tav tm="0">
                                          <p:val>
                                            <p:fltVal val="0"/>
                                          </p:val>
                                        </p:tav>
                                        <p:tav tm="100000">
                                          <p:val>
                                            <p:strVal val="#ppt_w"/>
                                          </p:val>
                                        </p:tav>
                                      </p:tavLst>
                                    </p:anim>
                                    <p:anim calcmode="lin" valueType="num">
                                      <p:cBhvr>
                                        <p:cTn id="87" dur="500" fill="hold"/>
                                        <p:tgtEl>
                                          <p:spTgt spid="19"/>
                                        </p:tgtEl>
                                        <p:attrNameLst>
                                          <p:attrName>ppt_h</p:attrName>
                                        </p:attrNameLst>
                                      </p:cBhvr>
                                      <p:tavLst>
                                        <p:tav tm="0">
                                          <p:val>
                                            <p:fltVal val="0"/>
                                          </p:val>
                                        </p:tav>
                                        <p:tav tm="100000">
                                          <p:val>
                                            <p:strVal val="#ppt_h"/>
                                          </p:val>
                                        </p:tav>
                                      </p:tavLst>
                                    </p:anim>
                                    <p:animEffect transition="in" filter="fade">
                                      <p:cBhvr>
                                        <p:cTn id="88" dur="500"/>
                                        <p:tgtEl>
                                          <p:spTgt spid="19"/>
                                        </p:tgtEl>
                                      </p:cBhvr>
                                    </p:animEffect>
                                  </p:childTnLst>
                                </p:cTn>
                              </p:par>
                              <p:par>
                                <p:cTn id="89" presetID="53" presetClass="entr" presetSubtype="16" fill="hold" grpId="0" nodeType="withEffect">
                                  <p:stCondLst>
                                    <p:cond delay="400"/>
                                  </p:stCondLst>
                                  <p:childTnLst>
                                    <p:set>
                                      <p:cBhvr>
                                        <p:cTn id="90" dur="1" fill="hold">
                                          <p:stCondLst>
                                            <p:cond delay="0"/>
                                          </p:stCondLst>
                                        </p:cTn>
                                        <p:tgtEl>
                                          <p:spTgt spid="20"/>
                                        </p:tgtEl>
                                        <p:attrNameLst>
                                          <p:attrName>style.visibility</p:attrName>
                                        </p:attrNameLst>
                                      </p:cBhvr>
                                      <p:to>
                                        <p:strVal val="visible"/>
                                      </p:to>
                                    </p:set>
                                    <p:anim calcmode="lin" valueType="num">
                                      <p:cBhvr>
                                        <p:cTn id="91" dur="500" fill="hold"/>
                                        <p:tgtEl>
                                          <p:spTgt spid="20"/>
                                        </p:tgtEl>
                                        <p:attrNameLst>
                                          <p:attrName>ppt_w</p:attrName>
                                        </p:attrNameLst>
                                      </p:cBhvr>
                                      <p:tavLst>
                                        <p:tav tm="0">
                                          <p:val>
                                            <p:fltVal val="0"/>
                                          </p:val>
                                        </p:tav>
                                        <p:tav tm="100000">
                                          <p:val>
                                            <p:strVal val="#ppt_w"/>
                                          </p:val>
                                        </p:tav>
                                      </p:tavLst>
                                    </p:anim>
                                    <p:anim calcmode="lin" valueType="num">
                                      <p:cBhvr>
                                        <p:cTn id="92" dur="500" fill="hold"/>
                                        <p:tgtEl>
                                          <p:spTgt spid="20"/>
                                        </p:tgtEl>
                                        <p:attrNameLst>
                                          <p:attrName>ppt_h</p:attrName>
                                        </p:attrNameLst>
                                      </p:cBhvr>
                                      <p:tavLst>
                                        <p:tav tm="0">
                                          <p:val>
                                            <p:fltVal val="0"/>
                                          </p:val>
                                        </p:tav>
                                        <p:tav tm="100000">
                                          <p:val>
                                            <p:strVal val="#ppt_h"/>
                                          </p:val>
                                        </p:tav>
                                      </p:tavLst>
                                    </p:anim>
                                    <p:animEffect transition="in" filter="fade">
                                      <p:cBhvr>
                                        <p:cTn id="93" dur="500"/>
                                        <p:tgtEl>
                                          <p:spTgt spid="20"/>
                                        </p:tgtEl>
                                      </p:cBhvr>
                                    </p:animEffect>
                                  </p:childTnLst>
                                </p:cTn>
                              </p:par>
                              <p:par>
                                <p:cTn id="94" presetID="42" presetClass="entr" presetSubtype="0" fill="hold" grpId="0" nodeType="withEffect">
                                  <p:stCondLst>
                                    <p:cond delay="400"/>
                                  </p:stCondLst>
                                  <p:childTnLst>
                                    <p:set>
                                      <p:cBhvr>
                                        <p:cTn id="95" dur="1" fill="hold">
                                          <p:stCondLst>
                                            <p:cond delay="0"/>
                                          </p:stCondLst>
                                        </p:cTn>
                                        <p:tgtEl>
                                          <p:spTgt spid="21"/>
                                        </p:tgtEl>
                                        <p:attrNameLst>
                                          <p:attrName>style.visibility</p:attrName>
                                        </p:attrNameLst>
                                      </p:cBhvr>
                                      <p:to>
                                        <p:strVal val="visible"/>
                                      </p:to>
                                    </p:set>
                                    <p:animEffect transition="in" filter="fade">
                                      <p:cBhvr>
                                        <p:cTn id="96" dur="600"/>
                                        <p:tgtEl>
                                          <p:spTgt spid="21"/>
                                        </p:tgtEl>
                                      </p:cBhvr>
                                    </p:animEffect>
                                    <p:anim calcmode="lin" valueType="num">
                                      <p:cBhvr>
                                        <p:cTn id="97" dur="600" fill="hold"/>
                                        <p:tgtEl>
                                          <p:spTgt spid="21"/>
                                        </p:tgtEl>
                                        <p:attrNameLst>
                                          <p:attrName>ppt_x</p:attrName>
                                        </p:attrNameLst>
                                      </p:cBhvr>
                                      <p:tavLst>
                                        <p:tav tm="0">
                                          <p:val>
                                            <p:strVal val="#ppt_x"/>
                                          </p:val>
                                        </p:tav>
                                        <p:tav tm="100000">
                                          <p:val>
                                            <p:strVal val="#ppt_x"/>
                                          </p:val>
                                        </p:tav>
                                      </p:tavLst>
                                    </p:anim>
                                    <p:anim calcmode="lin" valueType="num">
                                      <p:cBhvr>
                                        <p:cTn id="98" dur="600" fill="hold"/>
                                        <p:tgtEl>
                                          <p:spTgt spid="21"/>
                                        </p:tgtEl>
                                        <p:attrNameLst>
                                          <p:attrName>ppt_y</p:attrName>
                                        </p:attrNameLst>
                                      </p:cBhvr>
                                      <p:tavLst>
                                        <p:tav tm="0">
                                          <p:val>
                                            <p:strVal val="#ppt_y+.05"/>
                                          </p:val>
                                        </p:tav>
                                        <p:tav tm="100000">
                                          <p:val>
                                            <p:strVal val="#ppt_y"/>
                                          </p:val>
                                        </p:tav>
                                      </p:tavLst>
                                    </p:anim>
                                  </p:childTnLst>
                                </p:cTn>
                              </p:par>
                              <p:par>
                                <p:cTn id="99" presetID="42" presetClass="entr" presetSubtype="0" fill="hold" grpId="0" nodeType="withEffect">
                                  <p:stCondLst>
                                    <p:cond delay="400"/>
                                  </p:stCondLst>
                                  <p:childTnLst>
                                    <p:set>
                                      <p:cBhvr>
                                        <p:cTn id="100" dur="1" fill="hold">
                                          <p:stCondLst>
                                            <p:cond delay="0"/>
                                          </p:stCondLst>
                                        </p:cTn>
                                        <p:tgtEl>
                                          <p:spTgt spid="22"/>
                                        </p:tgtEl>
                                        <p:attrNameLst>
                                          <p:attrName>style.visibility</p:attrName>
                                        </p:attrNameLst>
                                      </p:cBhvr>
                                      <p:to>
                                        <p:strVal val="visible"/>
                                      </p:to>
                                    </p:set>
                                    <p:animEffect transition="in" filter="fade">
                                      <p:cBhvr>
                                        <p:cTn id="101" dur="600"/>
                                        <p:tgtEl>
                                          <p:spTgt spid="22"/>
                                        </p:tgtEl>
                                      </p:cBhvr>
                                    </p:animEffect>
                                    <p:anim calcmode="lin" valueType="num">
                                      <p:cBhvr>
                                        <p:cTn id="102" dur="600" fill="hold"/>
                                        <p:tgtEl>
                                          <p:spTgt spid="22"/>
                                        </p:tgtEl>
                                        <p:attrNameLst>
                                          <p:attrName>ppt_x</p:attrName>
                                        </p:attrNameLst>
                                      </p:cBhvr>
                                      <p:tavLst>
                                        <p:tav tm="0">
                                          <p:val>
                                            <p:strVal val="#ppt_x"/>
                                          </p:val>
                                        </p:tav>
                                        <p:tav tm="100000">
                                          <p:val>
                                            <p:strVal val="#ppt_x"/>
                                          </p:val>
                                        </p:tav>
                                      </p:tavLst>
                                    </p:anim>
                                    <p:anim calcmode="lin" valueType="num">
                                      <p:cBhvr>
                                        <p:cTn id="103" dur="600" fill="hold"/>
                                        <p:tgtEl>
                                          <p:spTgt spid="22"/>
                                        </p:tgtEl>
                                        <p:attrNameLst>
                                          <p:attrName>ppt_y</p:attrName>
                                        </p:attrNameLst>
                                      </p:cBhvr>
                                      <p:tavLst>
                                        <p:tav tm="0">
                                          <p:val>
                                            <p:strVal val="#ppt_y+.05"/>
                                          </p:val>
                                        </p:tav>
                                        <p:tav tm="100000">
                                          <p:val>
                                            <p:strVal val="#ppt_y"/>
                                          </p:val>
                                        </p:tav>
                                      </p:tavLst>
                                    </p:anim>
                                  </p:childTnLst>
                                </p:cTn>
                              </p:par>
                              <p:par>
                                <p:cTn id="104" presetID="42" presetClass="entr" presetSubtype="0" fill="hold" grpId="0" nodeType="withEffect">
                                  <p:stCondLst>
                                    <p:cond delay="600"/>
                                  </p:stCondLst>
                                  <p:childTnLst>
                                    <p:set>
                                      <p:cBhvr>
                                        <p:cTn id="105" dur="1" fill="hold">
                                          <p:stCondLst>
                                            <p:cond delay="0"/>
                                          </p:stCondLst>
                                        </p:cTn>
                                        <p:tgtEl>
                                          <p:spTgt spid="23"/>
                                        </p:tgtEl>
                                        <p:attrNameLst>
                                          <p:attrName>style.visibility</p:attrName>
                                        </p:attrNameLst>
                                      </p:cBhvr>
                                      <p:to>
                                        <p:strVal val="visible"/>
                                      </p:to>
                                    </p:set>
                                    <p:animEffect transition="in" filter="fade">
                                      <p:cBhvr>
                                        <p:cTn id="106" dur="600"/>
                                        <p:tgtEl>
                                          <p:spTgt spid="23"/>
                                        </p:tgtEl>
                                      </p:cBhvr>
                                    </p:animEffect>
                                    <p:anim calcmode="lin" valueType="num">
                                      <p:cBhvr>
                                        <p:cTn id="107" dur="600" fill="hold"/>
                                        <p:tgtEl>
                                          <p:spTgt spid="23"/>
                                        </p:tgtEl>
                                        <p:attrNameLst>
                                          <p:attrName>ppt_x</p:attrName>
                                        </p:attrNameLst>
                                      </p:cBhvr>
                                      <p:tavLst>
                                        <p:tav tm="0">
                                          <p:val>
                                            <p:strVal val="#ppt_x"/>
                                          </p:val>
                                        </p:tav>
                                        <p:tav tm="100000">
                                          <p:val>
                                            <p:strVal val="#ppt_x"/>
                                          </p:val>
                                        </p:tav>
                                      </p:tavLst>
                                    </p:anim>
                                    <p:anim calcmode="lin" valueType="num">
                                      <p:cBhvr>
                                        <p:cTn id="108" dur="600" fill="hold"/>
                                        <p:tgtEl>
                                          <p:spTgt spid="23"/>
                                        </p:tgtEl>
                                        <p:attrNameLst>
                                          <p:attrName>ppt_y</p:attrName>
                                        </p:attrNameLst>
                                      </p:cBhvr>
                                      <p:tavLst>
                                        <p:tav tm="0">
                                          <p:val>
                                            <p:strVal val="#ppt_y+.05"/>
                                          </p:val>
                                        </p:tav>
                                        <p:tav tm="100000">
                                          <p:val>
                                            <p:strVal val="#ppt_y"/>
                                          </p:val>
                                        </p:tav>
                                      </p:tavLst>
                                    </p:anim>
                                  </p:childTnLst>
                                </p:cTn>
                              </p:par>
                              <p:par>
                                <p:cTn id="109" presetID="53" presetClass="entr" presetSubtype="16" fill="hold" grpId="0" nodeType="withEffect">
                                  <p:stCondLst>
                                    <p:cond delay="600"/>
                                  </p:stCondLst>
                                  <p:childTnLst>
                                    <p:set>
                                      <p:cBhvr>
                                        <p:cTn id="110" dur="1" fill="hold">
                                          <p:stCondLst>
                                            <p:cond delay="0"/>
                                          </p:stCondLst>
                                        </p:cTn>
                                        <p:tgtEl>
                                          <p:spTgt spid="24"/>
                                        </p:tgtEl>
                                        <p:attrNameLst>
                                          <p:attrName>style.visibility</p:attrName>
                                        </p:attrNameLst>
                                      </p:cBhvr>
                                      <p:to>
                                        <p:strVal val="visible"/>
                                      </p:to>
                                    </p:set>
                                    <p:anim calcmode="lin" valueType="num">
                                      <p:cBhvr>
                                        <p:cTn id="111" dur="500" fill="hold"/>
                                        <p:tgtEl>
                                          <p:spTgt spid="24"/>
                                        </p:tgtEl>
                                        <p:attrNameLst>
                                          <p:attrName>ppt_w</p:attrName>
                                        </p:attrNameLst>
                                      </p:cBhvr>
                                      <p:tavLst>
                                        <p:tav tm="0">
                                          <p:val>
                                            <p:fltVal val="0"/>
                                          </p:val>
                                        </p:tav>
                                        <p:tav tm="100000">
                                          <p:val>
                                            <p:strVal val="#ppt_w"/>
                                          </p:val>
                                        </p:tav>
                                      </p:tavLst>
                                    </p:anim>
                                    <p:anim calcmode="lin" valueType="num">
                                      <p:cBhvr>
                                        <p:cTn id="112" dur="500" fill="hold"/>
                                        <p:tgtEl>
                                          <p:spTgt spid="24"/>
                                        </p:tgtEl>
                                        <p:attrNameLst>
                                          <p:attrName>ppt_h</p:attrName>
                                        </p:attrNameLst>
                                      </p:cBhvr>
                                      <p:tavLst>
                                        <p:tav tm="0">
                                          <p:val>
                                            <p:fltVal val="0"/>
                                          </p:val>
                                        </p:tav>
                                        <p:tav tm="100000">
                                          <p:val>
                                            <p:strVal val="#ppt_h"/>
                                          </p:val>
                                        </p:tav>
                                      </p:tavLst>
                                    </p:anim>
                                    <p:animEffect transition="in" filter="fade">
                                      <p:cBhvr>
                                        <p:cTn id="113" dur="500"/>
                                        <p:tgtEl>
                                          <p:spTgt spid="24"/>
                                        </p:tgtEl>
                                      </p:cBhvr>
                                    </p:animEffect>
                                  </p:childTnLst>
                                </p:cTn>
                              </p:par>
                              <p:par>
                                <p:cTn id="114" presetID="53" presetClass="entr" presetSubtype="16" fill="hold" grpId="0" nodeType="withEffect">
                                  <p:stCondLst>
                                    <p:cond delay="600"/>
                                  </p:stCondLst>
                                  <p:childTnLst>
                                    <p:set>
                                      <p:cBhvr>
                                        <p:cTn id="115" dur="1" fill="hold">
                                          <p:stCondLst>
                                            <p:cond delay="0"/>
                                          </p:stCondLst>
                                        </p:cTn>
                                        <p:tgtEl>
                                          <p:spTgt spid="25"/>
                                        </p:tgtEl>
                                        <p:attrNameLst>
                                          <p:attrName>style.visibility</p:attrName>
                                        </p:attrNameLst>
                                      </p:cBhvr>
                                      <p:to>
                                        <p:strVal val="visible"/>
                                      </p:to>
                                    </p:set>
                                    <p:anim calcmode="lin" valueType="num">
                                      <p:cBhvr>
                                        <p:cTn id="116" dur="500" fill="hold"/>
                                        <p:tgtEl>
                                          <p:spTgt spid="25"/>
                                        </p:tgtEl>
                                        <p:attrNameLst>
                                          <p:attrName>ppt_w</p:attrName>
                                        </p:attrNameLst>
                                      </p:cBhvr>
                                      <p:tavLst>
                                        <p:tav tm="0">
                                          <p:val>
                                            <p:fltVal val="0"/>
                                          </p:val>
                                        </p:tav>
                                        <p:tav tm="100000">
                                          <p:val>
                                            <p:strVal val="#ppt_w"/>
                                          </p:val>
                                        </p:tav>
                                      </p:tavLst>
                                    </p:anim>
                                    <p:anim calcmode="lin" valueType="num">
                                      <p:cBhvr>
                                        <p:cTn id="117" dur="500" fill="hold"/>
                                        <p:tgtEl>
                                          <p:spTgt spid="25"/>
                                        </p:tgtEl>
                                        <p:attrNameLst>
                                          <p:attrName>ppt_h</p:attrName>
                                        </p:attrNameLst>
                                      </p:cBhvr>
                                      <p:tavLst>
                                        <p:tav tm="0">
                                          <p:val>
                                            <p:fltVal val="0"/>
                                          </p:val>
                                        </p:tav>
                                        <p:tav tm="100000">
                                          <p:val>
                                            <p:strVal val="#ppt_h"/>
                                          </p:val>
                                        </p:tav>
                                      </p:tavLst>
                                    </p:anim>
                                    <p:animEffect transition="in" filter="fade">
                                      <p:cBhvr>
                                        <p:cTn id="118" dur="500"/>
                                        <p:tgtEl>
                                          <p:spTgt spid="25"/>
                                        </p:tgtEl>
                                      </p:cBhvr>
                                    </p:animEffect>
                                  </p:childTnLst>
                                </p:cTn>
                              </p:par>
                              <p:par>
                                <p:cTn id="119" presetID="42" presetClass="entr" presetSubtype="0" fill="hold" grpId="0" nodeType="withEffect">
                                  <p:stCondLst>
                                    <p:cond delay="600"/>
                                  </p:stCondLst>
                                  <p:childTnLst>
                                    <p:set>
                                      <p:cBhvr>
                                        <p:cTn id="120" dur="1" fill="hold">
                                          <p:stCondLst>
                                            <p:cond delay="0"/>
                                          </p:stCondLst>
                                        </p:cTn>
                                        <p:tgtEl>
                                          <p:spTgt spid="26"/>
                                        </p:tgtEl>
                                        <p:attrNameLst>
                                          <p:attrName>style.visibility</p:attrName>
                                        </p:attrNameLst>
                                      </p:cBhvr>
                                      <p:to>
                                        <p:strVal val="visible"/>
                                      </p:to>
                                    </p:set>
                                    <p:animEffect transition="in" filter="fade">
                                      <p:cBhvr>
                                        <p:cTn id="121" dur="600"/>
                                        <p:tgtEl>
                                          <p:spTgt spid="26"/>
                                        </p:tgtEl>
                                      </p:cBhvr>
                                    </p:animEffect>
                                    <p:anim calcmode="lin" valueType="num">
                                      <p:cBhvr>
                                        <p:cTn id="122" dur="600" fill="hold"/>
                                        <p:tgtEl>
                                          <p:spTgt spid="26"/>
                                        </p:tgtEl>
                                        <p:attrNameLst>
                                          <p:attrName>ppt_x</p:attrName>
                                        </p:attrNameLst>
                                      </p:cBhvr>
                                      <p:tavLst>
                                        <p:tav tm="0">
                                          <p:val>
                                            <p:strVal val="#ppt_x"/>
                                          </p:val>
                                        </p:tav>
                                        <p:tav tm="100000">
                                          <p:val>
                                            <p:strVal val="#ppt_x"/>
                                          </p:val>
                                        </p:tav>
                                      </p:tavLst>
                                    </p:anim>
                                    <p:anim calcmode="lin" valueType="num">
                                      <p:cBhvr>
                                        <p:cTn id="123" dur="600" fill="hold"/>
                                        <p:tgtEl>
                                          <p:spTgt spid="26"/>
                                        </p:tgtEl>
                                        <p:attrNameLst>
                                          <p:attrName>ppt_y</p:attrName>
                                        </p:attrNameLst>
                                      </p:cBhvr>
                                      <p:tavLst>
                                        <p:tav tm="0">
                                          <p:val>
                                            <p:strVal val="#ppt_y+.05"/>
                                          </p:val>
                                        </p:tav>
                                        <p:tav tm="100000">
                                          <p:val>
                                            <p:strVal val="#ppt_y"/>
                                          </p:val>
                                        </p:tav>
                                      </p:tavLst>
                                    </p:anim>
                                  </p:childTnLst>
                                </p:cTn>
                              </p:par>
                              <p:par>
                                <p:cTn id="124" presetID="42" presetClass="entr" presetSubtype="0" fill="hold" grpId="0" nodeType="withEffect">
                                  <p:stCondLst>
                                    <p:cond delay="600"/>
                                  </p:stCondLst>
                                  <p:childTnLst>
                                    <p:set>
                                      <p:cBhvr>
                                        <p:cTn id="125" dur="1" fill="hold">
                                          <p:stCondLst>
                                            <p:cond delay="0"/>
                                          </p:stCondLst>
                                        </p:cTn>
                                        <p:tgtEl>
                                          <p:spTgt spid="27"/>
                                        </p:tgtEl>
                                        <p:attrNameLst>
                                          <p:attrName>style.visibility</p:attrName>
                                        </p:attrNameLst>
                                      </p:cBhvr>
                                      <p:to>
                                        <p:strVal val="visible"/>
                                      </p:to>
                                    </p:set>
                                    <p:animEffect transition="in" filter="fade">
                                      <p:cBhvr>
                                        <p:cTn id="126" dur="600"/>
                                        <p:tgtEl>
                                          <p:spTgt spid="27"/>
                                        </p:tgtEl>
                                      </p:cBhvr>
                                    </p:animEffect>
                                    <p:anim calcmode="lin" valueType="num">
                                      <p:cBhvr>
                                        <p:cTn id="127" dur="600" fill="hold"/>
                                        <p:tgtEl>
                                          <p:spTgt spid="27"/>
                                        </p:tgtEl>
                                        <p:attrNameLst>
                                          <p:attrName>ppt_x</p:attrName>
                                        </p:attrNameLst>
                                      </p:cBhvr>
                                      <p:tavLst>
                                        <p:tav tm="0">
                                          <p:val>
                                            <p:strVal val="#ppt_x"/>
                                          </p:val>
                                        </p:tav>
                                        <p:tav tm="100000">
                                          <p:val>
                                            <p:strVal val="#ppt_x"/>
                                          </p:val>
                                        </p:tav>
                                      </p:tavLst>
                                    </p:anim>
                                    <p:anim calcmode="lin" valueType="num">
                                      <p:cBhvr>
                                        <p:cTn id="128" dur="600" fill="hold"/>
                                        <p:tgtEl>
                                          <p:spTgt spid="27"/>
                                        </p:tgtEl>
                                        <p:attrNameLst>
                                          <p:attrName>ppt_y</p:attrName>
                                        </p:attrNameLst>
                                      </p:cBhvr>
                                      <p:tavLst>
                                        <p:tav tm="0">
                                          <p:val>
                                            <p:strVal val="#ppt_y+.05"/>
                                          </p:val>
                                        </p:tav>
                                        <p:tav tm="100000">
                                          <p:val>
                                            <p:strVal val="#ppt_y"/>
                                          </p:val>
                                        </p:tav>
                                      </p:tavLst>
                                    </p:anim>
                                  </p:childTnLst>
                                </p:cTn>
                              </p:par>
                              <p:par>
                                <p:cTn id="129" presetID="42" presetClass="entr" presetSubtype="0" fill="hold" grpId="0" nodeType="withEffect">
                                  <p:stCondLst>
                                    <p:cond delay="800"/>
                                  </p:stCondLst>
                                  <p:childTnLst>
                                    <p:set>
                                      <p:cBhvr>
                                        <p:cTn id="130" dur="1" fill="hold">
                                          <p:stCondLst>
                                            <p:cond delay="0"/>
                                          </p:stCondLst>
                                        </p:cTn>
                                        <p:tgtEl>
                                          <p:spTgt spid="28"/>
                                        </p:tgtEl>
                                        <p:attrNameLst>
                                          <p:attrName>style.visibility</p:attrName>
                                        </p:attrNameLst>
                                      </p:cBhvr>
                                      <p:to>
                                        <p:strVal val="visible"/>
                                      </p:to>
                                    </p:set>
                                    <p:animEffect transition="in" filter="fade">
                                      <p:cBhvr>
                                        <p:cTn id="131" dur="600"/>
                                        <p:tgtEl>
                                          <p:spTgt spid="28"/>
                                        </p:tgtEl>
                                      </p:cBhvr>
                                    </p:animEffect>
                                    <p:anim calcmode="lin" valueType="num">
                                      <p:cBhvr>
                                        <p:cTn id="132" dur="600" fill="hold"/>
                                        <p:tgtEl>
                                          <p:spTgt spid="28"/>
                                        </p:tgtEl>
                                        <p:attrNameLst>
                                          <p:attrName>ppt_x</p:attrName>
                                        </p:attrNameLst>
                                      </p:cBhvr>
                                      <p:tavLst>
                                        <p:tav tm="0">
                                          <p:val>
                                            <p:strVal val="#ppt_x"/>
                                          </p:val>
                                        </p:tav>
                                        <p:tav tm="100000">
                                          <p:val>
                                            <p:strVal val="#ppt_x"/>
                                          </p:val>
                                        </p:tav>
                                      </p:tavLst>
                                    </p:anim>
                                    <p:anim calcmode="lin" valueType="num">
                                      <p:cBhvr>
                                        <p:cTn id="133" dur="600" fill="hold"/>
                                        <p:tgtEl>
                                          <p:spTgt spid="28"/>
                                        </p:tgtEl>
                                        <p:attrNameLst>
                                          <p:attrName>ppt_y</p:attrName>
                                        </p:attrNameLst>
                                      </p:cBhvr>
                                      <p:tavLst>
                                        <p:tav tm="0">
                                          <p:val>
                                            <p:strVal val="#ppt_y+.05"/>
                                          </p:val>
                                        </p:tav>
                                        <p:tav tm="100000">
                                          <p:val>
                                            <p:strVal val="#ppt_y"/>
                                          </p:val>
                                        </p:tav>
                                      </p:tavLst>
                                    </p:anim>
                                  </p:childTnLst>
                                </p:cTn>
                              </p:par>
                              <p:par>
                                <p:cTn id="134" presetID="53" presetClass="entr" presetSubtype="16" fill="hold" grpId="0" nodeType="withEffect">
                                  <p:stCondLst>
                                    <p:cond delay="800"/>
                                  </p:stCondLst>
                                  <p:childTnLst>
                                    <p:set>
                                      <p:cBhvr>
                                        <p:cTn id="135" dur="1" fill="hold">
                                          <p:stCondLst>
                                            <p:cond delay="0"/>
                                          </p:stCondLst>
                                        </p:cTn>
                                        <p:tgtEl>
                                          <p:spTgt spid="29"/>
                                        </p:tgtEl>
                                        <p:attrNameLst>
                                          <p:attrName>style.visibility</p:attrName>
                                        </p:attrNameLst>
                                      </p:cBhvr>
                                      <p:to>
                                        <p:strVal val="visible"/>
                                      </p:to>
                                    </p:set>
                                    <p:anim calcmode="lin" valueType="num">
                                      <p:cBhvr>
                                        <p:cTn id="136" dur="500" fill="hold"/>
                                        <p:tgtEl>
                                          <p:spTgt spid="29"/>
                                        </p:tgtEl>
                                        <p:attrNameLst>
                                          <p:attrName>ppt_w</p:attrName>
                                        </p:attrNameLst>
                                      </p:cBhvr>
                                      <p:tavLst>
                                        <p:tav tm="0">
                                          <p:val>
                                            <p:fltVal val="0"/>
                                          </p:val>
                                        </p:tav>
                                        <p:tav tm="100000">
                                          <p:val>
                                            <p:strVal val="#ppt_w"/>
                                          </p:val>
                                        </p:tav>
                                      </p:tavLst>
                                    </p:anim>
                                    <p:anim calcmode="lin" valueType="num">
                                      <p:cBhvr>
                                        <p:cTn id="137" dur="500" fill="hold"/>
                                        <p:tgtEl>
                                          <p:spTgt spid="29"/>
                                        </p:tgtEl>
                                        <p:attrNameLst>
                                          <p:attrName>ppt_h</p:attrName>
                                        </p:attrNameLst>
                                      </p:cBhvr>
                                      <p:tavLst>
                                        <p:tav tm="0">
                                          <p:val>
                                            <p:fltVal val="0"/>
                                          </p:val>
                                        </p:tav>
                                        <p:tav tm="100000">
                                          <p:val>
                                            <p:strVal val="#ppt_h"/>
                                          </p:val>
                                        </p:tav>
                                      </p:tavLst>
                                    </p:anim>
                                    <p:animEffect transition="in" filter="fade">
                                      <p:cBhvr>
                                        <p:cTn id="138" dur="500"/>
                                        <p:tgtEl>
                                          <p:spTgt spid="29"/>
                                        </p:tgtEl>
                                      </p:cBhvr>
                                    </p:animEffect>
                                  </p:childTnLst>
                                </p:cTn>
                              </p:par>
                              <p:par>
                                <p:cTn id="139" presetID="53" presetClass="entr" presetSubtype="16" fill="hold" grpId="0" nodeType="withEffect">
                                  <p:stCondLst>
                                    <p:cond delay="800"/>
                                  </p:stCondLst>
                                  <p:childTnLst>
                                    <p:set>
                                      <p:cBhvr>
                                        <p:cTn id="140" dur="1" fill="hold">
                                          <p:stCondLst>
                                            <p:cond delay="0"/>
                                          </p:stCondLst>
                                        </p:cTn>
                                        <p:tgtEl>
                                          <p:spTgt spid="30"/>
                                        </p:tgtEl>
                                        <p:attrNameLst>
                                          <p:attrName>style.visibility</p:attrName>
                                        </p:attrNameLst>
                                      </p:cBhvr>
                                      <p:to>
                                        <p:strVal val="visible"/>
                                      </p:to>
                                    </p:set>
                                    <p:anim calcmode="lin" valueType="num">
                                      <p:cBhvr>
                                        <p:cTn id="141" dur="500" fill="hold"/>
                                        <p:tgtEl>
                                          <p:spTgt spid="30"/>
                                        </p:tgtEl>
                                        <p:attrNameLst>
                                          <p:attrName>ppt_w</p:attrName>
                                        </p:attrNameLst>
                                      </p:cBhvr>
                                      <p:tavLst>
                                        <p:tav tm="0">
                                          <p:val>
                                            <p:fltVal val="0"/>
                                          </p:val>
                                        </p:tav>
                                        <p:tav tm="100000">
                                          <p:val>
                                            <p:strVal val="#ppt_w"/>
                                          </p:val>
                                        </p:tav>
                                      </p:tavLst>
                                    </p:anim>
                                    <p:anim calcmode="lin" valueType="num">
                                      <p:cBhvr>
                                        <p:cTn id="142" dur="500" fill="hold"/>
                                        <p:tgtEl>
                                          <p:spTgt spid="30"/>
                                        </p:tgtEl>
                                        <p:attrNameLst>
                                          <p:attrName>ppt_h</p:attrName>
                                        </p:attrNameLst>
                                      </p:cBhvr>
                                      <p:tavLst>
                                        <p:tav tm="0">
                                          <p:val>
                                            <p:fltVal val="0"/>
                                          </p:val>
                                        </p:tav>
                                        <p:tav tm="100000">
                                          <p:val>
                                            <p:strVal val="#ppt_h"/>
                                          </p:val>
                                        </p:tav>
                                      </p:tavLst>
                                    </p:anim>
                                    <p:animEffect transition="in" filter="fade">
                                      <p:cBhvr>
                                        <p:cTn id="143" dur="500"/>
                                        <p:tgtEl>
                                          <p:spTgt spid="30"/>
                                        </p:tgtEl>
                                      </p:cBhvr>
                                    </p:animEffect>
                                  </p:childTnLst>
                                </p:cTn>
                              </p:par>
                              <p:par>
                                <p:cTn id="144" presetID="42" presetClass="entr" presetSubtype="0" fill="hold" grpId="0" nodeType="withEffect">
                                  <p:stCondLst>
                                    <p:cond delay="800"/>
                                  </p:stCondLst>
                                  <p:childTnLst>
                                    <p:set>
                                      <p:cBhvr>
                                        <p:cTn id="145" dur="1" fill="hold">
                                          <p:stCondLst>
                                            <p:cond delay="0"/>
                                          </p:stCondLst>
                                        </p:cTn>
                                        <p:tgtEl>
                                          <p:spTgt spid="31"/>
                                        </p:tgtEl>
                                        <p:attrNameLst>
                                          <p:attrName>style.visibility</p:attrName>
                                        </p:attrNameLst>
                                      </p:cBhvr>
                                      <p:to>
                                        <p:strVal val="visible"/>
                                      </p:to>
                                    </p:set>
                                    <p:animEffect transition="in" filter="fade">
                                      <p:cBhvr>
                                        <p:cTn id="146" dur="600"/>
                                        <p:tgtEl>
                                          <p:spTgt spid="31"/>
                                        </p:tgtEl>
                                      </p:cBhvr>
                                    </p:animEffect>
                                    <p:anim calcmode="lin" valueType="num">
                                      <p:cBhvr>
                                        <p:cTn id="147" dur="600" fill="hold"/>
                                        <p:tgtEl>
                                          <p:spTgt spid="31"/>
                                        </p:tgtEl>
                                        <p:attrNameLst>
                                          <p:attrName>ppt_x</p:attrName>
                                        </p:attrNameLst>
                                      </p:cBhvr>
                                      <p:tavLst>
                                        <p:tav tm="0">
                                          <p:val>
                                            <p:strVal val="#ppt_x"/>
                                          </p:val>
                                        </p:tav>
                                        <p:tav tm="100000">
                                          <p:val>
                                            <p:strVal val="#ppt_x"/>
                                          </p:val>
                                        </p:tav>
                                      </p:tavLst>
                                    </p:anim>
                                    <p:anim calcmode="lin" valueType="num">
                                      <p:cBhvr>
                                        <p:cTn id="148" dur="600" fill="hold"/>
                                        <p:tgtEl>
                                          <p:spTgt spid="31"/>
                                        </p:tgtEl>
                                        <p:attrNameLst>
                                          <p:attrName>ppt_y</p:attrName>
                                        </p:attrNameLst>
                                      </p:cBhvr>
                                      <p:tavLst>
                                        <p:tav tm="0">
                                          <p:val>
                                            <p:strVal val="#ppt_y+.05"/>
                                          </p:val>
                                        </p:tav>
                                        <p:tav tm="100000">
                                          <p:val>
                                            <p:strVal val="#ppt_y"/>
                                          </p:val>
                                        </p:tav>
                                      </p:tavLst>
                                    </p:anim>
                                  </p:childTnLst>
                                </p:cTn>
                              </p:par>
                              <p:par>
                                <p:cTn id="149" presetID="42" presetClass="entr" presetSubtype="0" fill="hold" grpId="0" nodeType="withEffect">
                                  <p:stCondLst>
                                    <p:cond delay="800"/>
                                  </p:stCondLst>
                                  <p:childTnLst>
                                    <p:set>
                                      <p:cBhvr>
                                        <p:cTn id="150" dur="1" fill="hold">
                                          <p:stCondLst>
                                            <p:cond delay="0"/>
                                          </p:stCondLst>
                                        </p:cTn>
                                        <p:tgtEl>
                                          <p:spTgt spid="32"/>
                                        </p:tgtEl>
                                        <p:attrNameLst>
                                          <p:attrName>style.visibility</p:attrName>
                                        </p:attrNameLst>
                                      </p:cBhvr>
                                      <p:to>
                                        <p:strVal val="visible"/>
                                      </p:to>
                                    </p:set>
                                    <p:animEffect transition="in" filter="fade">
                                      <p:cBhvr>
                                        <p:cTn id="151" dur="600"/>
                                        <p:tgtEl>
                                          <p:spTgt spid="32"/>
                                        </p:tgtEl>
                                      </p:cBhvr>
                                    </p:animEffect>
                                    <p:anim calcmode="lin" valueType="num">
                                      <p:cBhvr>
                                        <p:cTn id="152" dur="600" fill="hold"/>
                                        <p:tgtEl>
                                          <p:spTgt spid="32"/>
                                        </p:tgtEl>
                                        <p:attrNameLst>
                                          <p:attrName>ppt_x</p:attrName>
                                        </p:attrNameLst>
                                      </p:cBhvr>
                                      <p:tavLst>
                                        <p:tav tm="0">
                                          <p:val>
                                            <p:strVal val="#ppt_x"/>
                                          </p:val>
                                        </p:tav>
                                        <p:tav tm="100000">
                                          <p:val>
                                            <p:strVal val="#ppt_x"/>
                                          </p:val>
                                        </p:tav>
                                      </p:tavLst>
                                    </p:anim>
                                    <p:anim calcmode="lin" valueType="num">
                                      <p:cBhvr>
                                        <p:cTn id="153" dur="600" fill="hold"/>
                                        <p:tgtEl>
                                          <p:spTgt spid="32"/>
                                        </p:tgtEl>
                                        <p:attrNameLst>
                                          <p:attrName>ppt_y</p:attrName>
                                        </p:attrNameLst>
                                      </p:cBhvr>
                                      <p:tavLst>
                                        <p:tav tm="0">
                                          <p:val>
                                            <p:strVal val="#ppt_y+.05"/>
                                          </p:val>
                                        </p:tav>
                                        <p:tav tm="100000">
                                          <p:val>
                                            <p:strVal val="#ppt_y"/>
                                          </p:val>
                                        </p:tav>
                                      </p:tavLst>
                                    </p:anim>
                                  </p:childTnLst>
                                </p:cTn>
                              </p:par>
                              <p:par>
                                <p:cTn id="154" presetID="42" presetClass="entr" presetSubtype="0" fill="hold" grpId="0" nodeType="withEffect">
                                  <p:stCondLst>
                                    <p:cond delay="1000"/>
                                  </p:stCondLst>
                                  <p:childTnLst>
                                    <p:set>
                                      <p:cBhvr>
                                        <p:cTn id="155" dur="1" fill="hold">
                                          <p:stCondLst>
                                            <p:cond delay="0"/>
                                          </p:stCondLst>
                                        </p:cTn>
                                        <p:tgtEl>
                                          <p:spTgt spid="33"/>
                                        </p:tgtEl>
                                        <p:attrNameLst>
                                          <p:attrName>style.visibility</p:attrName>
                                        </p:attrNameLst>
                                      </p:cBhvr>
                                      <p:to>
                                        <p:strVal val="visible"/>
                                      </p:to>
                                    </p:set>
                                    <p:animEffect transition="in" filter="fade">
                                      <p:cBhvr>
                                        <p:cTn id="156" dur="600"/>
                                        <p:tgtEl>
                                          <p:spTgt spid="33"/>
                                        </p:tgtEl>
                                      </p:cBhvr>
                                    </p:animEffect>
                                    <p:anim calcmode="lin" valueType="num">
                                      <p:cBhvr>
                                        <p:cTn id="157" dur="600" fill="hold"/>
                                        <p:tgtEl>
                                          <p:spTgt spid="33"/>
                                        </p:tgtEl>
                                        <p:attrNameLst>
                                          <p:attrName>ppt_x</p:attrName>
                                        </p:attrNameLst>
                                      </p:cBhvr>
                                      <p:tavLst>
                                        <p:tav tm="0">
                                          <p:val>
                                            <p:strVal val="#ppt_x"/>
                                          </p:val>
                                        </p:tav>
                                        <p:tav tm="100000">
                                          <p:val>
                                            <p:strVal val="#ppt_x"/>
                                          </p:val>
                                        </p:tav>
                                      </p:tavLst>
                                    </p:anim>
                                    <p:anim calcmode="lin" valueType="num">
                                      <p:cBhvr>
                                        <p:cTn id="158" dur="600" fill="hold"/>
                                        <p:tgtEl>
                                          <p:spTgt spid="33"/>
                                        </p:tgtEl>
                                        <p:attrNameLst>
                                          <p:attrName>ppt_y</p:attrName>
                                        </p:attrNameLst>
                                      </p:cBhvr>
                                      <p:tavLst>
                                        <p:tav tm="0">
                                          <p:val>
                                            <p:strVal val="#ppt_y+.05"/>
                                          </p:val>
                                        </p:tav>
                                        <p:tav tm="100000">
                                          <p:val>
                                            <p:strVal val="#ppt_y"/>
                                          </p:val>
                                        </p:tav>
                                      </p:tavLst>
                                    </p:anim>
                                  </p:childTnLst>
                                </p:cTn>
                              </p:par>
                              <p:par>
                                <p:cTn id="159" presetID="53" presetClass="entr" presetSubtype="16" fill="hold" grpId="0" nodeType="withEffect">
                                  <p:stCondLst>
                                    <p:cond delay="1000"/>
                                  </p:stCondLst>
                                  <p:childTnLst>
                                    <p:set>
                                      <p:cBhvr>
                                        <p:cTn id="160" dur="1" fill="hold">
                                          <p:stCondLst>
                                            <p:cond delay="0"/>
                                          </p:stCondLst>
                                        </p:cTn>
                                        <p:tgtEl>
                                          <p:spTgt spid="34"/>
                                        </p:tgtEl>
                                        <p:attrNameLst>
                                          <p:attrName>style.visibility</p:attrName>
                                        </p:attrNameLst>
                                      </p:cBhvr>
                                      <p:to>
                                        <p:strVal val="visible"/>
                                      </p:to>
                                    </p:set>
                                    <p:anim calcmode="lin" valueType="num">
                                      <p:cBhvr>
                                        <p:cTn id="161" dur="500" fill="hold"/>
                                        <p:tgtEl>
                                          <p:spTgt spid="34"/>
                                        </p:tgtEl>
                                        <p:attrNameLst>
                                          <p:attrName>ppt_w</p:attrName>
                                        </p:attrNameLst>
                                      </p:cBhvr>
                                      <p:tavLst>
                                        <p:tav tm="0">
                                          <p:val>
                                            <p:fltVal val="0"/>
                                          </p:val>
                                        </p:tav>
                                        <p:tav tm="100000">
                                          <p:val>
                                            <p:strVal val="#ppt_w"/>
                                          </p:val>
                                        </p:tav>
                                      </p:tavLst>
                                    </p:anim>
                                    <p:anim calcmode="lin" valueType="num">
                                      <p:cBhvr>
                                        <p:cTn id="162" dur="500" fill="hold"/>
                                        <p:tgtEl>
                                          <p:spTgt spid="34"/>
                                        </p:tgtEl>
                                        <p:attrNameLst>
                                          <p:attrName>ppt_h</p:attrName>
                                        </p:attrNameLst>
                                      </p:cBhvr>
                                      <p:tavLst>
                                        <p:tav tm="0">
                                          <p:val>
                                            <p:fltVal val="0"/>
                                          </p:val>
                                        </p:tav>
                                        <p:tav tm="100000">
                                          <p:val>
                                            <p:strVal val="#ppt_h"/>
                                          </p:val>
                                        </p:tav>
                                      </p:tavLst>
                                    </p:anim>
                                    <p:animEffect transition="in" filter="fade">
                                      <p:cBhvr>
                                        <p:cTn id="163" dur="500"/>
                                        <p:tgtEl>
                                          <p:spTgt spid="34"/>
                                        </p:tgtEl>
                                      </p:cBhvr>
                                    </p:animEffect>
                                  </p:childTnLst>
                                </p:cTn>
                              </p:par>
                              <p:par>
                                <p:cTn id="164" presetID="53" presetClass="entr" presetSubtype="16" fill="hold" grpId="0" nodeType="withEffect">
                                  <p:stCondLst>
                                    <p:cond delay="1000"/>
                                  </p:stCondLst>
                                  <p:childTnLst>
                                    <p:set>
                                      <p:cBhvr>
                                        <p:cTn id="165" dur="1" fill="hold">
                                          <p:stCondLst>
                                            <p:cond delay="0"/>
                                          </p:stCondLst>
                                        </p:cTn>
                                        <p:tgtEl>
                                          <p:spTgt spid="35"/>
                                        </p:tgtEl>
                                        <p:attrNameLst>
                                          <p:attrName>style.visibility</p:attrName>
                                        </p:attrNameLst>
                                      </p:cBhvr>
                                      <p:to>
                                        <p:strVal val="visible"/>
                                      </p:to>
                                    </p:set>
                                    <p:anim calcmode="lin" valueType="num">
                                      <p:cBhvr>
                                        <p:cTn id="166" dur="500" fill="hold"/>
                                        <p:tgtEl>
                                          <p:spTgt spid="35"/>
                                        </p:tgtEl>
                                        <p:attrNameLst>
                                          <p:attrName>ppt_w</p:attrName>
                                        </p:attrNameLst>
                                      </p:cBhvr>
                                      <p:tavLst>
                                        <p:tav tm="0">
                                          <p:val>
                                            <p:fltVal val="0"/>
                                          </p:val>
                                        </p:tav>
                                        <p:tav tm="100000">
                                          <p:val>
                                            <p:strVal val="#ppt_w"/>
                                          </p:val>
                                        </p:tav>
                                      </p:tavLst>
                                    </p:anim>
                                    <p:anim calcmode="lin" valueType="num">
                                      <p:cBhvr>
                                        <p:cTn id="167" dur="500" fill="hold"/>
                                        <p:tgtEl>
                                          <p:spTgt spid="35"/>
                                        </p:tgtEl>
                                        <p:attrNameLst>
                                          <p:attrName>ppt_h</p:attrName>
                                        </p:attrNameLst>
                                      </p:cBhvr>
                                      <p:tavLst>
                                        <p:tav tm="0">
                                          <p:val>
                                            <p:fltVal val="0"/>
                                          </p:val>
                                        </p:tav>
                                        <p:tav tm="100000">
                                          <p:val>
                                            <p:strVal val="#ppt_h"/>
                                          </p:val>
                                        </p:tav>
                                      </p:tavLst>
                                    </p:anim>
                                    <p:animEffect transition="in" filter="fade">
                                      <p:cBhvr>
                                        <p:cTn id="168" dur="500"/>
                                        <p:tgtEl>
                                          <p:spTgt spid="35"/>
                                        </p:tgtEl>
                                      </p:cBhvr>
                                    </p:animEffect>
                                  </p:childTnLst>
                                </p:cTn>
                              </p:par>
                              <p:par>
                                <p:cTn id="169" presetID="42" presetClass="entr" presetSubtype="0" fill="hold" grpId="0" nodeType="withEffect">
                                  <p:stCondLst>
                                    <p:cond delay="1000"/>
                                  </p:stCondLst>
                                  <p:childTnLst>
                                    <p:set>
                                      <p:cBhvr>
                                        <p:cTn id="170" dur="1" fill="hold">
                                          <p:stCondLst>
                                            <p:cond delay="0"/>
                                          </p:stCondLst>
                                        </p:cTn>
                                        <p:tgtEl>
                                          <p:spTgt spid="36"/>
                                        </p:tgtEl>
                                        <p:attrNameLst>
                                          <p:attrName>style.visibility</p:attrName>
                                        </p:attrNameLst>
                                      </p:cBhvr>
                                      <p:to>
                                        <p:strVal val="visible"/>
                                      </p:to>
                                    </p:set>
                                    <p:animEffect transition="in" filter="fade">
                                      <p:cBhvr>
                                        <p:cTn id="171" dur="600"/>
                                        <p:tgtEl>
                                          <p:spTgt spid="36"/>
                                        </p:tgtEl>
                                      </p:cBhvr>
                                    </p:animEffect>
                                    <p:anim calcmode="lin" valueType="num">
                                      <p:cBhvr>
                                        <p:cTn id="172" dur="600" fill="hold"/>
                                        <p:tgtEl>
                                          <p:spTgt spid="36"/>
                                        </p:tgtEl>
                                        <p:attrNameLst>
                                          <p:attrName>ppt_x</p:attrName>
                                        </p:attrNameLst>
                                      </p:cBhvr>
                                      <p:tavLst>
                                        <p:tav tm="0">
                                          <p:val>
                                            <p:strVal val="#ppt_x"/>
                                          </p:val>
                                        </p:tav>
                                        <p:tav tm="100000">
                                          <p:val>
                                            <p:strVal val="#ppt_x"/>
                                          </p:val>
                                        </p:tav>
                                      </p:tavLst>
                                    </p:anim>
                                    <p:anim calcmode="lin" valueType="num">
                                      <p:cBhvr>
                                        <p:cTn id="173" dur="600" fill="hold"/>
                                        <p:tgtEl>
                                          <p:spTgt spid="36"/>
                                        </p:tgtEl>
                                        <p:attrNameLst>
                                          <p:attrName>ppt_y</p:attrName>
                                        </p:attrNameLst>
                                      </p:cBhvr>
                                      <p:tavLst>
                                        <p:tav tm="0">
                                          <p:val>
                                            <p:strVal val="#ppt_y+.05"/>
                                          </p:val>
                                        </p:tav>
                                        <p:tav tm="100000">
                                          <p:val>
                                            <p:strVal val="#ppt_y"/>
                                          </p:val>
                                        </p:tav>
                                      </p:tavLst>
                                    </p:anim>
                                  </p:childTnLst>
                                </p:cTn>
                              </p:par>
                              <p:par>
                                <p:cTn id="174" presetID="42" presetClass="entr" presetSubtype="0" fill="hold" grpId="0" nodeType="withEffect">
                                  <p:stCondLst>
                                    <p:cond delay="1000"/>
                                  </p:stCondLst>
                                  <p:childTnLst>
                                    <p:set>
                                      <p:cBhvr>
                                        <p:cTn id="175" dur="1" fill="hold">
                                          <p:stCondLst>
                                            <p:cond delay="0"/>
                                          </p:stCondLst>
                                        </p:cTn>
                                        <p:tgtEl>
                                          <p:spTgt spid="37"/>
                                        </p:tgtEl>
                                        <p:attrNameLst>
                                          <p:attrName>style.visibility</p:attrName>
                                        </p:attrNameLst>
                                      </p:cBhvr>
                                      <p:to>
                                        <p:strVal val="visible"/>
                                      </p:to>
                                    </p:set>
                                    <p:animEffect transition="in" filter="fade">
                                      <p:cBhvr>
                                        <p:cTn id="176" dur="600"/>
                                        <p:tgtEl>
                                          <p:spTgt spid="37"/>
                                        </p:tgtEl>
                                      </p:cBhvr>
                                    </p:animEffect>
                                    <p:anim calcmode="lin" valueType="num">
                                      <p:cBhvr>
                                        <p:cTn id="177" dur="600" fill="hold"/>
                                        <p:tgtEl>
                                          <p:spTgt spid="37"/>
                                        </p:tgtEl>
                                        <p:attrNameLst>
                                          <p:attrName>ppt_x</p:attrName>
                                        </p:attrNameLst>
                                      </p:cBhvr>
                                      <p:tavLst>
                                        <p:tav tm="0">
                                          <p:val>
                                            <p:strVal val="#ppt_x"/>
                                          </p:val>
                                        </p:tav>
                                        <p:tav tm="100000">
                                          <p:val>
                                            <p:strVal val="#ppt_x"/>
                                          </p:val>
                                        </p:tav>
                                      </p:tavLst>
                                    </p:anim>
                                    <p:anim calcmode="lin" valueType="num">
                                      <p:cBhvr>
                                        <p:cTn id="178" dur="600" fill="hold"/>
                                        <p:tgtEl>
                                          <p:spTgt spid="37"/>
                                        </p:tgtEl>
                                        <p:attrNameLst>
                                          <p:attrName>ppt_y</p:attrName>
                                        </p:attrNameLst>
                                      </p:cBhvr>
                                      <p:tavLst>
                                        <p:tav tm="0">
                                          <p:val>
                                            <p:strVal val="#ppt_y+.05"/>
                                          </p:val>
                                        </p:tav>
                                        <p:tav tm="100000">
                                          <p:val>
                                            <p:strVal val="#ppt_y"/>
                                          </p:val>
                                        </p:tav>
                                      </p:tavLst>
                                    </p:anim>
                                  </p:childTnLst>
                                </p:cTn>
                              </p:par>
                              <p:par>
                                <p:cTn id="179" presetID="42" presetClass="entr" presetSubtype="0" fill="hold" grpId="0" nodeType="withEffect">
                                  <p:stCondLst>
                                    <p:cond delay="1200"/>
                                  </p:stCondLst>
                                  <p:childTnLst>
                                    <p:set>
                                      <p:cBhvr>
                                        <p:cTn id="180" dur="1" fill="hold">
                                          <p:stCondLst>
                                            <p:cond delay="0"/>
                                          </p:stCondLst>
                                        </p:cTn>
                                        <p:tgtEl>
                                          <p:spTgt spid="38"/>
                                        </p:tgtEl>
                                        <p:attrNameLst>
                                          <p:attrName>style.visibility</p:attrName>
                                        </p:attrNameLst>
                                      </p:cBhvr>
                                      <p:to>
                                        <p:strVal val="visible"/>
                                      </p:to>
                                    </p:set>
                                    <p:animEffect transition="in" filter="fade">
                                      <p:cBhvr>
                                        <p:cTn id="181" dur="600"/>
                                        <p:tgtEl>
                                          <p:spTgt spid="38"/>
                                        </p:tgtEl>
                                      </p:cBhvr>
                                    </p:animEffect>
                                    <p:anim calcmode="lin" valueType="num">
                                      <p:cBhvr>
                                        <p:cTn id="182" dur="600" fill="hold"/>
                                        <p:tgtEl>
                                          <p:spTgt spid="38"/>
                                        </p:tgtEl>
                                        <p:attrNameLst>
                                          <p:attrName>ppt_x</p:attrName>
                                        </p:attrNameLst>
                                      </p:cBhvr>
                                      <p:tavLst>
                                        <p:tav tm="0">
                                          <p:val>
                                            <p:strVal val="#ppt_x"/>
                                          </p:val>
                                        </p:tav>
                                        <p:tav tm="100000">
                                          <p:val>
                                            <p:strVal val="#ppt_x"/>
                                          </p:val>
                                        </p:tav>
                                      </p:tavLst>
                                    </p:anim>
                                    <p:anim calcmode="lin" valueType="num">
                                      <p:cBhvr>
                                        <p:cTn id="183" dur="600" fill="hold"/>
                                        <p:tgtEl>
                                          <p:spTgt spid="38"/>
                                        </p:tgtEl>
                                        <p:attrNameLst>
                                          <p:attrName>ppt_y</p:attrName>
                                        </p:attrNameLst>
                                      </p:cBhvr>
                                      <p:tavLst>
                                        <p:tav tm="0">
                                          <p:val>
                                            <p:strVal val="#ppt_y+.05"/>
                                          </p:val>
                                        </p:tav>
                                        <p:tav tm="100000">
                                          <p:val>
                                            <p:strVal val="#ppt_y"/>
                                          </p:val>
                                        </p:tav>
                                      </p:tavLst>
                                    </p:anim>
                                  </p:childTnLst>
                                </p:cTn>
                              </p:par>
                              <p:par>
                                <p:cTn id="184" presetID="53" presetClass="entr" presetSubtype="16" fill="hold" grpId="0" nodeType="withEffect">
                                  <p:stCondLst>
                                    <p:cond delay="1200"/>
                                  </p:stCondLst>
                                  <p:childTnLst>
                                    <p:set>
                                      <p:cBhvr>
                                        <p:cTn id="185" dur="1" fill="hold">
                                          <p:stCondLst>
                                            <p:cond delay="0"/>
                                          </p:stCondLst>
                                        </p:cTn>
                                        <p:tgtEl>
                                          <p:spTgt spid="39"/>
                                        </p:tgtEl>
                                        <p:attrNameLst>
                                          <p:attrName>style.visibility</p:attrName>
                                        </p:attrNameLst>
                                      </p:cBhvr>
                                      <p:to>
                                        <p:strVal val="visible"/>
                                      </p:to>
                                    </p:set>
                                    <p:anim calcmode="lin" valueType="num">
                                      <p:cBhvr>
                                        <p:cTn id="186" dur="500" fill="hold"/>
                                        <p:tgtEl>
                                          <p:spTgt spid="39"/>
                                        </p:tgtEl>
                                        <p:attrNameLst>
                                          <p:attrName>ppt_w</p:attrName>
                                        </p:attrNameLst>
                                      </p:cBhvr>
                                      <p:tavLst>
                                        <p:tav tm="0">
                                          <p:val>
                                            <p:fltVal val="0"/>
                                          </p:val>
                                        </p:tav>
                                        <p:tav tm="100000">
                                          <p:val>
                                            <p:strVal val="#ppt_w"/>
                                          </p:val>
                                        </p:tav>
                                      </p:tavLst>
                                    </p:anim>
                                    <p:anim calcmode="lin" valueType="num">
                                      <p:cBhvr>
                                        <p:cTn id="187" dur="500" fill="hold"/>
                                        <p:tgtEl>
                                          <p:spTgt spid="39"/>
                                        </p:tgtEl>
                                        <p:attrNameLst>
                                          <p:attrName>ppt_h</p:attrName>
                                        </p:attrNameLst>
                                      </p:cBhvr>
                                      <p:tavLst>
                                        <p:tav tm="0">
                                          <p:val>
                                            <p:fltVal val="0"/>
                                          </p:val>
                                        </p:tav>
                                        <p:tav tm="100000">
                                          <p:val>
                                            <p:strVal val="#ppt_h"/>
                                          </p:val>
                                        </p:tav>
                                      </p:tavLst>
                                    </p:anim>
                                    <p:animEffect transition="in" filter="fade">
                                      <p:cBhvr>
                                        <p:cTn id="188" dur="500"/>
                                        <p:tgtEl>
                                          <p:spTgt spid="39"/>
                                        </p:tgtEl>
                                      </p:cBhvr>
                                    </p:animEffect>
                                  </p:childTnLst>
                                </p:cTn>
                              </p:par>
                              <p:par>
                                <p:cTn id="189" presetID="53" presetClass="entr" presetSubtype="16" fill="hold" grpId="0" nodeType="withEffect">
                                  <p:stCondLst>
                                    <p:cond delay="1200"/>
                                  </p:stCondLst>
                                  <p:childTnLst>
                                    <p:set>
                                      <p:cBhvr>
                                        <p:cTn id="190" dur="1" fill="hold">
                                          <p:stCondLst>
                                            <p:cond delay="0"/>
                                          </p:stCondLst>
                                        </p:cTn>
                                        <p:tgtEl>
                                          <p:spTgt spid="40"/>
                                        </p:tgtEl>
                                        <p:attrNameLst>
                                          <p:attrName>style.visibility</p:attrName>
                                        </p:attrNameLst>
                                      </p:cBhvr>
                                      <p:to>
                                        <p:strVal val="visible"/>
                                      </p:to>
                                    </p:set>
                                    <p:anim calcmode="lin" valueType="num">
                                      <p:cBhvr>
                                        <p:cTn id="191" dur="500" fill="hold"/>
                                        <p:tgtEl>
                                          <p:spTgt spid="40"/>
                                        </p:tgtEl>
                                        <p:attrNameLst>
                                          <p:attrName>ppt_w</p:attrName>
                                        </p:attrNameLst>
                                      </p:cBhvr>
                                      <p:tavLst>
                                        <p:tav tm="0">
                                          <p:val>
                                            <p:fltVal val="0"/>
                                          </p:val>
                                        </p:tav>
                                        <p:tav tm="100000">
                                          <p:val>
                                            <p:strVal val="#ppt_w"/>
                                          </p:val>
                                        </p:tav>
                                      </p:tavLst>
                                    </p:anim>
                                    <p:anim calcmode="lin" valueType="num">
                                      <p:cBhvr>
                                        <p:cTn id="192" dur="500" fill="hold"/>
                                        <p:tgtEl>
                                          <p:spTgt spid="40"/>
                                        </p:tgtEl>
                                        <p:attrNameLst>
                                          <p:attrName>ppt_h</p:attrName>
                                        </p:attrNameLst>
                                      </p:cBhvr>
                                      <p:tavLst>
                                        <p:tav tm="0">
                                          <p:val>
                                            <p:fltVal val="0"/>
                                          </p:val>
                                        </p:tav>
                                        <p:tav tm="100000">
                                          <p:val>
                                            <p:strVal val="#ppt_h"/>
                                          </p:val>
                                        </p:tav>
                                      </p:tavLst>
                                    </p:anim>
                                    <p:animEffect transition="in" filter="fade">
                                      <p:cBhvr>
                                        <p:cTn id="193" dur="500"/>
                                        <p:tgtEl>
                                          <p:spTgt spid="40"/>
                                        </p:tgtEl>
                                      </p:cBhvr>
                                    </p:animEffect>
                                  </p:childTnLst>
                                </p:cTn>
                              </p:par>
                              <p:par>
                                <p:cTn id="194" presetID="42" presetClass="entr" presetSubtype="0" fill="hold" grpId="0" nodeType="withEffect">
                                  <p:stCondLst>
                                    <p:cond delay="1200"/>
                                  </p:stCondLst>
                                  <p:childTnLst>
                                    <p:set>
                                      <p:cBhvr>
                                        <p:cTn id="195" dur="1" fill="hold">
                                          <p:stCondLst>
                                            <p:cond delay="0"/>
                                          </p:stCondLst>
                                        </p:cTn>
                                        <p:tgtEl>
                                          <p:spTgt spid="41"/>
                                        </p:tgtEl>
                                        <p:attrNameLst>
                                          <p:attrName>style.visibility</p:attrName>
                                        </p:attrNameLst>
                                      </p:cBhvr>
                                      <p:to>
                                        <p:strVal val="visible"/>
                                      </p:to>
                                    </p:set>
                                    <p:animEffect transition="in" filter="fade">
                                      <p:cBhvr>
                                        <p:cTn id="196" dur="600"/>
                                        <p:tgtEl>
                                          <p:spTgt spid="41"/>
                                        </p:tgtEl>
                                      </p:cBhvr>
                                    </p:animEffect>
                                    <p:anim calcmode="lin" valueType="num">
                                      <p:cBhvr>
                                        <p:cTn id="197" dur="600" fill="hold"/>
                                        <p:tgtEl>
                                          <p:spTgt spid="41"/>
                                        </p:tgtEl>
                                        <p:attrNameLst>
                                          <p:attrName>ppt_x</p:attrName>
                                        </p:attrNameLst>
                                      </p:cBhvr>
                                      <p:tavLst>
                                        <p:tav tm="0">
                                          <p:val>
                                            <p:strVal val="#ppt_x"/>
                                          </p:val>
                                        </p:tav>
                                        <p:tav tm="100000">
                                          <p:val>
                                            <p:strVal val="#ppt_x"/>
                                          </p:val>
                                        </p:tav>
                                      </p:tavLst>
                                    </p:anim>
                                    <p:anim calcmode="lin" valueType="num">
                                      <p:cBhvr>
                                        <p:cTn id="198" dur="600" fill="hold"/>
                                        <p:tgtEl>
                                          <p:spTgt spid="41"/>
                                        </p:tgtEl>
                                        <p:attrNameLst>
                                          <p:attrName>ppt_y</p:attrName>
                                        </p:attrNameLst>
                                      </p:cBhvr>
                                      <p:tavLst>
                                        <p:tav tm="0">
                                          <p:val>
                                            <p:strVal val="#ppt_y+.05"/>
                                          </p:val>
                                        </p:tav>
                                        <p:tav tm="100000">
                                          <p:val>
                                            <p:strVal val="#ppt_y"/>
                                          </p:val>
                                        </p:tav>
                                      </p:tavLst>
                                    </p:anim>
                                  </p:childTnLst>
                                </p:cTn>
                              </p:par>
                              <p:par>
                                <p:cTn id="199" presetID="42" presetClass="entr" presetSubtype="0" fill="hold" grpId="0" nodeType="withEffect">
                                  <p:stCondLst>
                                    <p:cond delay="1200"/>
                                  </p:stCondLst>
                                  <p:childTnLst>
                                    <p:set>
                                      <p:cBhvr>
                                        <p:cTn id="200" dur="1" fill="hold">
                                          <p:stCondLst>
                                            <p:cond delay="0"/>
                                          </p:stCondLst>
                                        </p:cTn>
                                        <p:tgtEl>
                                          <p:spTgt spid="42"/>
                                        </p:tgtEl>
                                        <p:attrNameLst>
                                          <p:attrName>style.visibility</p:attrName>
                                        </p:attrNameLst>
                                      </p:cBhvr>
                                      <p:to>
                                        <p:strVal val="visible"/>
                                      </p:to>
                                    </p:set>
                                    <p:animEffect transition="in" filter="fade">
                                      <p:cBhvr>
                                        <p:cTn id="201" dur="600"/>
                                        <p:tgtEl>
                                          <p:spTgt spid="42"/>
                                        </p:tgtEl>
                                      </p:cBhvr>
                                    </p:animEffect>
                                    <p:anim calcmode="lin" valueType="num">
                                      <p:cBhvr>
                                        <p:cTn id="202" dur="600" fill="hold"/>
                                        <p:tgtEl>
                                          <p:spTgt spid="42"/>
                                        </p:tgtEl>
                                        <p:attrNameLst>
                                          <p:attrName>ppt_x</p:attrName>
                                        </p:attrNameLst>
                                      </p:cBhvr>
                                      <p:tavLst>
                                        <p:tav tm="0">
                                          <p:val>
                                            <p:strVal val="#ppt_x"/>
                                          </p:val>
                                        </p:tav>
                                        <p:tav tm="100000">
                                          <p:val>
                                            <p:strVal val="#ppt_x"/>
                                          </p:val>
                                        </p:tav>
                                      </p:tavLst>
                                    </p:anim>
                                    <p:anim calcmode="lin" valueType="num">
                                      <p:cBhvr>
                                        <p:cTn id="203" dur="600" fill="hold"/>
                                        <p:tgtEl>
                                          <p:spTgt spid="42"/>
                                        </p:tgtEl>
                                        <p:attrNameLst>
                                          <p:attrName>ppt_y</p:attrName>
                                        </p:attrNameLst>
                                      </p:cBhvr>
                                      <p:tavLst>
                                        <p:tav tm="0">
                                          <p:val>
                                            <p:strVal val="#ppt_y+.05"/>
                                          </p:val>
                                        </p:tav>
                                        <p:tav tm="100000">
                                          <p:val>
                                            <p:strVal val="#ppt_y"/>
                                          </p:val>
                                        </p:tav>
                                      </p:tavLst>
                                    </p:anim>
                                  </p:childTnLst>
                                </p:cTn>
                              </p:par>
                              <p:par>
                                <p:cTn id="204" presetID="42" presetClass="entr" presetSubtype="0" fill="hold" grpId="0" nodeType="withEffect">
                                  <p:stCondLst>
                                    <p:cond delay="1400"/>
                                  </p:stCondLst>
                                  <p:childTnLst>
                                    <p:set>
                                      <p:cBhvr>
                                        <p:cTn id="205" dur="1" fill="hold">
                                          <p:stCondLst>
                                            <p:cond delay="0"/>
                                          </p:stCondLst>
                                        </p:cTn>
                                        <p:tgtEl>
                                          <p:spTgt spid="43"/>
                                        </p:tgtEl>
                                        <p:attrNameLst>
                                          <p:attrName>style.visibility</p:attrName>
                                        </p:attrNameLst>
                                      </p:cBhvr>
                                      <p:to>
                                        <p:strVal val="visible"/>
                                      </p:to>
                                    </p:set>
                                    <p:animEffect transition="in" filter="fade">
                                      <p:cBhvr>
                                        <p:cTn id="206" dur="600"/>
                                        <p:tgtEl>
                                          <p:spTgt spid="43"/>
                                        </p:tgtEl>
                                      </p:cBhvr>
                                    </p:animEffect>
                                    <p:anim calcmode="lin" valueType="num">
                                      <p:cBhvr>
                                        <p:cTn id="207" dur="600" fill="hold"/>
                                        <p:tgtEl>
                                          <p:spTgt spid="43"/>
                                        </p:tgtEl>
                                        <p:attrNameLst>
                                          <p:attrName>ppt_x</p:attrName>
                                        </p:attrNameLst>
                                      </p:cBhvr>
                                      <p:tavLst>
                                        <p:tav tm="0">
                                          <p:val>
                                            <p:strVal val="#ppt_x"/>
                                          </p:val>
                                        </p:tav>
                                        <p:tav tm="100000">
                                          <p:val>
                                            <p:strVal val="#ppt_x"/>
                                          </p:val>
                                        </p:tav>
                                      </p:tavLst>
                                    </p:anim>
                                    <p:anim calcmode="lin" valueType="num">
                                      <p:cBhvr>
                                        <p:cTn id="208" dur="600" fill="hold"/>
                                        <p:tgtEl>
                                          <p:spTgt spid="43"/>
                                        </p:tgtEl>
                                        <p:attrNameLst>
                                          <p:attrName>ppt_y</p:attrName>
                                        </p:attrNameLst>
                                      </p:cBhvr>
                                      <p:tavLst>
                                        <p:tav tm="0">
                                          <p:val>
                                            <p:strVal val="#ppt_y+.05"/>
                                          </p:val>
                                        </p:tav>
                                        <p:tav tm="100000">
                                          <p:val>
                                            <p:strVal val="#ppt_y"/>
                                          </p:val>
                                        </p:tav>
                                      </p:tavLst>
                                    </p:anim>
                                  </p:childTnLst>
                                </p:cTn>
                              </p:par>
                              <p:par>
                                <p:cTn id="209" presetID="53" presetClass="entr" presetSubtype="16" fill="hold" grpId="0" nodeType="withEffect">
                                  <p:stCondLst>
                                    <p:cond delay="1400"/>
                                  </p:stCondLst>
                                  <p:childTnLst>
                                    <p:set>
                                      <p:cBhvr>
                                        <p:cTn id="210" dur="1" fill="hold">
                                          <p:stCondLst>
                                            <p:cond delay="0"/>
                                          </p:stCondLst>
                                        </p:cTn>
                                        <p:tgtEl>
                                          <p:spTgt spid="44"/>
                                        </p:tgtEl>
                                        <p:attrNameLst>
                                          <p:attrName>style.visibility</p:attrName>
                                        </p:attrNameLst>
                                      </p:cBhvr>
                                      <p:to>
                                        <p:strVal val="visible"/>
                                      </p:to>
                                    </p:set>
                                    <p:anim calcmode="lin" valueType="num">
                                      <p:cBhvr>
                                        <p:cTn id="211" dur="500" fill="hold"/>
                                        <p:tgtEl>
                                          <p:spTgt spid="44"/>
                                        </p:tgtEl>
                                        <p:attrNameLst>
                                          <p:attrName>ppt_w</p:attrName>
                                        </p:attrNameLst>
                                      </p:cBhvr>
                                      <p:tavLst>
                                        <p:tav tm="0">
                                          <p:val>
                                            <p:fltVal val="0"/>
                                          </p:val>
                                        </p:tav>
                                        <p:tav tm="100000">
                                          <p:val>
                                            <p:strVal val="#ppt_w"/>
                                          </p:val>
                                        </p:tav>
                                      </p:tavLst>
                                    </p:anim>
                                    <p:anim calcmode="lin" valueType="num">
                                      <p:cBhvr>
                                        <p:cTn id="212" dur="500" fill="hold"/>
                                        <p:tgtEl>
                                          <p:spTgt spid="44"/>
                                        </p:tgtEl>
                                        <p:attrNameLst>
                                          <p:attrName>ppt_h</p:attrName>
                                        </p:attrNameLst>
                                      </p:cBhvr>
                                      <p:tavLst>
                                        <p:tav tm="0">
                                          <p:val>
                                            <p:fltVal val="0"/>
                                          </p:val>
                                        </p:tav>
                                        <p:tav tm="100000">
                                          <p:val>
                                            <p:strVal val="#ppt_h"/>
                                          </p:val>
                                        </p:tav>
                                      </p:tavLst>
                                    </p:anim>
                                    <p:animEffect transition="in" filter="fade">
                                      <p:cBhvr>
                                        <p:cTn id="213" dur="500"/>
                                        <p:tgtEl>
                                          <p:spTgt spid="44"/>
                                        </p:tgtEl>
                                      </p:cBhvr>
                                    </p:animEffect>
                                  </p:childTnLst>
                                </p:cTn>
                              </p:par>
                              <p:par>
                                <p:cTn id="214" presetID="53" presetClass="entr" presetSubtype="16" fill="hold" grpId="0" nodeType="withEffect">
                                  <p:stCondLst>
                                    <p:cond delay="1400"/>
                                  </p:stCondLst>
                                  <p:childTnLst>
                                    <p:set>
                                      <p:cBhvr>
                                        <p:cTn id="215" dur="1" fill="hold">
                                          <p:stCondLst>
                                            <p:cond delay="0"/>
                                          </p:stCondLst>
                                        </p:cTn>
                                        <p:tgtEl>
                                          <p:spTgt spid="45"/>
                                        </p:tgtEl>
                                        <p:attrNameLst>
                                          <p:attrName>style.visibility</p:attrName>
                                        </p:attrNameLst>
                                      </p:cBhvr>
                                      <p:to>
                                        <p:strVal val="visible"/>
                                      </p:to>
                                    </p:set>
                                    <p:anim calcmode="lin" valueType="num">
                                      <p:cBhvr>
                                        <p:cTn id="216" dur="500" fill="hold"/>
                                        <p:tgtEl>
                                          <p:spTgt spid="45"/>
                                        </p:tgtEl>
                                        <p:attrNameLst>
                                          <p:attrName>ppt_w</p:attrName>
                                        </p:attrNameLst>
                                      </p:cBhvr>
                                      <p:tavLst>
                                        <p:tav tm="0">
                                          <p:val>
                                            <p:fltVal val="0"/>
                                          </p:val>
                                        </p:tav>
                                        <p:tav tm="100000">
                                          <p:val>
                                            <p:strVal val="#ppt_w"/>
                                          </p:val>
                                        </p:tav>
                                      </p:tavLst>
                                    </p:anim>
                                    <p:anim calcmode="lin" valueType="num">
                                      <p:cBhvr>
                                        <p:cTn id="217" dur="500" fill="hold"/>
                                        <p:tgtEl>
                                          <p:spTgt spid="45"/>
                                        </p:tgtEl>
                                        <p:attrNameLst>
                                          <p:attrName>ppt_h</p:attrName>
                                        </p:attrNameLst>
                                      </p:cBhvr>
                                      <p:tavLst>
                                        <p:tav tm="0">
                                          <p:val>
                                            <p:fltVal val="0"/>
                                          </p:val>
                                        </p:tav>
                                        <p:tav tm="100000">
                                          <p:val>
                                            <p:strVal val="#ppt_h"/>
                                          </p:val>
                                        </p:tav>
                                      </p:tavLst>
                                    </p:anim>
                                    <p:animEffect transition="in" filter="fade">
                                      <p:cBhvr>
                                        <p:cTn id="218" dur="500"/>
                                        <p:tgtEl>
                                          <p:spTgt spid="45"/>
                                        </p:tgtEl>
                                      </p:cBhvr>
                                    </p:animEffect>
                                  </p:childTnLst>
                                </p:cTn>
                              </p:par>
                              <p:par>
                                <p:cTn id="219" presetID="42" presetClass="entr" presetSubtype="0" fill="hold" grpId="0" nodeType="withEffect">
                                  <p:stCondLst>
                                    <p:cond delay="1400"/>
                                  </p:stCondLst>
                                  <p:childTnLst>
                                    <p:set>
                                      <p:cBhvr>
                                        <p:cTn id="220" dur="1" fill="hold">
                                          <p:stCondLst>
                                            <p:cond delay="0"/>
                                          </p:stCondLst>
                                        </p:cTn>
                                        <p:tgtEl>
                                          <p:spTgt spid="46"/>
                                        </p:tgtEl>
                                        <p:attrNameLst>
                                          <p:attrName>style.visibility</p:attrName>
                                        </p:attrNameLst>
                                      </p:cBhvr>
                                      <p:to>
                                        <p:strVal val="visible"/>
                                      </p:to>
                                    </p:set>
                                    <p:animEffect transition="in" filter="fade">
                                      <p:cBhvr>
                                        <p:cTn id="221" dur="600"/>
                                        <p:tgtEl>
                                          <p:spTgt spid="46"/>
                                        </p:tgtEl>
                                      </p:cBhvr>
                                    </p:animEffect>
                                    <p:anim calcmode="lin" valueType="num">
                                      <p:cBhvr>
                                        <p:cTn id="222" dur="600" fill="hold"/>
                                        <p:tgtEl>
                                          <p:spTgt spid="46"/>
                                        </p:tgtEl>
                                        <p:attrNameLst>
                                          <p:attrName>ppt_x</p:attrName>
                                        </p:attrNameLst>
                                      </p:cBhvr>
                                      <p:tavLst>
                                        <p:tav tm="0">
                                          <p:val>
                                            <p:strVal val="#ppt_x"/>
                                          </p:val>
                                        </p:tav>
                                        <p:tav tm="100000">
                                          <p:val>
                                            <p:strVal val="#ppt_x"/>
                                          </p:val>
                                        </p:tav>
                                      </p:tavLst>
                                    </p:anim>
                                    <p:anim calcmode="lin" valueType="num">
                                      <p:cBhvr>
                                        <p:cTn id="223" dur="600" fill="hold"/>
                                        <p:tgtEl>
                                          <p:spTgt spid="46"/>
                                        </p:tgtEl>
                                        <p:attrNameLst>
                                          <p:attrName>ppt_y</p:attrName>
                                        </p:attrNameLst>
                                      </p:cBhvr>
                                      <p:tavLst>
                                        <p:tav tm="0">
                                          <p:val>
                                            <p:strVal val="#ppt_y+.05"/>
                                          </p:val>
                                        </p:tav>
                                        <p:tav tm="100000">
                                          <p:val>
                                            <p:strVal val="#ppt_y"/>
                                          </p:val>
                                        </p:tav>
                                      </p:tavLst>
                                    </p:anim>
                                  </p:childTnLst>
                                </p:cTn>
                              </p:par>
                              <p:par>
                                <p:cTn id="224" presetID="42" presetClass="entr" presetSubtype="0" fill="hold" grpId="0" nodeType="withEffect">
                                  <p:stCondLst>
                                    <p:cond delay="1400"/>
                                  </p:stCondLst>
                                  <p:childTnLst>
                                    <p:set>
                                      <p:cBhvr>
                                        <p:cTn id="225" dur="1" fill="hold">
                                          <p:stCondLst>
                                            <p:cond delay="0"/>
                                          </p:stCondLst>
                                        </p:cTn>
                                        <p:tgtEl>
                                          <p:spTgt spid="47"/>
                                        </p:tgtEl>
                                        <p:attrNameLst>
                                          <p:attrName>style.visibility</p:attrName>
                                        </p:attrNameLst>
                                      </p:cBhvr>
                                      <p:to>
                                        <p:strVal val="visible"/>
                                      </p:to>
                                    </p:set>
                                    <p:animEffect transition="in" filter="fade">
                                      <p:cBhvr>
                                        <p:cTn id="226" dur="600"/>
                                        <p:tgtEl>
                                          <p:spTgt spid="47"/>
                                        </p:tgtEl>
                                      </p:cBhvr>
                                    </p:animEffect>
                                    <p:anim calcmode="lin" valueType="num">
                                      <p:cBhvr>
                                        <p:cTn id="227" dur="600" fill="hold"/>
                                        <p:tgtEl>
                                          <p:spTgt spid="47"/>
                                        </p:tgtEl>
                                        <p:attrNameLst>
                                          <p:attrName>ppt_x</p:attrName>
                                        </p:attrNameLst>
                                      </p:cBhvr>
                                      <p:tavLst>
                                        <p:tav tm="0">
                                          <p:val>
                                            <p:strVal val="#ppt_x"/>
                                          </p:val>
                                        </p:tav>
                                        <p:tav tm="100000">
                                          <p:val>
                                            <p:strVal val="#ppt_x"/>
                                          </p:val>
                                        </p:tav>
                                      </p:tavLst>
                                    </p:anim>
                                    <p:anim calcmode="lin" valueType="num">
                                      <p:cBhvr>
                                        <p:cTn id="228" dur="600" fill="hold"/>
                                        <p:tgtEl>
                                          <p:spTgt spid="47"/>
                                        </p:tgtEl>
                                        <p:attrNameLst>
                                          <p:attrName>ppt_y</p:attrName>
                                        </p:attrNameLst>
                                      </p:cBhvr>
                                      <p:tavLst>
                                        <p:tav tm="0">
                                          <p:val>
                                            <p:strVal val="#ppt_y+.05"/>
                                          </p:val>
                                        </p:tav>
                                        <p:tav tm="100000">
                                          <p:val>
                                            <p:strVal val="#ppt_y"/>
                                          </p:val>
                                        </p:tav>
                                      </p:tavLst>
                                    </p:anim>
                                  </p:childTnLst>
                                </p:cTn>
                              </p:par>
                              <p:par>
                                <p:cTn id="229" presetID="42" presetClass="entr" presetSubtype="0" fill="hold" grpId="0" nodeType="withEffect">
                                  <p:stCondLst>
                                    <p:cond delay="1600"/>
                                  </p:stCondLst>
                                  <p:childTnLst>
                                    <p:set>
                                      <p:cBhvr>
                                        <p:cTn id="230" dur="1" fill="hold">
                                          <p:stCondLst>
                                            <p:cond delay="0"/>
                                          </p:stCondLst>
                                        </p:cTn>
                                        <p:tgtEl>
                                          <p:spTgt spid="48"/>
                                        </p:tgtEl>
                                        <p:attrNameLst>
                                          <p:attrName>style.visibility</p:attrName>
                                        </p:attrNameLst>
                                      </p:cBhvr>
                                      <p:to>
                                        <p:strVal val="visible"/>
                                      </p:to>
                                    </p:set>
                                    <p:animEffect transition="in" filter="fade">
                                      <p:cBhvr>
                                        <p:cTn id="231" dur="600"/>
                                        <p:tgtEl>
                                          <p:spTgt spid="48"/>
                                        </p:tgtEl>
                                      </p:cBhvr>
                                    </p:animEffect>
                                    <p:anim calcmode="lin" valueType="num">
                                      <p:cBhvr>
                                        <p:cTn id="232" dur="600" fill="hold"/>
                                        <p:tgtEl>
                                          <p:spTgt spid="48"/>
                                        </p:tgtEl>
                                        <p:attrNameLst>
                                          <p:attrName>ppt_x</p:attrName>
                                        </p:attrNameLst>
                                      </p:cBhvr>
                                      <p:tavLst>
                                        <p:tav tm="0">
                                          <p:val>
                                            <p:strVal val="#ppt_x"/>
                                          </p:val>
                                        </p:tav>
                                        <p:tav tm="100000">
                                          <p:val>
                                            <p:strVal val="#ppt_x"/>
                                          </p:val>
                                        </p:tav>
                                      </p:tavLst>
                                    </p:anim>
                                    <p:anim calcmode="lin" valueType="num">
                                      <p:cBhvr>
                                        <p:cTn id="233" dur="600" fill="hold"/>
                                        <p:tgtEl>
                                          <p:spTgt spid="48"/>
                                        </p:tgtEl>
                                        <p:attrNameLst>
                                          <p:attrName>ppt_y</p:attrName>
                                        </p:attrNameLst>
                                      </p:cBhvr>
                                      <p:tavLst>
                                        <p:tav tm="0">
                                          <p:val>
                                            <p:strVal val="#ppt_y+.05"/>
                                          </p:val>
                                        </p:tav>
                                        <p:tav tm="100000">
                                          <p:val>
                                            <p:strVal val="#ppt_y"/>
                                          </p:val>
                                        </p:tav>
                                      </p:tavLst>
                                    </p:anim>
                                  </p:childTnLst>
                                </p:cTn>
                              </p:par>
                              <p:par>
                                <p:cTn id="234" presetID="53" presetClass="entr" presetSubtype="16" fill="hold" grpId="0" nodeType="withEffect">
                                  <p:stCondLst>
                                    <p:cond delay="1600"/>
                                  </p:stCondLst>
                                  <p:childTnLst>
                                    <p:set>
                                      <p:cBhvr>
                                        <p:cTn id="235" dur="1" fill="hold">
                                          <p:stCondLst>
                                            <p:cond delay="0"/>
                                          </p:stCondLst>
                                        </p:cTn>
                                        <p:tgtEl>
                                          <p:spTgt spid="49"/>
                                        </p:tgtEl>
                                        <p:attrNameLst>
                                          <p:attrName>style.visibility</p:attrName>
                                        </p:attrNameLst>
                                      </p:cBhvr>
                                      <p:to>
                                        <p:strVal val="visible"/>
                                      </p:to>
                                    </p:set>
                                    <p:anim calcmode="lin" valueType="num">
                                      <p:cBhvr>
                                        <p:cTn id="236" dur="500" fill="hold"/>
                                        <p:tgtEl>
                                          <p:spTgt spid="49"/>
                                        </p:tgtEl>
                                        <p:attrNameLst>
                                          <p:attrName>ppt_w</p:attrName>
                                        </p:attrNameLst>
                                      </p:cBhvr>
                                      <p:tavLst>
                                        <p:tav tm="0">
                                          <p:val>
                                            <p:fltVal val="0"/>
                                          </p:val>
                                        </p:tav>
                                        <p:tav tm="100000">
                                          <p:val>
                                            <p:strVal val="#ppt_w"/>
                                          </p:val>
                                        </p:tav>
                                      </p:tavLst>
                                    </p:anim>
                                    <p:anim calcmode="lin" valueType="num">
                                      <p:cBhvr>
                                        <p:cTn id="237" dur="500" fill="hold"/>
                                        <p:tgtEl>
                                          <p:spTgt spid="49"/>
                                        </p:tgtEl>
                                        <p:attrNameLst>
                                          <p:attrName>ppt_h</p:attrName>
                                        </p:attrNameLst>
                                      </p:cBhvr>
                                      <p:tavLst>
                                        <p:tav tm="0">
                                          <p:val>
                                            <p:fltVal val="0"/>
                                          </p:val>
                                        </p:tav>
                                        <p:tav tm="100000">
                                          <p:val>
                                            <p:strVal val="#ppt_h"/>
                                          </p:val>
                                        </p:tav>
                                      </p:tavLst>
                                    </p:anim>
                                    <p:animEffect transition="in" filter="fade">
                                      <p:cBhvr>
                                        <p:cTn id="238" dur="500"/>
                                        <p:tgtEl>
                                          <p:spTgt spid="49"/>
                                        </p:tgtEl>
                                      </p:cBhvr>
                                    </p:animEffect>
                                  </p:childTnLst>
                                </p:cTn>
                              </p:par>
                              <p:par>
                                <p:cTn id="239" presetID="53" presetClass="entr" presetSubtype="16" fill="hold" grpId="0" nodeType="withEffect">
                                  <p:stCondLst>
                                    <p:cond delay="1600"/>
                                  </p:stCondLst>
                                  <p:childTnLst>
                                    <p:set>
                                      <p:cBhvr>
                                        <p:cTn id="240" dur="1" fill="hold">
                                          <p:stCondLst>
                                            <p:cond delay="0"/>
                                          </p:stCondLst>
                                        </p:cTn>
                                        <p:tgtEl>
                                          <p:spTgt spid="50"/>
                                        </p:tgtEl>
                                        <p:attrNameLst>
                                          <p:attrName>style.visibility</p:attrName>
                                        </p:attrNameLst>
                                      </p:cBhvr>
                                      <p:to>
                                        <p:strVal val="visible"/>
                                      </p:to>
                                    </p:set>
                                    <p:anim calcmode="lin" valueType="num">
                                      <p:cBhvr>
                                        <p:cTn id="241" dur="500" fill="hold"/>
                                        <p:tgtEl>
                                          <p:spTgt spid="50"/>
                                        </p:tgtEl>
                                        <p:attrNameLst>
                                          <p:attrName>ppt_w</p:attrName>
                                        </p:attrNameLst>
                                      </p:cBhvr>
                                      <p:tavLst>
                                        <p:tav tm="0">
                                          <p:val>
                                            <p:fltVal val="0"/>
                                          </p:val>
                                        </p:tav>
                                        <p:tav tm="100000">
                                          <p:val>
                                            <p:strVal val="#ppt_w"/>
                                          </p:val>
                                        </p:tav>
                                      </p:tavLst>
                                    </p:anim>
                                    <p:anim calcmode="lin" valueType="num">
                                      <p:cBhvr>
                                        <p:cTn id="242" dur="500" fill="hold"/>
                                        <p:tgtEl>
                                          <p:spTgt spid="50"/>
                                        </p:tgtEl>
                                        <p:attrNameLst>
                                          <p:attrName>ppt_h</p:attrName>
                                        </p:attrNameLst>
                                      </p:cBhvr>
                                      <p:tavLst>
                                        <p:tav tm="0">
                                          <p:val>
                                            <p:fltVal val="0"/>
                                          </p:val>
                                        </p:tav>
                                        <p:tav tm="100000">
                                          <p:val>
                                            <p:strVal val="#ppt_h"/>
                                          </p:val>
                                        </p:tav>
                                      </p:tavLst>
                                    </p:anim>
                                    <p:animEffect transition="in" filter="fade">
                                      <p:cBhvr>
                                        <p:cTn id="243" dur="500"/>
                                        <p:tgtEl>
                                          <p:spTgt spid="50"/>
                                        </p:tgtEl>
                                      </p:cBhvr>
                                    </p:animEffect>
                                  </p:childTnLst>
                                </p:cTn>
                              </p:par>
                              <p:par>
                                <p:cTn id="244" presetID="42" presetClass="entr" presetSubtype="0" fill="hold" grpId="0" nodeType="withEffect">
                                  <p:stCondLst>
                                    <p:cond delay="1600"/>
                                  </p:stCondLst>
                                  <p:childTnLst>
                                    <p:set>
                                      <p:cBhvr>
                                        <p:cTn id="245" dur="1" fill="hold">
                                          <p:stCondLst>
                                            <p:cond delay="0"/>
                                          </p:stCondLst>
                                        </p:cTn>
                                        <p:tgtEl>
                                          <p:spTgt spid="51"/>
                                        </p:tgtEl>
                                        <p:attrNameLst>
                                          <p:attrName>style.visibility</p:attrName>
                                        </p:attrNameLst>
                                      </p:cBhvr>
                                      <p:to>
                                        <p:strVal val="visible"/>
                                      </p:to>
                                    </p:set>
                                    <p:animEffect transition="in" filter="fade">
                                      <p:cBhvr>
                                        <p:cTn id="246" dur="600"/>
                                        <p:tgtEl>
                                          <p:spTgt spid="51"/>
                                        </p:tgtEl>
                                      </p:cBhvr>
                                    </p:animEffect>
                                    <p:anim calcmode="lin" valueType="num">
                                      <p:cBhvr>
                                        <p:cTn id="247" dur="600" fill="hold"/>
                                        <p:tgtEl>
                                          <p:spTgt spid="51"/>
                                        </p:tgtEl>
                                        <p:attrNameLst>
                                          <p:attrName>ppt_x</p:attrName>
                                        </p:attrNameLst>
                                      </p:cBhvr>
                                      <p:tavLst>
                                        <p:tav tm="0">
                                          <p:val>
                                            <p:strVal val="#ppt_x"/>
                                          </p:val>
                                        </p:tav>
                                        <p:tav tm="100000">
                                          <p:val>
                                            <p:strVal val="#ppt_x"/>
                                          </p:val>
                                        </p:tav>
                                      </p:tavLst>
                                    </p:anim>
                                    <p:anim calcmode="lin" valueType="num">
                                      <p:cBhvr>
                                        <p:cTn id="248" dur="600" fill="hold"/>
                                        <p:tgtEl>
                                          <p:spTgt spid="51"/>
                                        </p:tgtEl>
                                        <p:attrNameLst>
                                          <p:attrName>ppt_y</p:attrName>
                                        </p:attrNameLst>
                                      </p:cBhvr>
                                      <p:tavLst>
                                        <p:tav tm="0">
                                          <p:val>
                                            <p:strVal val="#ppt_y+.05"/>
                                          </p:val>
                                        </p:tav>
                                        <p:tav tm="100000">
                                          <p:val>
                                            <p:strVal val="#ppt_y"/>
                                          </p:val>
                                        </p:tav>
                                      </p:tavLst>
                                    </p:anim>
                                  </p:childTnLst>
                                </p:cTn>
                              </p:par>
                              <p:par>
                                <p:cTn id="249" presetID="42" presetClass="entr" presetSubtype="0" fill="hold" grpId="0" nodeType="withEffect">
                                  <p:stCondLst>
                                    <p:cond delay="1600"/>
                                  </p:stCondLst>
                                  <p:childTnLst>
                                    <p:set>
                                      <p:cBhvr>
                                        <p:cTn id="250" dur="1" fill="hold">
                                          <p:stCondLst>
                                            <p:cond delay="0"/>
                                          </p:stCondLst>
                                        </p:cTn>
                                        <p:tgtEl>
                                          <p:spTgt spid="52"/>
                                        </p:tgtEl>
                                        <p:attrNameLst>
                                          <p:attrName>style.visibility</p:attrName>
                                        </p:attrNameLst>
                                      </p:cBhvr>
                                      <p:to>
                                        <p:strVal val="visible"/>
                                      </p:to>
                                    </p:set>
                                    <p:animEffect transition="in" filter="fade">
                                      <p:cBhvr>
                                        <p:cTn id="251" dur="600"/>
                                        <p:tgtEl>
                                          <p:spTgt spid="52"/>
                                        </p:tgtEl>
                                      </p:cBhvr>
                                    </p:animEffect>
                                    <p:anim calcmode="lin" valueType="num">
                                      <p:cBhvr>
                                        <p:cTn id="252" dur="600" fill="hold"/>
                                        <p:tgtEl>
                                          <p:spTgt spid="52"/>
                                        </p:tgtEl>
                                        <p:attrNameLst>
                                          <p:attrName>ppt_x</p:attrName>
                                        </p:attrNameLst>
                                      </p:cBhvr>
                                      <p:tavLst>
                                        <p:tav tm="0">
                                          <p:val>
                                            <p:strVal val="#ppt_x"/>
                                          </p:val>
                                        </p:tav>
                                        <p:tav tm="100000">
                                          <p:val>
                                            <p:strVal val="#ppt_x"/>
                                          </p:val>
                                        </p:tav>
                                      </p:tavLst>
                                    </p:anim>
                                    <p:anim calcmode="lin" valueType="num">
                                      <p:cBhvr>
                                        <p:cTn id="253" dur="600" fill="hold"/>
                                        <p:tgtEl>
                                          <p:spTgt spid="52"/>
                                        </p:tgtEl>
                                        <p:attrNameLst>
                                          <p:attrName>ppt_y</p:attrName>
                                        </p:attrNameLst>
                                      </p:cBhvr>
                                      <p:tavLst>
                                        <p:tav tm="0">
                                          <p:val>
                                            <p:strVal val="#ppt_y+.05"/>
                                          </p:val>
                                        </p:tav>
                                        <p:tav tm="100000">
                                          <p:val>
                                            <p:strVal val="#ppt_y"/>
                                          </p:val>
                                        </p:tav>
                                      </p:tavLst>
                                    </p:anim>
                                  </p:childTnLst>
                                </p:cTn>
                              </p:par>
                              <p:par>
                                <p:cTn id="254" presetID="42" presetClass="entr" presetSubtype="0" fill="hold" grpId="0" nodeType="withEffect">
                                  <p:stCondLst>
                                    <p:cond delay="1800"/>
                                  </p:stCondLst>
                                  <p:childTnLst>
                                    <p:set>
                                      <p:cBhvr>
                                        <p:cTn id="255" dur="1" fill="hold">
                                          <p:stCondLst>
                                            <p:cond delay="0"/>
                                          </p:stCondLst>
                                        </p:cTn>
                                        <p:tgtEl>
                                          <p:spTgt spid="53"/>
                                        </p:tgtEl>
                                        <p:attrNameLst>
                                          <p:attrName>style.visibility</p:attrName>
                                        </p:attrNameLst>
                                      </p:cBhvr>
                                      <p:to>
                                        <p:strVal val="visible"/>
                                      </p:to>
                                    </p:set>
                                    <p:animEffect transition="in" filter="fade">
                                      <p:cBhvr>
                                        <p:cTn id="256" dur="600"/>
                                        <p:tgtEl>
                                          <p:spTgt spid="53"/>
                                        </p:tgtEl>
                                      </p:cBhvr>
                                    </p:animEffect>
                                    <p:anim calcmode="lin" valueType="num">
                                      <p:cBhvr>
                                        <p:cTn id="257" dur="600" fill="hold"/>
                                        <p:tgtEl>
                                          <p:spTgt spid="53"/>
                                        </p:tgtEl>
                                        <p:attrNameLst>
                                          <p:attrName>ppt_x</p:attrName>
                                        </p:attrNameLst>
                                      </p:cBhvr>
                                      <p:tavLst>
                                        <p:tav tm="0">
                                          <p:val>
                                            <p:strVal val="#ppt_x"/>
                                          </p:val>
                                        </p:tav>
                                        <p:tav tm="100000">
                                          <p:val>
                                            <p:strVal val="#ppt_x"/>
                                          </p:val>
                                        </p:tav>
                                      </p:tavLst>
                                    </p:anim>
                                    <p:anim calcmode="lin" valueType="num">
                                      <p:cBhvr>
                                        <p:cTn id="258" dur="600" fill="hold"/>
                                        <p:tgtEl>
                                          <p:spTgt spid="53"/>
                                        </p:tgtEl>
                                        <p:attrNameLst>
                                          <p:attrName>ppt_y</p:attrName>
                                        </p:attrNameLst>
                                      </p:cBhvr>
                                      <p:tavLst>
                                        <p:tav tm="0">
                                          <p:val>
                                            <p:strVal val="#ppt_y+.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6" grpId="0" animBg="1"/>
      <p:bldP spid="17" grpId="0" animBg="1"/>
      <p:bldP spid="18" grpId="0" animBg="1"/>
      <p:bldP spid="19" grpId="0" animBg="1"/>
      <p:bldP spid="21" grpId="0" animBg="1"/>
      <p:bldP spid="22" grpId="0" animBg="1"/>
      <p:bldP spid="23" grpId="0" animBg="1"/>
      <p:bldP spid="24" grpId="0" animBg="1"/>
      <p:bldP spid="26" grpId="0" animBg="1"/>
      <p:bldP spid="27" grpId="0" animBg="1"/>
      <p:bldP spid="28" grpId="0" animBg="1"/>
      <p:bldP spid="29" grpId="0" animBg="1"/>
      <p:bldP spid="31" grpId="0" animBg="1"/>
      <p:bldP spid="32" grpId="0" animBg="1"/>
      <p:bldP spid="33" grpId="0" animBg="1"/>
      <p:bldP spid="34" grpId="0" animBg="1"/>
      <p:bldP spid="36" grpId="0" animBg="1"/>
      <p:bldP spid="37" grpId="0" animBg="1"/>
      <p:bldP spid="38" grpId="0" animBg="1"/>
      <p:bldP spid="39" grpId="0" animBg="1"/>
      <p:bldP spid="41" grpId="0" animBg="1"/>
      <p:bldP spid="42" grpId="0" animBg="1"/>
      <p:bldP spid="43" grpId="0" animBg="1"/>
      <p:bldP spid="44" grpId="0" animBg="1"/>
      <p:bldP spid="46" grpId="0" animBg="1"/>
      <p:bldP spid="47" grpId="0" animBg="1"/>
      <p:bldP spid="48" grpId="0" animBg="1"/>
      <p:bldP spid="49" grpId="0" animBg="1"/>
      <p:bldP spid="51" grpId="0" animBg="1"/>
      <p:bldP spid="52" grpId="0" animBg="1"/>
      <p:bldP spid="5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chip"/>
          <p:cNvSpPr/>
          <p:nvPr/>
        </p:nvSpPr>
        <p:spPr>
          <a:xfrm>
            <a:off x="548640" y="237744"/>
            <a:ext cx="1965960" cy="274320"/>
          </a:xfrm>
          <a:prstGeom prst="roundRect">
            <a:avLst>
              <a:gd name="adj" fmla="val 50000"/>
            </a:avLst>
          </a:prstGeom>
          <a:solidFill>
            <a:schemeClr val="accent2"/>
          </a:solidFill>
          <a:ln/>
        </p:spPr>
        <p:txBody>
          <a:bodyPr wrap="square" lIns="0" tIns="0" rIns="0" bIns="0" rtlCol="0" anchor="ctr"/>
          <a:lstStyle/>
          <a:p>
            <a:pPr algn="ctr" indent="0" marL="0">
              <a:buNone/>
            </a:pPr>
            <a:r>
              <a:rPr lang="en-US" sz="1050" b="1" spc="150" kern="0" dirty="0">
                <a:solidFill>
                  <a:schemeClr val="bg1"/>
                </a:solidFill>
              </a:rPr>
              <a:t>TPM · IMPLEMENTATION</a:t>
            </a:r>
            <a:endParaRPr lang="en-US" sz="1050" dirty="0"/>
          </a:p>
        </p:txBody>
      </p:sp>
      <p:sp>
        <p:nvSpPr>
          <p:cNvPr id="3" name="Text 0"/>
          <p:cNvSpPr/>
          <p:nvPr>
            <p:ph idx="100" type="title" hasCustomPrompt="1"/>
          </p:nvPr>
        </p:nvSpPr>
        <p:spPr>
          <a:xfrm>
            <a:off x="548640" y="566928"/>
            <a:ext cx="11094415" cy="731520"/>
          </a:xfrm>
          <a:prstGeom prst="rect">
            <a:avLst/>
          </a:prstGeom>
          <a:noFill/>
          <a:ln/>
        </p:spPr>
        <p:txBody>
          <a:bodyPr wrap="square" lIns="0" tIns="0" rIns="0" bIns="0" rtlCol="0" anchor="ctr"/>
          <a:lstStyle/>
          <a:p>
            <a:pPr algn="l" indent="0" marL="0">
              <a:buNone/>
            </a:pPr>
            <a:r>
              <a:rPr lang="en-US" sz="3400" b="1" dirty="0">
                <a:solidFill>
                  <a:schemeClr val="tx1"/>
                </a:solidFill>
              </a:rPr>
              <a:t>TPM: implementation steps</a:t>
            </a:r>
            <a:endParaRPr lang="en-US" sz="3400" dirty="0"/>
          </a:p>
        </p:txBody>
      </p:sp>
      <p:pic>
        <p:nvPicPr>
          <p:cNvPr id="4" name="render3d_gears" descr="3D illustration of three interlocking gears and a wrench">    </p:cNvPr>
          <p:cNvPicPr>
            <a:picLocks noChangeAspect="1"/>
          </p:cNvPicPr>
          <p:nvPr/>
        </p:nvPicPr>
        <p:blipFill>
          <a:blip r:embed="rId1"/>
          <a:stretch>
            <a:fillRect/>
          </a:stretch>
        </p:blipFill>
        <p:spPr>
          <a:xfrm>
            <a:off x="7635240" y="1965960"/>
            <a:ext cx="4007815" cy="2940611"/>
          </a:xfrm>
          <a:prstGeom prst="rect">
            <a:avLst/>
          </a:prstGeom>
        </p:spPr>
      </p:pic>
      <p:sp>
        <p:nvSpPr>
          <p:cNvPr id="5" name="text"/>
          <p:cNvSpPr txBox="1"/>
          <p:nvPr/>
        </p:nvSpPr>
        <p:spPr>
          <a:xfrm>
            <a:off x="7635240" y="5120640"/>
            <a:ext cx="4007815" cy="640080"/>
          </a:xfrm>
          <a:prstGeom prst="rect">
            <a:avLst/>
          </a:prstGeom>
          <a:noFill/>
          <a:ln/>
        </p:spPr>
        <p:txBody>
          <a:bodyPr wrap="square" lIns="0" tIns="0" rIns="0" bIns="0" rtlCol="0" anchor="t"/>
          <a:lstStyle/>
          <a:p>
            <a:pPr indent="0" marL="0">
              <a:buNone/>
            </a:pPr>
            <a:r>
              <a:rPr lang="en-US" sz="1400" dirty="0">
                <a:solidFill>
                  <a:schemeClr val="tx2"/>
                </a:solidFill>
              </a:rPr>
              <a:t>12 steps of the Japan Institute of Plant Maintenance (JIPM), grouped in four phases</a:t>
            </a:r>
            <a:endParaRPr lang="en-US" sz="1400" dirty="0"/>
          </a:p>
        </p:txBody>
      </p:sp>
      <p:sp>
        <p:nvSpPr>
          <p:cNvPr id="6" name="3DP_phase"/>
          <p:cNvSpPr/>
          <p:nvPr/>
        </p:nvSpPr>
        <p:spPr>
          <a:xfrm>
            <a:off x="548640" y="1645920"/>
            <a:ext cx="2514600" cy="932688"/>
          </a:xfrm>
          <a:prstGeom prst="homePlate">
            <a:avLst/>
          </a:prstGeom>
          <a:solidFill>
            <a:schemeClr val="accent4"/>
          </a:solidFill>
          <a:ln>
            <a:solidFill>
              <a:schemeClr val="accent4"/>
            </a:solidFill>
          </a:ln>
          <a:scene3d>
            <a:camera prst="orthographicFront"/>
            <a:lightRig rig="threePt" dir="t"/>
          </a:scene3d>
          <a:sp3d prstMaterial="matte">
            <a:bevelT w="44450" h="25400" prst="angle"/>
          </a:sp3d>
        </p:spPr>
        <p:txBody>
          <a:bodyPr wrap="square" lIns="177800" tIns="0" rIns="0" bIns="0" rtlCol="0" anchor="ctr"/>
          <a:lstStyle/>
          <a:p>
            <a:pPr algn="l" indent="0" marL="0">
              <a:buNone/>
            </a:pPr>
            <a:r>
              <a:rPr lang="en-US" sz="1800" b="1" dirty="0">
                <a:solidFill>
                  <a:schemeClr val="bg1"/>
                </a:solidFill>
              </a:rPr>
              <a:t>Preparation</a:t>
            </a:r>
            <a:endParaRPr lang="en-US" sz="1800" dirty="0"/>
          </a:p>
          <a:p>
            <a:pPr algn="l" indent="0" marL="0">
              <a:buNone/>
            </a:pPr>
            <a:r>
              <a:rPr lang="en-US" sz="1300" dirty="0">
                <a:solidFill>
                  <a:schemeClr val="bg1"/>
                </a:solidFill>
              </a:rPr>
              <a:t>Steps 1–5</a:t>
            </a:r>
            <a:endParaRPr lang="en-US" sz="1800" dirty="0"/>
          </a:p>
        </p:txBody>
      </p:sp>
      <p:sp>
        <p:nvSpPr>
          <p:cNvPr id="7" name="3DC_phase"/>
          <p:cNvSpPr/>
          <p:nvPr/>
        </p:nvSpPr>
        <p:spPr>
          <a:xfrm>
            <a:off x="3246120" y="1645920"/>
            <a:ext cx="4069080" cy="932688"/>
          </a:xfrm>
          <a:prstGeom prst="roundRect">
            <a:avLst>
              <a:gd name="adj" fmla="val 11765"/>
            </a:avLst>
          </a:prstGeom>
          <a:solidFill>
            <a:schemeClr val="bg2"/>
          </a:solidFill>
          <a:ln w="12700">
            <a:solidFill>
              <a:schemeClr val="bg2"/>
            </a:solidFill>
            <a:prstDash val="solid"/>
          </a:ln>
          <a:scene3d>
            <a:camera prst="orthographicFront"/>
            <a:lightRig rig="threePt" dir="t"/>
          </a:scene3d>
          <a:sp3d>
            <a:bevelT w="25400" h="12700" prst="softRound"/>
          </a:sp3d>
        </p:spPr>
      </p:sp>
      <p:sp>
        <p:nvSpPr>
          <p:cNvPr id="8" name="text"/>
          <p:cNvSpPr txBox="1"/>
          <p:nvPr/>
        </p:nvSpPr>
        <p:spPr>
          <a:xfrm>
            <a:off x="3429000" y="1645920"/>
            <a:ext cx="3749040" cy="932688"/>
          </a:xfrm>
          <a:prstGeom prst="rect">
            <a:avLst/>
          </a:prstGeom>
          <a:noFill/>
          <a:ln/>
        </p:spPr>
        <p:txBody>
          <a:bodyPr wrap="square" lIns="0" tIns="0" rIns="0" bIns="0" rtlCol="0" anchor="ctr"/>
          <a:lstStyle/>
          <a:p>
            <a:pPr indent="0" marL="0">
              <a:buNone/>
            </a:pPr>
            <a:r>
              <a:rPr lang="en-US" sz="1500" dirty="0">
                <a:solidFill>
                  <a:schemeClr val="tx1"/>
                </a:solidFill>
              </a:rPr>
              <a:t>Management announces TPM, trains staff, sets up a TPM team, sets targets and a master plan</a:t>
            </a:r>
            <a:endParaRPr lang="en-US" sz="1500" dirty="0"/>
          </a:p>
        </p:txBody>
      </p:sp>
      <p:sp>
        <p:nvSpPr>
          <p:cNvPr id="9" name="3DP_phase"/>
          <p:cNvSpPr/>
          <p:nvPr/>
        </p:nvSpPr>
        <p:spPr>
          <a:xfrm>
            <a:off x="548640" y="2761488"/>
            <a:ext cx="2514600" cy="932688"/>
          </a:xfrm>
          <a:prstGeom prst="homePlate">
            <a:avLst/>
          </a:prstGeom>
          <a:solidFill>
            <a:schemeClr val="accent1"/>
          </a:solidFill>
          <a:ln>
            <a:solidFill>
              <a:schemeClr val="accent1"/>
            </a:solidFill>
          </a:ln>
          <a:scene3d>
            <a:camera prst="orthographicFront"/>
            <a:lightRig rig="threePt" dir="t"/>
          </a:scene3d>
          <a:sp3d prstMaterial="matte">
            <a:bevelT w="44450" h="25400" prst="angle"/>
          </a:sp3d>
        </p:spPr>
        <p:txBody>
          <a:bodyPr wrap="square" lIns="177800" tIns="0" rIns="0" bIns="0" rtlCol="0" anchor="ctr"/>
          <a:lstStyle/>
          <a:p>
            <a:pPr algn="l" indent="0" marL="0">
              <a:buNone/>
            </a:pPr>
            <a:r>
              <a:rPr lang="en-US" sz="1800" b="1" dirty="0">
                <a:solidFill>
                  <a:schemeClr val="tx1"/>
                </a:solidFill>
              </a:rPr>
              <a:t>Introduction</a:t>
            </a:r>
            <a:endParaRPr lang="en-US" sz="1800" dirty="0"/>
          </a:p>
          <a:p>
            <a:pPr algn="l" indent="0" marL="0">
              <a:buNone/>
            </a:pPr>
            <a:r>
              <a:rPr lang="en-US" sz="1300" dirty="0">
                <a:solidFill>
                  <a:schemeClr val="tx1"/>
                </a:solidFill>
              </a:rPr>
              <a:t>Step 6</a:t>
            </a:r>
            <a:endParaRPr lang="en-US" sz="1800" dirty="0"/>
          </a:p>
        </p:txBody>
      </p:sp>
      <p:sp>
        <p:nvSpPr>
          <p:cNvPr id="10" name="3DC_phase"/>
          <p:cNvSpPr/>
          <p:nvPr/>
        </p:nvSpPr>
        <p:spPr>
          <a:xfrm>
            <a:off x="3246120" y="2761488"/>
            <a:ext cx="4069080" cy="932688"/>
          </a:xfrm>
          <a:prstGeom prst="roundRect">
            <a:avLst>
              <a:gd name="adj" fmla="val 11765"/>
            </a:avLst>
          </a:prstGeom>
          <a:solidFill>
            <a:schemeClr val="bg2"/>
          </a:solidFill>
          <a:ln w="12700">
            <a:solidFill>
              <a:schemeClr val="bg2"/>
            </a:solidFill>
            <a:prstDash val="solid"/>
          </a:ln>
          <a:scene3d>
            <a:camera prst="orthographicFront"/>
            <a:lightRig rig="threePt" dir="t"/>
          </a:scene3d>
          <a:sp3d>
            <a:bevelT w="25400" h="12700" prst="softRound"/>
          </a:sp3d>
        </p:spPr>
      </p:sp>
      <p:sp>
        <p:nvSpPr>
          <p:cNvPr id="11" name="text"/>
          <p:cNvSpPr txBox="1"/>
          <p:nvPr/>
        </p:nvSpPr>
        <p:spPr>
          <a:xfrm>
            <a:off x="3429000" y="2761488"/>
            <a:ext cx="3749040" cy="932688"/>
          </a:xfrm>
          <a:prstGeom prst="rect">
            <a:avLst/>
          </a:prstGeom>
          <a:noFill/>
          <a:ln/>
        </p:spPr>
        <p:txBody>
          <a:bodyPr wrap="square" lIns="0" tIns="0" rIns="0" bIns="0" rtlCol="0" anchor="ctr"/>
          <a:lstStyle/>
          <a:p>
            <a:pPr indent="0" marL="0">
              <a:buNone/>
            </a:pPr>
            <a:r>
              <a:rPr lang="en-US" sz="1500" dirty="0">
                <a:solidFill>
                  <a:schemeClr val="tx1"/>
                </a:solidFill>
              </a:rPr>
              <a:t>Kick-off with all employees; pilot on one model machine</a:t>
            </a:r>
            <a:endParaRPr lang="en-US" sz="1500" dirty="0"/>
          </a:p>
        </p:txBody>
      </p:sp>
      <p:sp>
        <p:nvSpPr>
          <p:cNvPr id="12" name="3DP_phase"/>
          <p:cNvSpPr/>
          <p:nvPr/>
        </p:nvSpPr>
        <p:spPr>
          <a:xfrm>
            <a:off x="548640" y="3877056"/>
            <a:ext cx="2514600" cy="932688"/>
          </a:xfrm>
          <a:prstGeom prst="homePlate">
            <a:avLst/>
          </a:prstGeom>
          <a:solidFill>
            <a:schemeClr val="accent2"/>
          </a:solidFill>
          <a:ln>
            <a:solidFill>
              <a:schemeClr val="accent2"/>
            </a:solidFill>
          </a:ln>
          <a:scene3d>
            <a:camera prst="orthographicFront"/>
            <a:lightRig rig="threePt" dir="t"/>
          </a:scene3d>
          <a:sp3d prstMaterial="matte">
            <a:bevelT w="44450" h="25400" prst="angle"/>
          </a:sp3d>
        </p:spPr>
        <p:txBody>
          <a:bodyPr wrap="square" lIns="177800" tIns="0" rIns="0" bIns="0" rtlCol="0" anchor="ctr"/>
          <a:lstStyle/>
          <a:p>
            <a:pPr algn="l" indent="0" marL="0">
              <a:buNone/>
            </a:pPr>
            <a:r>
              <a:rPr lang="en-US" sz="1800" b="1" dirty="0">
                <a:solidFill>
                  <a:schemeClr val="bg1"/>
                </a:solidFill>
              </a:rPr>
              <a:t>Implementation</a:t>
            </a:r>
            <a:endParaRPr lang="en-US" sz="1800" dirty="0"/>
          </a:p>
          <a:p>
            <a:pPr algn="l" indent="0" marL="0">
              <a:buNone/>
            </a:pPr>
            <a:r>
              <a:rPr lang="en-US" sz="1300" dirty="0">
                <a:solidFill>
                  <a:schemeClr val="bg1"/>
                </a:solidFill>
              </a:rPr>
              <a:t>Steps 7–11</a:t>
            </a:r>
            <a:endParaRPr lang="en-US" sz="1800" dirty="0"/>
          </a:p>
        </p:txBody>
      </p:sp>
      <p:sp>
        <p:nvSpPr>
          <p:cNvPr id="13" name="3DC_phase"/>
          <p:cNvSpPr/>
          <p:nvPr/>
        </p:nvSpPr>
        <p:spPr>
          <a:xfrm>
            <a:off x="3246120" y="3877056"/>
            <a:ext cx="4069080" cy="932688"/>
          </a:xfrm>
          <a:prstGeom prst="roundRect">
            <a:avLst>
              <a:gd name="adj" fmla="val 11765"/>
            </a:avLst>
          </a:prstGeom>
          <a:solidFill>
            <a:schemeClr val="bg2"/>
          </a:solidFill>
          <a:ln w="12700">
            <a:solidFill>
              <a:schemeClr val="bg2"/>
            </a:solidFill>
            <a:prstDash val="solid"/>
          </a:ln>
          <a:scene3d>
            <a:camera prst="orthographicFront"/>
            <a:lightRig rig="threePt" dir="t"/>
          </a:scene3d>
          <a:sp3d>
            <a:bevelT w="25400" h="12700" prst="softRound"/>
          </a:sp3d>
        </p:spPr>
      </p:sp>
      <p:sp>
        <p:nvSpPr>
          <p:cNvPr id="14" name="text"/>
          <p:cNvSpPr txBox="1"/>
          <p:nvPr/>
        </p:nvSpPr>
        <p:spPr>
          <a:xfrm>
            <a:off x="3429000" y="3877056"/>
            <a:ext cx="3749040" cy="932688"/>
          </a:xfrm>
          <a:prstGeom prst="rect">
            <a:avLst/>
          </a:prstGeom>
          <a:noFill/>
          <a:ln/>
        </p:spPr>
        <p:txBody>
          <a:bodyPr wrap="square" lIns="0" tIns="0" rIns="0" bIns="0" rtlCol="0" anchor="ctr"/>
          <a:lstStyle/>
          <a:p>
            <a:pPr indent="0" marL="0">
              <a:buNone/>
            </a:pPr>
            <a:r>
              <a:rPr lang="en-US" sz="1500" dirty="0">
                <a:solidFill>
                  <a:schemeClr val="tx1"/>
                </a:solidFill>
              </a:rPr>
              <a:t>Roll out the pillars: autonomous and planned maintenance, focused improvement, training, quality, safety</a:t>
            </a:r>
            <a:endParaRPr lang="en-US" sz="1500" dirty="0"/>
          </a:p>
        </p:txBody>
      </p:sp>
      <p:sp>
        <p:nvSpPr>
          <p:cNvPr id="15" name="3DP_phase"/>
          <p:cNvSpPr/>
          <p:nvPr/>
        </p:nvSpPr>
        <p:spPr>
          <a:xfrm>
            <a:off x="548640" y="4992624"/>
            <a:ext cx="2514600" cy="932688"/>
          </a:xfrm>
          <a:prstGeom prst="homePlate">
            <a:avLst/>
          </a:prstGeom>
          <a:solidFill>
            <a:schemeClr val="tx2"/>
          </a:solidFill>
          <a:ln>
            <a:solidFill>
              <a:schemeClr val="tx2"/>
            </a:solidFill>
          </a:ln>
          <a:scene3d>
            <a:camera prst="orthographicFront"/>
            <a:lightRig rig="threePt" dir="t"/>
          </a:scene3d>
          <a:sp3d prstMaterial="matte">
            <a:bevelT w="44450" h="25400" prst="angle"/>
          </a:sp3d>
        </p:spPr>
        <p:txBody>
          <a:bodyPr wrap="square" lIns="177800" tIns="0" rIns="0" bIns="0" rtlCol="0" anchor="ctr"/>
          <a:lstStyle/>
          <a:p>
            <a:pPr algn="l" indent="0" marL="0">
              <a:buNone/>
            </a:pPr>
            <a:r>
              <a:rPr lang="en-US" sz="1800" b="1" dirty="0">
                <a:solidFill>
                  <a:schemeClr val="bg1"/>
                </a:solidFill>
              </a:rPr>
              <a:t>Stabilization</a:t>
            </a:r>
            <a:endParaRPr lang="en-US" sz="1800" dirty="0"/>
          </a:p>
          <a:p>
            <a:pPr algn="l" indent="0" marL="0">
              <a:buNone/>
            </a:pPr>
            <a:r>
              <a:rPr lang="en-US" sz="1300" dirty="0">
                <a:solidFill>
                  <a:schemeClr val="bg1"/>
                </a:solidFill>
              </a:rPr>
              <a:t>Step 12</a:t>
            </a:r>
            <a:endParaRPr lang="en-US" sz="1800" dirty="0"/>
          </a:p>
        </p:txBody>
      </p:sp>
      <p:sp>
        <p:nvSpPr>
          <p:cNvPr id="16" name="3DC_phase"/>
          <p:cNvSpPr/>
          <p:nvPr/>
        </p:nvSpPr>
        <p:spPr>
          <a:xfrm>
            <a:off x="3246120" y="4992624"/>
            <a:ext cx="4069080" cy="932688"/>
          </a:xfrm>
          <a:prstGeom prst="roundRect">
            <a:avLst>
              <a:gd name="adj" fmla="val 11765"/>
            </a:avLst>
          </a:prstGeom>
          <a:solidFill>
            <a:schemeClr val="bg2"/>
          </a:solidFill>
          <a:ln w="12700">
            <a:solidFill>
              <a:schemeClr val="bg2"/>
            </a:solidFill>
            <a:prstDash val="solid"/>
          </a:ln>
          <a:scene3d>
            <a:camera prst="orthographicFront"/>
            <a:lightRig rig="threePt" dir="t"/>
          </a:scene3d>
          <a:sp3d>
            <a:bevelT w="25400" h="12700" prst="softRound"/>
          </a:sp3d>
        </p:spPr>
      </p:sp>
      <p:sp>
        <p:nvSpPr>
          <p:cNvPr id="17" name="text"/>
          <p:cNvSpPr txBox="1"/>
          <p:nvPr/>
        </p:nvSpPr>
        <p:spPr>
          <a:xfrm>
            <a:off x="3429000" y="4992624"/>
            <a:ext cx="3749040" cy="932688"/>
          </a:xfrm>
          <a:prstGeom prst="rect">
            <a:avLst/>
          </a:prstGeom>
          <a:noFill/>
          <a:ln/>
        </p:spPr>
        <p:txBody>
          <a:bodyPr wrap="square" lIns="0" tIns="0" rIns="0" bIns="0" rtlCol="0" anchor="ctr"/>
          <a:lstStyle/>
          <a:p>
            <a:pPr indent="0" marL="0">
              <a:buNone/>
            </a:pPr>
            <a:r>
              <a:rPr lang="en-US" sz="1500" dirty="0">
                <a:solidFill>
                  <a:schemeClr val="tx1"/>
                </a:solidFill>
              </a:rPr>
              <a:t>Sustain the system, audit results and raise targets</a:t>
            </a:r>
            <a:endParaRPr lang="en-US" sz="15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mc:AlternateContent xmlns:mc="http://schemas.openxmlformats.org/markup-compatibility/2006">
    <mc:Choice xmlns:p14="http://schemas.microsoft.com/office/powerpoint/2010/main" Requires="p14">
      <p:transition spd="slow" p14:dur="14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par>
                                <p:cTn id="10" presetID="42" presetClass="entr" presetSubtype="0" fill="hold" grpId="0" nodeType="withEffect">
                                  <p:stCondLst>
                                    <p:cond delay="20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anim calcmode="lin" valueType="num">
                                      <p:cBhvr>
                                        <p:cTn id="13" dur="600" fill="hold"/>
                                        <p:tgtEl>
                                          <p:spTgt spid="5"/>
                                        </p:tgtEl>
                                        <p:attrNameLst>
                                          <p:attrName>ppt_x</p:attrName>
                                        </p:attrNameLst>
                                      </p:cBhvr>
                                      <p:tavLst>
                                        <p:tav tm="0">
                                          <p:val>
                                            <p:strVal val="#ppt_x"/>
                                          </p:val>
                                        </p:tav>
                                        <p:tav tm="100000">
                                          <p:val>
                                            <p:strVal val="#ppt_x"/>
                                          </p:val>
                                        </p:tav>
                                      </p:tavLst>
                                    </p:anim>
                                    <p:anim calcmode="lin" valueType="num">
                                      <p:cBhvr>
                                        <p:cTn id="14" dur="600" fill="hold"/>
                                        <p:tgtEl>
                                          <p:spTgt spid="5"/>
                                        </p:tgtEl>
                                        <p:attrNameLst>
                                          <p:attrName>ppt_y</p:attrName>
                                        </p:attrNameLst>
                                      </p:cBhvr>
                                      <p:tavLst>
                                        <p:tav tm="0">
                                          <p:val>
                                            <p:strVal val="#ppt_y+.05"/>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600"/>
                                        <p:tgtEl>
                                          <p:spTgt spid="6"/>
                                        </p:tgtEl>
                                      </p:cBhvr>
                                    </p:animEffect>
                                    <p:anim calcmode="lin" valueType="num">
                                      <p:cBhvr>
                                        <p:cTn id="20" dur="600" fill="hold"/>
                                        <p:tgtEl>
                                          <p:spTgt spid="6"/>
                                        </p:tgtEl>
                                        <p:attrNameLst>
                                          <p:attrName>ppt_x</p:attrName>
                                        </p:attrNameLst>
                                      </p:cBhvr>
                                      <p:tavLst>
                                        <p:tav tm="0">
                                          <p:val>
                                            <p:strVal val="#ppt_x"/>
                                          </p:val>
                                        </p:tav>
                                        <p:tav tm="100000">
                                          <p:val>
                                            <p:strVal val="#ppt_x"/>
                                          </p:val>
                                        </p:tav>
                                      </p:tavLst>
                                    </p:anim>
                                    <p:anim calcmode="lin" valueType="num">
                                      <p:cBhvr>
                                        <p:cTn id="21" dur="600" fill="hold"/>
                                        <p:tgtEl>
                                          <p:spTgt spid="6"/>
                                        </p:tgtEl>
                                        <p:attrNameLst>
                                          <p:attrName>ppt_y</p:attrName>
                                        </p:attrNameLst>
                                      </p:cBhvr>
                                      <p:tavLst>
                                        <p:tav tm="0">
                                          <p:val>
                                            <p:strVal val="#ppt_y+.05"/>
                                          </p:val>
                                        </p:tav>
                                        <p:tav tm="100000">
                                          <p:val>
                                            <p:strVal val="#ppt_y"/>
                                          </p:val>
                                        </p:tav>
                                      </p:tavLst>
                                    </p:anim>
                                  </p:childTnLst>
                                </p:cTn>
                              </p:par>
                              <p:par>
                                <p:cTn id="22" presetID="42" presetClass="entr" presetSubtype="0" fill="hold" grpId="0" nodeType="withEffect">
                                  <p:stCondLst>
                                    <p:cond delay="20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600"/>
                                        <p:tgtEl>
                                          <p:spTgt spid="7"/>
                                        </p:tgtEl>
                                      </p:cBhvr>
                                    </p:animEffect>
                                    <p:anim calcmode="lin" valueType="num">
                                      <p:cBhvr>
                                        <p:cTn id="25" dur="600" fill="hold"/>
                                        <p:tgtEl>
                                          <p:spTgt spid="7"/>
                                        </p:tgtEl>
                                        <p:attrNameLst>
                                          <p:attrName>ppt_x</p:attrName>
                                        </p:attrNameLst>
                                      </p:cBhvr>
                                      <p:tavLst>
                                        <p:tav tm="0">
                                          <p:val>
                                            <p:strVal val="#ppt_x"/>
                                          </p:val>
                                        </p:tav>
                                        <p:tav tm="100000">
                                          <p:val>
                                            <p:strVal val="#ppt_x"/>
                                          </p:val>
                                        </p:tav>
                                      </p:tavLst>
                                    </p:anim>
                                    <p:anim calcmode="lin" valueType="num">
                                      <p:cBhvr>
                                        <p:cTn id="26" dur="600" fill="hold"/>
                                        <p:tgtEl>
                                          <p:spTgt spid="7"/>
                                        </p:tgtEl>
                                        <p:attrNameLst>
                                          <p:attrName>ppt_y</p:attrName>
                                        </p:attrNameLst>
                                      </p:cBhvr>
                                      <p:tavLst>
                                        <p:tav tm="0">
                                          <p:val>
                                            <p:strVal val="#ppt_y+.05"/>
                                          </p:val>
                                        </p:tav>
                                        <p:tav tm="100000">
                                          <p:val>
                                            <p:strVal val="#ppt_y"/>
                                          </p:val>
                                        </p:tav>
                                      </p:tavLst>
                                    </p:anim>
                                  </p:childTnLst>
                                </p:cTn>
                              </p:par>
                              <p:par>
                                <p:cTn id="27" presetID="42" presetClass="entr" presetSubtype="0" fill="hold" grpId="0" nodeType="withEffect">
                                  <p:stCondLst>
                                    <p:cond delay="20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600"/>
                                        <p:tgtEl>
                                          <p:spTgt spid="8"/>
                                        </p:tgtEl>
                                      </p:cBhvr>
                                    </p:animEffect>
                                    <p:anim calcmode="lin" valueType="num">
                                      <p:cBhvr>
                                        <p:cTn id="30" dur="600" fill="hold"/>
                                        <p:tgtEl>
                                          <p:spTgt spid="8"/>
                                        </p:tgtEl>
                                        <p:attrNameLst>
                                          <p:attrName>ppt_x</p:attrName>
                                        </p:attrNameLst>
                                      </p:cBhvr>
                                      <p:tavLst>
                                        <p:tav tm="0">
                                          <p:val>
                                            <p:strVal val="#ppt_x"/>
                                          </p:val>
                                        </p:tav>
                                        <p:tav tm="100000">
                                          <p:val>
                                            <p:strVal val="#ppt_x"/>
                                          </p:val>
                                        </p:tav>
                                      </p:tavLst>
                                    </p:anim>
                                    <p:anim calcmode="lin" valueType="num">
                                      <p:cBhvr>
                                        <p:cTn id="31" dur="600" fill="hold"/>
                                        <p:tgtEl>
                                          <p:spTgt spid="8"/>
                                        </p:tgtEl>
                                        <p:attrNameLst>
                                          <p:attrName>ppt_y</p:attrName>
                                        </p:attrNameLst>
                                      </p:cBhvr>
                                      <p:tavLst>
                                        <p:tav tm="0">
                                          <p:val>
                                            <p:strVal val="#ppt_y+.05"/>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4" presetID="42" presetClass="entr" presetSubtype="0" fill="hold" grpId="0" nodeType="click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600"/>
                                        <p:tgtEl>
                                          <p:spTgt spid="9"/>
                                        </p:tgtEl>
                                      </p:cBhvr>
                                    </p:animEffect>
                                    <p:anim calcmode="lin" valueType="num">
                                      <p:cBhvr>
                                        <p:cTn id="37" dur="600" fill="hold"/>
                                        <p:tgtEl>
                                          <p:spTgt spid="9"/>
                                        </p:tgtEl>
                                        <p:attrNameLst>
                                          <p:attrName>ppt_x</p:attrName>
                                        </p:attrNameLst>
                                      </p:cBhvr>
                                      <p:tavLst>
                                        <p:tav tm="0">
                                          <p:val>
                                            <p:strVal val="#ppt_x"/>
                                          </p:val>
                                        </p:tav>
                                        <p:tav tm="100000">
                                          <p:val>
                                            <p:strVal val="#ppt_x"/>
                                          </p:val>
                                        </p:tav>
                                      </p:tavLst>
                                    </p:anim>
                                    <p:anim calcmode="lin" valueType="num">
                                      <p:cBhvr>
                                        <p:cTn id="38" dur="600" fill="hold"/>
                                        <p:tgtEl>
                                          <p:spTgt spid="9"/>
                                        </p:tgtEl>
                                        <p:attrNameLst>
                                          <p:attrName>ppt_y</p:attrName>
                                        </p:attrNameLst>
                                      </p:cBhvr>
                                      <p:tavLst>
                                        <p:tav tm="0">
                                          <p:val>
                                            <p:strVal val="#ppt_y+.05"/>
                                          </p:val>
                                        </p:tav>
                                        <p:tav tm="100000">
                                          <p:val>
                                            <p:strVal val="#ppt_y"/>
                                          </p:val>
                                        </p:tav>
                                      </p:tavLst>
                                    </p:anim>
                                  </p:childTnLst>
                                </p:cTn>
                              </p:par>
                              <p:par>
                                <p:cTn id="39" presetID="42" presetClass="entr" presetSubtype="0" fill="hold" grpId="0" nodeType="withEffect">
                                  <p:stCondLst>
                                    <p:cond delay="20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600"/>
                                        <p:tgtEl>
                                          <p:spTgt spid="10"/>
                                        </p:tgtEl>
                                      </p:cBhvr>
                                    </p:animEffect>
                                    <p:anim calcmode="lin" valueType="num">
                                      <p:cBhvr>
                                        <p:cTn id="42" dur="600" fill="hold"/>
                                        <p:tgtEl>
                                          <p:spTgt spid="10"/>
                                        </p:tgtEl>
                                        <p:attrNameLst>
                                          <p:attrName>ppt_x</p:attrName>
                                        </p:attrNameLst>
                                      </p:cBhvr>
                                      <p:tavLst>
                                        <p:tav tm="0">
                                          <p:val>
                                            <p:strVal val="#ppt_x"/>
                                          </p:val>
                                        </p:tav>
                                        <p:tav tm="100000">
                                          <p:val>
                                            <p:strVal val="#ppt_x"/>
                                          </p:val>
                                        </p:tav>
                                      </p:tavLst>
                                    </p:anim>
                                    <p:anim calcmode="lin" valueType="num">
                                      <p:cBhvr>
                                        <p:cTn id="43" dur="600" fill="hold"/>
                                        <p:tgtEl>
                                          <p:spTgt spid="10"/>
                                        </p:tgtEl>
                                        <p:attrNameLst>
                                          <p:attrName>ppt_y</p:attrName>
                                        </p:attrNameLst>
                                      </p:cBhvr>
                                      <p:tavLst>
                                        <p:tav tm="0">
                                          <p:val>
                                            <p:strVal val="#ppt_y+.05"/>
                                          </p:val>
                                        </p:tav>
                                        <p:tav tm="100000">
                                          <p:val>
                                            <p:strVal val="#ppt_y"/>
                                          </p:val>
                                        </p:tav>
                                      </p:tavLst>
                                    </p:anim>
                                  </p:childTnLst>
                                </p:cTn>
                              </p:par>
                              <p:par>
                                <p:cTn id="44" presetID="42" presetClass="entr" presetSubtype="0" fill="hold" grpId="0" nodeType="withEffect">
                                  <p:stCondLst>
                                    <p:cond delay="20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600"/>
                                        <p:tgtEl>
                                          <p:spTgt spid="11"/>
                                        </p:tgtEl>
                                      </p:cBhvr>
                                    </p:animEffect>
                                    <p:anim calcmode="lin" valueType="num">
                                      <p:cBhvr>
                                        <p:cTn id="47" dur="600" fill="hold"/>
                                        <p:tgtEl>
                                          <p:spTgt spid="11"/>
                                        </p:tgtEl>
                                        <p:attrNameLst>
                                          <p:attrName>ppt_x</p:attrName>
                                        </p:attrNameLst>
                                      </p:cBhvr>
                                      <p:tavLst>
                                        <p:tav tm="0">
                                          <p:val>
                                            <p:strVal val="#ppt_x"/>
                                          </p:val>
                                        </p:tav>
                                        <p:tav tm="100000">
                                          <p:val>
                                            <p:strVal val="#ppt_x"/>
                                          </p:val>
                                        </p:tav>
                                      </p:tavLst>
                                    </p:anim>
                                    <p:anim calcmode="lin" valueType="num">
                                      <p:cBhvr>
                                        <p:cTn id="48" dur="600" fill="hold"/>
                                        <p:tgtEl>
                                          <p:spTgt spid="11"/>
                                        </p:tgtEl>
                                        <p:attrNameLst>
                                          <p:attrName>ppt_y</p:attrName>
                                        </p:attrNameLst>
                                      </p:cBhvr>
                                      <p:tavLst>
                                        <p:tav tm="0">
                                          <p:val>
                                            <p:strVal val="#ppt_y+.05"/>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42" presetClass="entr" presetSubtype="0" fill="hold" grpId="0" nodeType="clickEffect">
                                  <p:stCondLst>
                                    <p:cond delay="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fill="hold"/>
                                        <p:tgtEl>
                                          <p:spTgt spid="12"/>
                                        </p:tgtEl>
                                        <p:attrNameLst>
                                          <p:attrName>ppt_x</p:attrName>
                                        </p:attrNameLst>
                                      </p:cBhvr>
                                      <p:tavLst>
                                        <p:tav tm="0">
                                          <p:val>
                                            <p:strVal val="#ppt_x"/>
                                          </p:val>
                                        </p:tav>
                                        <p:tav tm="100000">
                                          <p:val>
                                            <p:strVal val="#ppt_x"/>
                                          </p:val>
                                        </p:tav>
                                      </p:tavLst>
                                    </p:anim>
                                    <p:anim calcmode="lin" valueType="num">
                                      <p:cBhvr>
                                        <p:cTn id="55" dur="600" fill="hold"/>
                                        <p:tgtEl>
                                          <p:spTgt spid="12"/>
                                        </p:tgtEl>
                                        <p:attrNameLst>
                                          <p:attrName>ppt_y</p:attrName>
                                        </p:attrNameLst>
                                      </p:cBhvr>
                                      <p:tavLst>
                                        <p:tav tm="0">
                                          <p:val>
                                            <p:strVal val="#ppt_y+.05"/>
                                          </p:val>
                                        </p:tav>
                                        <p:tav tm="100000">
                                          <p:val>
                                            <p:strVal val="#ppt_y"/>
                                          </p:val>
                                        </p:tav>
                                      </p:tavLst>
                                    </p:anim>
                                  </p:childTnLst>
                                </p:cTn>
                              </p:par>
                              <p:par>
                                <p:cTn id="56" presetID="42" presetClass="entr" presetSubtype="0" fill="hold" grpId="0" nodeType="withEffect">
                                  <p:stCondLst>
                                    <p:cond delay="2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fill="hold"/>
                                        <p:tgtEl>
                                          <p:spTgt spid="13"/>
                                        </p:tgtEl>
                                        <p:attrNameLst>
                                          <p:attrName>ppt_x</p:attrName>
                                        </p:attrNameLst>
                                      </p:cBhvr>
                                      <p:tavLst>
                                        <p:tav tm="0">
                                          <p:val>
                                            <p:strVal val="#ppt_x"/>
                                          </p:val>
                                        </p:tav>
                                        <p:tav tm="100000">
                                          <p:val>
                                            <p:strVal val="#ppt_x"/>
                                          </p:val>
                                        </p:tav>
                                      </p:tavLst>
                                    </p:anim>
                                    <p:anim calcmode="lin" valueType="num">
                                      <p:cBhvr>
                                        <p:cTn id="60" dur="600" fill="hold"/>
                                        <p:tgtEl>
                                          <p:spTgt spid="13"/>
                                        </p:tgtEl>
                                        <p:attrNameLst>
                                          <p:attrName>ppt_y</p:attrName>
                                        </p:attrNameLst>
                                      </p:cBhvr>
                                      <p:tavLst>
                                        <p:tav tm="0">
                                          <p:val>
                                            <p:strVal val="#ppt_y+.05"/>
                                          </p:val>
                                        </p:tav>
                                        <p:tav tm="100000">
                                          <p:val>
                                            <p:strVal val="#ppt_y"/>
                                          </p:val>
                                        </p:tav>
                                      </p:tavLst>
                                    </p:anim>
                                  </p:childTnLst>
                                </p:cTn>
                              </p:par>
                              <p:par>
                                <p:cTn id="61" presetID="42" presetClass="entr" presetSubtype="0" fill="hold" grpId="0" nodeType="withEffect">
                                  <p:stCondLst>
                                    <p:cond delay="2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fill="hold"/>
                                        <p:tgtEl>
                                          <p:spTgt spid="14"/>
                                        </p:tgtEl>
                                        <p:attrNameLst>
                                          <p:attrName>ppt_x</p:attrName>
                                        </p:attrNameLst>
                                      </p:cBhvr>
                                      <p:tavLst>
                                        <p:tav tm="0">
                                          <p:val>
                                            <p:strVal val="#ppt_x"/>
                                          </p:val>
                                        </p:tav>
                                        <p:tav tm="100000">
                                          <p:val>
                                            <p:strVal val="#ppt_x"/>
                                          </p:val>
                                        </p:tav>
                                      </p:tavLst>
                                    </p:anim>
                                    <p:anim calcmode="lin" valueType="num">
                                      <p:cBhvr>
                                        <p:cTn id="65" dur="600" fill="hold"/>
                                        <p:tgtEl>
                                          <p:spTgt spid="14"/>
                                        </p:tgtEl>
                                        <p:attrNameLst>
                                          <p:attrName>ppt_y</p:attrName>
                                        </p:attrNameLst>
                                      </p:cBhvr>
                                      <p:tavLst>
                                        <p:tav tm="0">
                                          <p:val>
                                            <p:strVal val="#ppt_y+.05"/>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8" presetID="42" presetClass="entr" presetSubtype="0" fill="hold" grpId="0" nodeType="clickEffect">
                                  <p:stCondLst>
                                    <p:cond delay="0"/>
                                  </p:stCondLst>
                                  <p:childTnLst>
                                    <p:set>
                                      <p:cBhvr>
                                        <p:cTn id="69" dur="1" fill="hold">
                                          <p:stCondLst>
                                            <p:cond delay="0"/>
                                          </p:stCondLst>
                                        </p:cTn>
                                        <p:tgtEl>
                                          <p:spTgt spid="15"/>
                                        </p:tgtEl>
                                        <p:attrNameLst>
                                          <p:attrName>style.visibility</p:attrName>
                                        </p:attrNameLst>
                                      </p:cBhvr>
                                      <p:to>
                                        <p:strVal val="visible"/>
                                      </p:to>
                                    </p:set>
                                    <p:animEffect transition="in" filter="fade">
                                      <p:cBhvr>
                                        <p:cTn id="70" dur="600"/>
                                        <p:tgtEl>
                                          <p:spTgt spid="15"/>
                                        </p:tgtEl>
                                      </p:cBhvr>
                                    </p:animEffect>
                                    <p:anim calcmode="lin" valueType="num">
                                      <p:cBhvr>
                                        <p:cTn id="71" dur="600" fill="hold"/>
                                        <p:tgtEl>
                                          <p:spTgt spid="15"/>
                                        </p:tgtEl>
                                        <p:attrNameLst>
                                          <p:attrName>ppt_x</p:attrName>
                                        </p:attrNameLst>
                                      </p:cBhvr>
                                      <p:tavLst>
                                        <p:tav tm="0">
                                          <p:val>
                                            <p:strVal val="#ppt_x"/>
                                          </p:val>
                                        </p:tav>
                                        <p:tav tm="100000">
                                          <p:val>
                                            <p:strVal val="#ppt_x"/>
                                          </p:val>
                                        </p:tav>
                                      </p:tavLst>
                                    </p:anim>
                                    <p:anim calcmode="lin" valueType="num">
                                      <p:cBhvr>
                                        <p:cTn id="72" dur="600" fill="hold"/>
                                        <p:tgtEl>
                                          <p:spTgt spid="15"/>
                                        </p:tgtEl>
                                        <p:attrNameLst>
                                          <p:attrName>ppt_y</p:attrName>
                                        </p:attrNameLst>
                                      </p:cBhvr>
                                      <p:tavLst>
                                        <p:tav tm="0">
                                          <p:val>
                                            <p:strVal val="#ppt_y+.05"/>
                                          </p:val>
                                        </p:tav>
                                        <p:tav tm="100000">
                                          <p:val>
                                            <p:strVal val="#ppt_y"/>
                                          </p:val>
                                        </p:tav>
                                      </p:tavLst>
                                    </p:anim>
                                  </p:childTnLst>
                                </p:cTn>
                              </p:par>
                              <p:par>
                                <p:cTn id="73" presetID="42" presetClass="entr" presetSubtype="0" fill="hold" grpId="0" nodeType="withEffect">
                                  <p:stCondLst>
                                    <p:cond delay="200"/>
                                  </p:stCondLst>
                                  <p:childTnLst>
                                    <p:set>
                                      <p:cBhvr>
                                        <p:cTn id="74" dur="1" fill="hold">
                                          <p:stCondLst>
                                            <p:cond delay="0"/>
                                          </p:stCondLst>
                                        </p:cTn>
                                        <p:tgtEl>
                                          <p:spTgt spid="16"/>
                                        </p:tgtEl>
                                        <p:attrNameLst>
                                          <p:attrName>style.visibility</p:attrName>
                                        </p:attrNameLst>
                                      </p:cBhvr>
                                      <p:to>
                                        <p:strVal val="visible"/>
                                      </p:to>
                                    </p:set>
                                    <p:animEffect transition="in" filter="fade">
                                      <p:cBhvr>
                                        <p:cTn id="75" dur="600"/>
                                        <p:tgtEl>
                                          <p:spTgt spid="16"/>
                                        </p:tgtEl>
                                      </p:cBhvr>
                                    </p:animEffect>
                                    <p:anim calcmode="lin" valueType="num">
                                      <p:cBhvr>
                                        <p:cTn id="76" dur="600" fill="hold"/>
                                        <p:tgtEl>
                                          <p:spTgt spid="16"/>
                                        </p:tgtEl>
                                        <p:attrNameLst>
                                          <p:attrName>ppt_x</p:attrName>
                                        </p:attrNameLst>
                                      </p:cBhvr>
                                      <p:tavLst>
                                        <p:tav tm="0">
                                          <p:val>
                                            <p:strVal val="#ppt_x"/>
                                          </p:val>
                                        </p:tav>
                                        <p:tav tm="100000">
                                          <p:val>
                                            <p:strVal val="#ppt_x"/>
                                          </p:val>
                                        </p:tav>
                                      </p:tavLst>
                                    </p:anim>
                                    <p:anim calcmode="lin" valueType="num">
                                      <p:cBhvr>
                                        <p:cTn id="77" dur="600" fill="hold"/>
                                        <p:tgtEl>
                                          <p:spTgt spid="16"/>
                                        </p:tgtEl>
                                        <p:attrNameLst>
                                          <p:attrName>ppt_y</p:attrName>
                                        </p:attrNameLst>
                                      </p:cBhvr>
                                      <p:tavLst>
                                        <p:tav tm="0">
                                          <p:val>
                                            <p:strVal val="#ppt_y+.05"/>
                                          </p:val>
                                        </p:tav>
                                        <p:tav tm="100000">
                                          <p:val>
                                            <p:strVal val="#ppt_y"/>
                                          </p:val>
                                        </p:tav>
                                      </p:tavLst>
                                    </p:anim>
                                  </p:childTnLst>
                                </p:cTn>
                              </p:par>
                              <p:par>
                                <p:cTn id="78" presetID="42" presetClass="entr" presetSubtype="0" fill="hold" grpId="0" nodeType="withEffect">
                                  <p:stCondLst>
                                    <p:cond delay="200"/>
                                  </p:stCondLst>
                                  <p:childTnLst>
                                    <p:set>
                                      <p:cBhvr>
                                        <p:cTn id="79" dur="1" fill="hold">
                                          <p:stCondLst>
                                            <p:cond delay="0"/>
                                          </p:stCondLst>
                                        </p:cTn>
                                        <p:tgtEl>
                                          <p:spTgt spid="17"/>
                                        </p:tgtEl>
                                        <p:attrNameLst>
                                          <p:attrName>style.visibility</p:attrName>
                                        </p:attrNameLst>
                                      </p:cBhvr>
                                      <p:to>
                                        <p:strVal val="visible"/>
                                      </p:to>
                                    </p:set>
                                    <p:animEffect transition="in" filter="fade">
                                      <p:cBhvr>
                                        <p:cTn id="80" dur="600"/>
                                        <p:tgtEl>
                                          <p:spTgt spid="17"/>
                                        </p:tgtEl>
                                      </p:cBhvr>
                                    </p:animEffect>
                                    <p:anim calcmode="lin" valueType="num">
                                      <p:cBhvr>
                                        <p:cTn id="81" dur="600" fill="hold"/>
                                        <p:tgtEl>
                                          <p:spTgt spid="17"/>
                                        </p:tgtEl>
                                        <p:attrNameLst>
                                          <p:attrName>ppt_x</p:attrName>
                                        </p:attrNameLst>
                                      </p:cBhvr>
                                      <p:tavLst>
                                        <p:tav tm="0">
                                          <p:val>
                                            <p:strVal val="#ppt_x"/>
                                          </p:val>
                                        </p:tav>
                                        <p:tav tm="100000">
                                          <p:val>
                                            <p:strVal val="#ppt_x"/>
                                          </p:val>
                                        </p:tav>
                                      </p:tavLst>
                                    </p:anim>
                                    <p:anim calcmode="lin" valueType="num">
                                      <p:cBhvr>
                                        <p:cTn id="82" dur="600" fill="hold"/>
                                        <p:tgtEl>
                                          <p:spTgt spid="17"/>
                                        </p:tgtEl>
                                        <p:attrNameLst>
                                          <p:attrName>ppt_y</p:attrName>
                                        </p:attrNameLst>
                                      </p:cBhvr>
                                      <p:tavLst>
                                        <p:tav tm="0">
                                          <p:val>
                                            <p:strVal val="#ppt_y+.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chip"/>
          <p:cNvSpPr/>
          <p:nvPr/>
        </p:nvSpPr>
        <p:spPr>
          <a:xfrm>
            <a:off x="548640" y="237744"/>
            <a:ext cx="2400300" cy="274320"/>
          </a:xfrm>
          <a:prstGeom prst="roundRect">
            <a:avLst>
              <a:gd name="adj" fmla="val 50000"/>
            </a:avLst>
          </a:prstGeom>
          <a:solidFill>
            <a:schemeClr val="accent2"/>
          </a:solidFill>
          <a:ln/>
        </p:spPr>
        <p:txBody>
          <a:bodyPr wrap="square" lIns="0" tIns="0" rIns="0" bIns="0" rtlCol="0" anchor="ctr"/>
          <a:lstStyle/>
          <a:p>
            <a:pPr algn="ctr" indent="0" marL="0">
              <a:buNone/>
            </a:pPr>
            <a:r>
              <a:rPr lang="en-US" sz="1050" b="1" spc="150" kern="0" dirty="0">
                <a:solidFill>
                  <a:schemeClr val="bg1"/>
                </a:solidFill>
              </a:rPr>
              <a:t>TPM · PROBLEMS &amp; EXAMPLES</a:t>
            </a:r>
            <a:endParaRPr lang="en-US" sz="1050" dirty="0"/>
          </a:p>
        </p:txBody>
      </p:sp>
      <p:sp>
        <p:nvSpPr>
          <p:cNvPr id="3" name="Text 0"/>
          <p:cNvSpPr/>
          <p:nvPr>
            <p:ph idx="100" type="title" hasCustomPrompt="1"/>
          </p:nvPr>
        </p:nvSpPr>
        <p:spPr>
          <a:xfrm>
            <a:off x="548640" y="566928"/>
            <a:ext cx="11094415" cy="731520"/>
          </a:xfrm>
          <a:prstGeom prst="rect">
            <a:avLst/>
          </a:prstGeom>
          <a:noFill/>
          <a:ln/>
        </p:spPr>
        <p:txBody>
          <a:bodyPr wrap="square" lIns="0" tIns="0" rIns="0" bIns="0" rtlCol="0" anchor="ctr"/>
          <a:lstStyle/>
          <a:p>
            <a:pPr algn="l" indent="0" marL="0">
              <a:buNone/>
            </a:pPr>
            <a:r>
              <a:rPr lang="en-US" sz="3400" b="1" dirty="0">
                <a:solidFill>
                  <a:schemeClr val="tx1"/>
                </a:solidFill>
              </a:rPr>
              <a:t>TPM: problems solved and examples</a:t>
            </a:r>
            <a:endParaRPr lang="en-US" sz="3400" dirty="0"/>
          </a:p>
        </p:txBody>
      </p:sp>
      <p:sp>
        <p:nvSpPr>
          <p:cNvPr id="4" name="text"/>
          <p:cNvSpPr txBox="1"/>
          <p:nvPr/>
        </p:nvSpPr>
        <p:spPr>
          <a:xfrm>
            <a:off x="548640" y="1572768"/>
            <a:ext cx="54864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PROBLEMS IT SOLVES</a:t>
            </a:r>
            <a:endParaRPr lang="en-US" sz="1200" dirty="0"/>
          </a:p>
        </p:txBody>
      </p:sp>
      <p:sp>
        <p:nvSpPr>
          <p:cNvPr id="5" name="3DB_icon"/>
          <p:cNvSpPr/>
          <p:nvPr/>
        </p:nvSpPr>
        <p:spPr>
          <a:xfrm>
            <a:off x="548640" y="1947672"/>
            <a:ext cx="475488" cy="475488"/>
          </a:xfrm>
          <a:prstGeom prst="ellipse">
            <a:avLst/>
          </a:prstGeom>
          <a:solidFill>
            <a:schemeClr val="accent3"/>
          </a:solidFill>
          <a:ln w="12700">
            <a:solidFill>
              <a:schemeClr val="accent3"/>
            </a:solidFill>
            <a:prstDash val="solid"/>
          </a:ln>
          <a:scene3d>
            <a:camera prst="orthographicFront"/>
            <a:lightRig rig="threePt" dir="t"/>
          </a:scene3d>
          <a:sp3d prstMaterial="plastic">
            <a:bevelT w="88900" h="38100"/>
          </a:sp3d>
        </p:spPr>
      </p:sp>
      <p:pic>
        <p:nvPicPr>
          <p:cNvPr id="6" name="icon_FaBolt" descr="preencoded.png">    </p:cNvPr>
          <p:cNvPicPr>
            <a:picLocks noChangeAspect="1"/>
          </p:cNvPicPr>
          <p:nvPr/>
        </p:nvPicPr>
        <p:blipFill>
          <a:blip r:embed="rId1"/>
          <a:stretch>
            <a:fillRect/>
          </a:stretch>
        </p:blipFill>
        <p:spPr>
          <a:xfrm>
            <a:off x="677022" y="2076054"/>
            <a:ext cx="218724" cy="218724"/>
          </a:xfrm>
          <a:prstGeom prst="rect">
            <a:avLst/>
          </a:prstGeom>
        </p:spPr>
      </p:pic>
      <p:sp>
        <p:nvSpPr>
          <p:cNvPr id="7" name="text"/>
          <p:cNvSpPr txBox="1"/>
          <p:nvPr/>
        </p:nvSpPr>
        <p:spPr>
          <a:xfrm>
            <a:off x="1207008" y="1892808"/>
            <a:ext cx="4846320" cy="310896"/>
          </a:xfrm>
          <a:prstGeom prst="rect">
            <a:avLst/>
          </a:prstGeom>
          <a:noFill/>
          <a:ln/>
        </p:spPr>
        <p:txBody>
          <a:bodyPr wrap="square" lIns="0" tIns="0" rIns="0" bIns="0" rtlCol="0" anchor="t"/>
          <a:lstStyle/>
          <a:p>
            <a:pPr indent="0" marL="0">
              <a:buNone/>
            </a:pPr>
            <a:r>
              <a:rPr lang="en-US" sz="1500" b="1" dirty="0">
                <a:solidFill>
                  <a:schemeClr val="tx1"/>
                </a:solidFill>
              </a:rPr>
              <a:t>Unplanned breakdowns</a:t>
            </a:r>
            <a:endParaRPr lang="en-US" sz="1500" dirty="0"/>
          </a:p>
        </p:txBody>
      </p:sp>
      <p:sp>
        <p:nvSpPr>
          <p:cNvPr id="8" name="text"/>
          <p:cNvSpPr txBox="1"/>
          <p:nvPr/>
        </p:nvSpPr>
        <p:spPr>
          <a:xfrm>
            <a:off x="1207008" y="2212848"/>
            <a:ext cx="4846320" cy="292608"/>
          </a:xfrm>
          <a:prstGeom prst="rect">
            <a:avLst/>
          </a:prstGeom>
          <a:noFill/>
          <a:ln/>
        </p:spPr>
        <p:txBody>
          <a:bodyPr wrap="square" lIns="0" tIns="0" rIns="0" bIns="0" rtlCol="0" anchor="t"/>
          <a:lstStyle/>
          <a:p>
            <a:pPr indent="0" marL="0">
              <a:buNone/>
            </a:pPr>
            <a:r>
              <a:rPr lang="en-US" sz="1300" dirty="0">
                <a:solidFill>
                  <a:schemeClr val="tx2"/>
                </a:solidFill>
              </a:rPr>
              <a:t>Daily checks and planned service prevent failures</a:t>
            </a:r>
            <a:endParaRPr lang="en-US" sz="1300" dirty="0"/>
          </a:p>
        </p:txBody>
      </p:sp>
      <p:sp>
        <p:nvSpPr>
          <p:cNvPr id="9" name="3DB_icon"/>
          <p:cNvSpPr/>
          <p:nvPr/>
        </p:nvSpPr>
        <p:spPr>
          <a:xfrm>
            <a:off x="548640" y="2651760"/>
            <a:ext cx="475488" cy="475488"/>
          </a:xfrm>
          <a:prstGeom prst="ellipse">
            <a:avLst/>
          </a:prstGeom>
          <a:solidFill>
            <a:schemeClr val="accent3"/>
          </a:solidFill>
          <a:ln w="12700">
            <a:solidFill>
              <a:schemeClr val="accent3"/>
            </a:solidFill>
            <a:prstDash val="solid"/>
          </a:ln>
          <a:scene3d>
            <a:camera prst="orthographicFront"/>
            <a:lightRig rig="threePt" dir="t"/>
          </a:scene3d>
          <a:sp3d prstMaterial="plastic">
            <a:bevelT w="88900" h="38100"/>
          </a:sp3d>
        </p:spPr>
      </p:sp>
      <p:pic>
        <p:nvPicPr>
          <p:cNvPr id="10" name="icon_FaHourglassHalf" descr="preencoded.png">    </p:cNvPr>
          <p:cNvPicPr>
            <a:picLocks noChangeAspect="1"/>
          </p:cNvPicPr>
          <p:nvPr/>
        </p:nvPicPr>
        <p:blipFill>
          <a:blip r:embed="rId2"/>
          <a:stretch>
            <a:fillRect/>
          </a:stretch>
        </p:blipFill>
        <p:spPr>
          <a:xfrm>
            <a:off x="677022" y="2780142"/>
            <a:ext cx="218724" cy="218724"/>
          </a:xfrm>
          <a:prstGeom prst="rect">
            <a:avLst/>
          </a:prstGeom>
        </p:spPr>
      </p:pic>
      <p:sp>
        <p:nvSpPr>
          <p:cNvPr id="11" name="text"/>
          <p:cNvSpPr txBox="1"/>
          <p:nvPr/>
        </p:nvSpPr>
        <p:spPr>
          <a:xfrm>
            <a:off x="1207008" y="2596896"/>
            <a:ext cx="4846320" cy="310896"/>
          </a:xfrm>
          <a:prstGeom prst="rect">
            <a:avLst/>
          </a:prstGeom>
          <a:noFill/>
          <a:ln/>
        </p:spPr>
        <p:txBody>
          <a:bodyPr wrap="square" lIns="0" tIns="0" rIns="0" bIns="0" rtlCol="0" anchor="t"/>
          <a:lstStyle/>
          <a:p>
            <a:pPr indent="0" marL="0">
              <a:buNone/>
            </a:pPr>
            <a:r>
              <a:rPr lang="en-US" sz="1500" b="1" dirty="0">
                <a:solidFill>
                  <a:schemeClr val="tx1"/>
                </a:solidFill>
              </a:rPr>
              <a:t>Minor stops &amp; slow running</a:t>
            </a:r>
            <a:endParaRPr lang="en-US" sz="1500" dirty="0"/>
          </a:p>
        </p:txBody>
      </p:sp>
      <p:sp>
        <p:nvSpPr>
          <p:cNvPr id="12" name="text"/>
          <p:cNvSpPr txBox="1"/>
          <p:nvPr/>
        </p:nvSpPr>
        <p:spPr>
          <a:xfrm>
            <a:off x="1207008" y="2916936"/>
            <a:ext cx="4846320" cy="292608"/>
          </a:xfrm>
          <a:prstGeom prst="rect">
            <a:avLst/>
          </a:prstGeom>
          <a:noFill/>
          <a:ln/>
        </p:spPr>
        <p:txBody>
          <a:bodyPr wrap="square" lIns="0" tIns="0" rIns="0" bIns="0" rtlCol="0" anchor="t"/>
          <a:lstStyle/>
          <a:p>
            <a:pPr indent="0" marL="0">
              <a:buNone/>
            </a:pPr>
            <a:r>
              <a:rPr lang="en-US" sz="1300" dirty="0">
                <a:solidFill>
                  <a:schemeClr val="tx2"/>
                </a:solidFill>
              </a:rPr>
              <a:t>Focused improvement removes chronic losses</a:t>
            </a:r>
            <a:endParaRPr lang="en-US" sz="1300" dirty="0"/>
          </a:p>
        </p:txBody>
      </p:sp>
      <p:sp>
        <p:nvSpPr>
          <p:cNvPr id="13" name="3DB_icon"/>
          <p:cNvSpPr/>
          <p:nvPr/>
        </p:nvSpPr>
        <p:spPr>
          <a:xfrm>
            <a:off x="548640" y="3355848"/>
            <a:ext cx="475488" cy="475488"/>
          </a:xfrm>
          <a:prstGeom prst="ellipse">
            <a:avLst/>
          </a:prstGeom>
          <a:solidFill>
            <a:schemeClr val="accent3"/>
          </a:solidFill>
          <a:ln w="12700">
            <a:solidFill>
              <a:schemeClr val="accent3"/>
            </a:solidFill>
            <a:prstDash val="solid"/>
          </a:ln>
          <a:scene3d>
            <a:camera prst="orthographicFront"/>
            <a:lightRig rig="threePt" dir="t"/>
          </a:scene3d>
          <a:sp3d prstMaterial="plastic">
            <a:bevelT w="88900" h="38100"/>
          </a:sp3d>
        </p:spPr>
      </p:sp>
      <p:pic>
        <p:nvPicPr>
          <p:cNvPr id="14" name="icon_FaTimesCircle" descr="preencoded.png">    </p:cNvPr>
          <p:cNvPicPr>
            <a:picLocks noChangeAspect="1"/>
          </p:cNvPicPr>
          <p:nvPr/>
        </p:nvPicPr>
        <p:blipFill>
          <a:blip r:embed="rId3"/>
          <a:stretch>
            <a:fillRect/>
          </a:stretch>
        </p:blipFill>
        <p:spPr>
          <a:xfrm>
            <a:off x="677022" y="3484230"/>
            <a:ext cx="218724" cy="218724"/>
          </a:xfrm>
          <a:prstGeom prst="rect">
            <a:avLst/>
          </a:prstGeom>
        </p:spPr>
      </p:pic>
      <p:sp>
        <p:nvSpPr>
          <p:cNvPr id="15" name="text"/>
          <p:cNvSpPr txBox="1"/>
          <p:nvPr/>
        </p:nvSpPr>
        <p:spPr>
          <a:xfrm>
            <a:off x="1207008" y="3300984"/>
            <a:ext cx="4846320" cy="310896"/>
          </a:xfrm>
          <a:prstGeom prst="rect">
            <a:avLst/>
          </a:prstGeom>
          <a:noFill/>
          <a:ln/>
        </p:spPr>
        <p:txBody>
          <a:bodyPr wrap="square" lIns="0" tIns="0" rIns="0" bIns="0" rtlCol="0" anchor="t"/>
          <a:lstStyle/>
          <a:p>
            <a:pPr indent="0" marL="0">
              <a:buNone/>
            </a:pPr>
            <a:r>
              <a:rPr lang="en-US" sz="1500" b="1" dirty="0">
                <a:solidFill>
                  <a:schemeClr val="tx1"/>
                </a:solidFill>
              </a:rPr>
              <a:t>Defects caused by machines</a:t>
            </a:r>
            <a:endParaRPr lang="en-US" sz="1500" dirty="0"/>
          </a:p>
        </p:txBody>
      </p:sp>
      <p:sp>
        <p:nvSpPr>
          <p:cNvPr id="16" name="text"/>
          <p:cNvSpPr txBox="1"/>
          <p:nvPr/>
        </p:nvSpPr>
        <p:spPr>
          <a:xfrm>
            <a:off x="1207008" y="3621024"/>
            <a:ext cx="4846320" cy="292608"/>
          </a:xfrm>
          <a:prstGeom prst="rect">
            <a:avLst/>
          </a:prstGeom>
          <a:noFill/>
          <a:ln/>
        </p:spPr>
        <p:txBody>
          <a:bodyPr wrap="square" lIns="0" tIns="0" rIns="0" bIns="0" rtlCol="0" anchor="t"/>
          <a:lstStyle/>
          <a:p>
            <a:pPr indent="0" marL="0">
              <a:buNone/>
            </a:pPr>
            <a:r>
              <a:rPr lang="en-US" sz="1300" dirty="0">
                <a:solidFill>
                  <a:schemeClr val="tx2"/>
                </a:solidFill>
              </a:rPr>
              <a:t>Stable equipment conditions mean fewer defects</a:t>
            </a:r>
            <a:endParaRPr lang="en-US" sz="1300" dirty="0"/>
          </a:p>
        </p:txBody>
      </p:sp>
      <p:sp>
        <p:nvSpPr>
          <p:cNvPr id="17" name="3DB_icon"/>
          <p:cNvSpPr/>
          <p:nvPr/>
        </p:nvSpPr>
        <p:spPr>
          <a:xfrm>
            <a:off x="548640" y="4059936"/>
            <a:ext cx="475488" cy="475488"/>
          </a:xfrm>
          <a:prstGeom prst="ellipse">
            <a:avLst/>
          </a:prstGeom>
          <a:solidFill>
            <a:schemeClr val="accent3"/>
          </a:solidFill>
          <a:ln w="12700">
            <a:solidFill>
              <a:schemeClr val="accent3"/>
            </a:solidFill>
            <a:prstDash val="solid"/>
          </a:ln>
          <a:scene3d>
            <a:camera prst="orthographicFront"/>
            <a:lightRig rig="threePt" dir="t"/>
          </a:scene3d>
          <a:sp3d prstMaterial="plastic">
            <a:bevelT w="88900" h="38100"/>
          </a:sp3d>
        </p:spPr>
      </p:sp>
      <p:pic>
        <p:nvPicPr>
          <p:cNvPr id="18" name="icon_FaMoneyBillWave" descr="preencoded.png">    </p:cNvPr>
          <p:cNvPicPr>
            <a:picLocks noChangeAspect="1"/>
          </p:cNvPicPr>
          <p:nvPr/>
        </p:nvPicPr>
        <p:blipFill>
          <a:blip r:embed="rId4"/>
          <a:stretch>
            <a:fillRect/>
          </a:stretch>
        </p:blipFill>
        <p:spPr>
          <a:xfrm>
            <a:off x="677022" y="4188318"/>
            <a:ext cx="218724" cy="218724"/>
          </a:xfrm>
          <a:prstGeom prst="rect">
            <a:avLst/>
          </a:prstGeom>
        </p:spPr>
      </p:pic>
      <p:sp>
        <p:nvSpPr>
          <p:cNvPr id="19" name="text"/>
          <p:cNvSpPr txBox="1"/>
          <p:nvPr/>
        </p:nvSpPr>
        <p:spPr>
          <a:xfrm>
            <a:off x="1207008" y="4005072"/>
            <a:ext cx="4846320" cy="310896"/>
          </a:xfrm>
          <a:prstGeom prst="rect">
            <a:avLst/>
          </a:prstGeom>
          <a:noFill/>
          <a:ln/>
        </p:spPr>
        <p:txBody>
          <a:bodyPr wrap="square" lIns="0" tIns="0" rIns="0" bIns="0" rtlCol="0" anchor="t"/>
          <a:lstStyle/>
          <a:p>
            <a:pPr indent="0" marL="0">
              <a:buNone/>
            </a:pPr>
            <a:r>
              <a:rPr lang="en-US" sz="1500" b="1" dirty="0">
                <a:solidFill>
                  <a:schemeClr val="tx1"/>
                </a:solidFill>
              </a:rPr>
              <a:t>High maintenance costs</a:t>
            </a:r>
            <a:endParaRPr lang="en-US" sz="1500" dirty="0"/>
          </a:p>
        </p:txBody>
      </p:sp>
      <p:sp>
        <p:nvSpPr>
          <p:cNvPr id="20" name="text"/>
          <p:cNvSpPr txBox="1"/>
          <p:nvPr/>
        </p:nvSpPr>
        <p:spPr>
          <a:xfrm>
            <a:off x="1207008" y="4325112"/>
            <a:ext cx="4846320" cy="292608"/>
          </a:xfrm>
          <a:prstGeom prst="rect">
            <a:avLst/>
          </a:prstGeom>
          <a:noFill/>
          <a:ln/>
        </p:spPr>
        <p:txBody>
          <a:bodyPr wrap="square" lIns="0" tIns="0" rIns="0" bIns="0" rtlCol="0" anchor="t"/>
          <a:lstStyle/>
          <a:p>
            <a:pPr indent="0" marL="0">
              <a:buNone/>
            </a:pPr>
            <a:r>
              <a:rPr lang="en-US" sz="1300" dirty="0">
                <a:solidFill>
                  <a:schemeClr val="tx2"/>
                </a:solidFill>
              </a:rPr>
              <a:t>Fewer emergency repairs and rush spare parts</a:t>
            </a:r>
            <a:endParaRPr lang="en-US" sz="1300" dirty="0"/>
          </a:p>
        </p:txBody>
      </p:sp>
      <p:sp>
        <p:nvSpPr>
          <p:cNvPr id="21" name="3DB_icon"/>
          <p:cNvSpPr/>
          <p:nvPr/>
        </p:nvSpPr>
        <p:spPr>
          <a:xfrm>
            <a:off x="548640" y="4764024"/>
            <a:ext cx="475488" cy="475488"/>
          </a:xfrm>
          <a:prstGeom prst="ellipse">
            <a:avLst/>
          </a:prstGeom>
          <a:solidFill>
            <a:schemeClr val="accent3"/>
          </a:solidFill>
          <a:ln w="12700">
            <a:solidFill>
              <a:schemeClr val="accent3"/>
            </a:solidFill>
            <a:prstDash val="solid"/>
          </a:ln>
          <a:scene3d>
            <a:camera prst="orthographicFront"/>
            <a:lightRig rig="threePt" dir="t"/>
          </a:scene3d>
          <a:sp3d prstMaterial="plastic">
            <a:bevelT w="88900" h="38100"/>
          </a:sp3d>
        </p:spPr>
      </p:sp>
      <p:pic>
        <p:nvPicPr>
          <p:cNvPr id="22" name="icon_FaHardHat" descr="preencoded.png">    </p:cNvPr>
          <p:cNvPicPr>
            <a:picLocks noChangeAspect="1"/>
          </p:cNvPicPr>
          <p:nvPr/>
        </p:nvPicPr>
        <p:blipFill>
          <a:blip r:embed="rId5"/>
          <a:stretch>
            <a:fillRect/>
          </a:stretch>
        </p:blipFill>
        <p:spPr>
          <a:xfrm>
            <a:off x="677022" y="4892406"/>
            <a:ext cx="218724" cy="218724"/>
          </a:xfrm>
          <a:prstGeom prst="rect">
            <a:avLst/>
          </a:prstGeom>
        </p:spPr>
      </p:pic>
      <p:sp>
        <p:nvSpPr>
          <p:cNvPr id="23" name="text"/>
          <p:cNvSpPr txBox="1"/>
          <p:nvPr/>
        </p:nvSpPr>
        <p:spPr>
          <a:xfrm>
            <a:off x="1207008" y="4709160"/>
            <a:ext cx="4846320" cy="310896"/>
          </a:xfrm>
          <a:prstGeom prst="rect">
            <a:avLst/>
          </a:prstGeom>
          <a:noFill/>
          <a:ln/>
        </p:spPr>
        <p:txBody>
          <a:bodyPr wrap="square" lIns="0" tIns="0" rIns="0" bIns="0" rtlCol="0" anchor="t"/>
          <a:lstStyle/>
          <a:p>
            <a:pPr indent="0" marL="0">
              <a:buNone/>
            </a:pPr>
            <a:r>
              <a:rPr lang="en-US" sz="1500" b="1" dirty="0">
                <a:solidFill>
                  <a:schemeClr val="tx1"/>
                </a:solidFill>
              </a:rPr>
              <a:t>Safety incidents</a:t>
            </a:r>
            <a:endParaRPr lang="en-US" sz="1500" dirty="0"/>
          </a:p>
        </p:txBody>
      </p:sp>
      <p:sp>
        <p:nvSpPr>
          <p:cNvPr id="24" name="text"/>
          <p:cNvSpPr txBox="1"/>
          <p:nvPr/>
        </p:nvSpPr>
        <p:spPr>
          <a:xfrm>
            <a:off x="1207008" y="5029200"/>
            <a:ext cx="4846320" cy="292608"/>
          </a:xfrm>
          <a:prstGeom prst="rect">
            <a:avLst/>
          </a:prstGeom>
          <a:noFill/>
          <a:ln/>
        </p:spPr>
        <p:txBody>
          <a:bodyPr wrap="square" lIns="0" tIns="0" rIns="0" bIns="0" rtlCol="0" anchor="t"/>
          <a:lstStyle/>
          <a:p>
            <a:pPr indent="0" marL="0">
              <a:buNone/>
            </a:pPr>
            <a:r>
              <a:rPr lang="en-US" sz="1300" dirty="0">
                <a:solidFill>
                  <a:schemeClr val="tx2"/>
                </a:solidFill>
              </a:rPr>
              <a:t>Clean, inspected machines reveal hazards early</a:t>
            </a:r>
            <a:endParaRPr lang="en-US" sz="1300" dirty="0"/>
          </a:p>
        </p:txBody>
      </p:sp>
      <p:sp>
        <p:nvSpPr>
          <p:cNvPr id="25" name="3DB_icon"/>
          <p:cNvSpPr/>
          <p:nvPr/>
        </p:nvSpPr>
        <p:spPr>
          <a:xfrm>
            <a:off x="548640" y="5468112"/>
            <a:ext cx="475488" cy="475488"/>
          </a:xfrm>
          <a:prstGeom prst="ellipse">
            <a:avLst/>
          </a:prstGeom>
          <a:solidFill>
            <a:schemeClr val="accent3"/>
          </a:solidFill>
          <a:ln w="12700">
            <a:solidFill>
              <a:schemeClr val="accent3"/>
            </a:solidFill>
            <a:prstDash val="solid"/>
          </a:ln>
          <a:scene3d>
            <a:camera prst="orthographicFront"/>
            <a:lightRig rig="threePt" dir="t"/>
          </a:scene3d>
          <a:sp3d prstMaterial="plastic">
            <a:bevelT w="88900" h="38100"/>
          </a:sp3d>
        </p:spPr>
      </p:sp>
      <p:pic>
        <p:nvPicPr>
          <p:cNvPr id="26" name="icon_FaUsers" descr="preencoded.png">    </p:cNvPr>
          <p:cNvPicPr>
            <a:picLocks noChangeAspect="1"/>
          </p:cNvPicPr>
          <p:nvPr/>
        </p:nvPicPr>
        <p:blipFill>
          <a:blip r:embed="rId6"/>
          <a:stretch>
            <a:fillRect/>
          </a:stretch>
        </p:blipFill>
        <p:spPr>
          <a:xfrm>
            <a:off x="677022" y="5596494"/>
            <a:ext cx="218724" cy="218724"/>
          </a:xfrm>
          <a:prstGeom prst="rect">
            <a:avLst/>
          </a:prstGeom>
        </p:spPr>
      </p:pic>
      <p:sp>
        <p:nvSpPr>
          <p:cNvPr id="27" name="text"/>
          <p:cNvSpPr txBox="1"/>
          <p:nvPr/>
        </p:nvSpPr>
        <p:spPr>
          <a:xfrm>
            <a:off x="1207008" y="5413248"/>
            <a:ext cx="4846320" cy="310896"/>
          </a:xfrm>
          <a:prstGeom prst="rect">
            <a:avLst/>
          </a:prstGeom>
          <a:noFill/>
          <a:ln/>
        </p:spPr>
        <p:txBody>
          <a:bodyPr wrap="square" lIns="0" tIns="0" rIns="0" bIns="0" rtlCol="0" anchor="t"/>
          <a:lstStyle/>
          <a:p>
            <a:pPr indent="0" marL="0">
              <a:buNone/>
            </a:pPr>
            <a:r>
              <a:rPr lang="en-US" sz="1500" b="1" dirty="0">
                <a:solidFill>
                  <a:schemeClr val="tx1"/>
                </a:solidFill>
              </a:rPr>
              <a:t>“I operate, you fix” silos</a:t>
            </a:r>
            <a:endParaRPr lang="en-US" sz="1500" dirty="0"/>
          </a:p>
        </p:txBody>
      </p:sp>
      <p:sp>
        <p:nvSpPr>
          <p:cNvPr id="28" name="text"/>
          <p:cNvSpPr txBox="1"/>
          <p:nvPr/>
        </p:nvSpPr>
        <p:spPr>
          <a:xfrm>
            <a:off x="1207008" y="5733288"/>
            <a:ext cx="4846320" cy="292608"/>
          </a:xfrm>
          <a:prstGeom prst="rect">
            <a:avLst/>
          </a:prstGeom>
          <a:noFill/>
          <a:ln/>
        </p:spPr>
        <p:txBody>
          <a:bodyPr wrap="square" lIns="0" tIns="0" rIns="0" bIns="0" rtlCol="0" anchor="t"/>
          <a:lstStyle/>
          <a:p>
            <a:pPr indent="0" marL="0">
              <a:buNone/>
            </a:pPr>
            <a:r>
              <a:rPr lang="en-US" sz="1300" dirty="0">
                <a:solidFill>
                  <a:schemeClr val="tx2"/>
                </a:solidFill>
              </a:rPr>
              <a:t>Production and maintenance share goals</a:t>
            </a:r>
            <a:endParaRPr lang="en-US" sz="1300" dirty="0"/>
          </a:p>
        </p:txBody>
      </p:sp>
      <p:sp>
        <p:nvSpPr>
          <p:cNvPr id="29" name="text"/>
          <p:cNvSpPr txBox="1"/>
          <p:nvPr/>
        </p:nvSpPr>
        <p:spPr>
          <a:xfrm>
            <a:off x="6309360" y="1572768"/>
            <a:ext cx="5333695"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PRACTICAL EXAMPLES</a:t>
            </a:r>
            <a:endParaRPr lang="en-US" sz="1200" dirty="0"/>
          </a:p>
        </p:txBody>
      </p:sp>
      <p:sp>
        <p:nvSpPr>
          <p:cNvPr id="30" name="3DC_card"/>
          <p:cNvSpPr/>
          <p:nvPr/>
        </p:nvSpPr>
        <p:spPr>
          <a:xfrm>
            <a:off x="6309360" y="1892808"/>
            <a:ext cx="5333695" cy="914400"/>
          </a:xfrm>
          <a:prstGeom prst="roundRect">
            <a:avLst>
              <a:gd name="adj" fmla="val 12000"/>
            </a:avLst>
          </a:prstGeom>
          <a:solidFill>
            <a:schemeClr val="bg2"/>
          </a:solidFill>
          <a:ln w="12700">
            <a:solidFill>
              <a:schemeClr val="bg2"/>
            </a:solidFill>
            <a:prstDash val="solid"/>
          </a:ln>
          <a:effectLst>
            <a:outerShdw sx="100000" sy="100000" kx="0" ky="0" algn="bl" rotWithShape="0" blurRad="127000" dist="38100" dir="5400000">
              <a:srgbClr val="16212E">
                <a:alpha val="16000"/>
              </a:srgbClr>
            </a:outerShdw>
          </a:effectLst>
          <a:scene3d>
            <a:camera prst="orthographicFront"/>
            <a:lightRig rig="threePt" dir="t"/>
          </a:scene3d>
          <a:sp3d>
            <a:bevelT w="25400" h="12700" prst="softRound"/>
          </a:sp3d>
        </p:spPr>
      </p:sp>
      <p:sp>
        <p:nvSpPr>
          <p:cNvPr id="31" name="3DB_icon"/>
          <p:cNvSpPr/>
          <p:nvPr/>
        </p:nvSpPr>
        <p:spPr>
          <a:xfrm>
            <a:off x="6492240" y="2075688"/>
            <a:ext cx="548640" cy="548640"/>
          </a:xfrm>
          <a:prstGeom prst="ellipse">
            <a:avLst/>
          </a:prstGeom>
          <a:solidFill>
            <a:schemeClr val="accent2"/>
          </a:solidFill>
          <a:ln w="12700">
            <a:solidFill>
              <a:schemeClr val="accent2"/>
            </a:solidFill>
            <a:prstDash val="solid"/>
          </a:ln>
          <a:scene3d>
            <a:camera prst="orthographicFront"/>
            <a:lightRig rig="threePt" dir="t"/>
          </a:scene3d>
          <a:sp3d prstMaterial="plastic">
            <a:bevelT w="88900" h="38100"/>
          </a:sp3d>
        </p:spPr>
      </p:sp>
      <p:pic>
        <p:nvPicPr>
          <p:cNvPr id="32" name="icon_FaClipboardCheck" descr="preencoded.png">    </p:cNvPr>
          <p:cNvPicPr>
            <a:picLocks noChangeAspect="1"/>
          </p:cNvPicPr>
          <p:nvPr/>
        </p:nvPicPr>
        <p:blipFill>
          <a:blip r:embed="rId7"/>
          <a:stretch>
            <a:fillRect/>
          </a:stretch>
        </p:blipFill>
        <p:spPr>
          <a:xfrm>
            <a:off x="6640373" y="2223821"/>
            <a:ext cx="252374" cy="252374"/>
          </a:xfrm>
          <a:prstGeom prst="rect">
            <a:avLst/>
          </a:prstGeom>
        </p:spPr>
      </p:pic>
      <p:sp>
        <p:nvSpPr>
          <p:cNvPr id="33" name="text"/>
          <p:cNvSpPr txBox="1"/>
          <p:nvPr/>
        </p:nvSpPr>
        <p:spPr>
          <a:xfrm>
            <a:off x="7223760" y="2020824"/>
            <a:ext cx="4282135" cy="329184"/>
          </a:xfrm>
          <a:prstGeom prst="rect">
            <a:avLst/>
          </a:prstGeom>
          <a:noFill/>
          <a:ln/>
        </p:spPr>
        <p:txBody>
          <a:bodyPr wrap="square" lIns="0" tIns="0" rIns="0" bIns="0" rtlCol="0" anchor="t"/>
          <a:lstStyle/>
          <a:p>
            <a:pPr indent="0" marL="0">
              <a:buNone/>
            </a:pPr>
            <a:r>
              <a:rPr lang="en-US" sz="1600" b="1" dirty="0">
                <a:solidFill>
                  <a:schemeClr val="tx1"/>
                </a:solidFill>
              </a:rPr>
              <a:t>Every shift: 5-minute CILT check</a:t>
            </a:r>
            <a:endParaRPr lang="en-US" sz="1600" dirty="0"/>
          </a:p>
        </p:txBody>
      </p:sp>
      <p:sp>
        <p:nvSpPr>
          <p:cNvPr id="34" name="text"/>
          <p:cNvSpPr txBox="1"/>
          <p:nvPr/>
        </p:nvSpPr>
        <p:spPr>
          <a:xfrm>
            <a:off x="7223760" y="2368296"/>
            <a:ext cx="4282135" cy="329184"/>
          </a:xfrm>
          <a:prstGeom prst="rect">
            <a:avLst/>
          </a:prstGeom>
          <a:noFill/>
          <a:ln/>
        </p:spPr>
        <p:txBody>
          <a:bodyPr wrap="square" lIns="0" tIns="0" rIns="0" bIns="0" rtlCol="0" anchor="t"/>
          <a:lstStyle/>
          <a:p>
            <a:pPr indent="0" marL="0">
              <a:buNone/>
            </a:pPr>
            <a:r>
              <a:rPr lang="en-US" sz="1400" dirty="0">
                <a:solidFill>
                  <a:schemeClr val="tx2"/>
                </a:solidFill>
              </a:rPr>
              <a:t>Clean, inspect, lubricate, tighten marked points</a:t>
            </a:r>
            <a:endParaRPr lang="en-US" sz="1400" dirty="0"/>
          </a:p>
        </p:txBody>
      </p:sp>
      <p:sp>
        <p:nvSpPr>
          <p:cNvPr id="35" name="3DC_card"/>
          <p:cNvSpPr/>
          <p:nvPr/>
        </p:nvSpPr>
        <p:spPr>
          <a:xfrm>
            <a:off x="6309360" y="2944368"/>
            <a:ext cx="5333695" cy="914400"/>
          </a:xfrm>
          <a:prstGeom prst="roundRect">
            <a:avLst>
              <a:gd name="adj" fmla="val 12000"/>
            </a:avLst>
          </a:prstGeom>
          <a:solidFill>
            <a:schemeClr val="bg2"/>
          </a:solidFill>
          <a:ln w="12700">
            <a:solidFill>
              <a:schemeClr val="bg2"/>
            </a:solidFill>
            <a:prstDash val="solid"/>
          </a:ln>
          <a:effectLst>
            <a:outerShdw sx="100000" sy="100000" kx="0" ky="0" algn="bl" rotWithShape="0" blurRad="127000" dist="38100" dir="5400000">
              <a:srgbClr val="16212E">
                <a:alpha val="16000"/>
              </a:srgbClr>
            </a:outerShdw>
          </a:effectLst>
          <a:scene3d>
            <a:camera prst="orthographicFront"/>
            <a:lightRig rig="threePt" dir="t"/>
          </a:scene3d>
          <a:sp3d>
            <a:bevelT w="25400" h="12700" prst="softRound"/>
          </a:sp3d>
        </p:spPr>
      </p:sp>
      <p:sp>
        <p:nvSpPr>
          <p:cNvPr id="36" name="3DB_icon"/>
          <p:cNvSpPr/>
          <p:nvPr/>
        </p:nvSpPr>
        <p:spPr>
          <a:xfrm>
            <a:off x="6492240" y="3127248"/>
            <a:ext cx="548640" cy="548640"/>
          </a:xfrm>
          <a:prstGeom prst="ellipse">
            <a:avLst/>
          </a:prstGeom>
          <a:solidFill>
            <a:schemeClr val="accent2"/>
          </a:solidFill>
          <a:ln w="12700">
            <a:solidFill>
              <a:schemeClr val="accent2"/>
            </a:solidFill>
            <a:prstDash val="solid"/>
          </a:ln>
          <a:scene3d>
            <a:camera prst="orthographicFront"/>
            <a:lightRig rig="threePt" dir="t"/>
          </a:scene3d>
          <a:sp3d prstMaterial="plastic">
            <a:bevelT w="88900" h="38100"/>
          </a:sp3d>
        </p:spPr>
      </p:sp>
      <p:pic>
        <p:nvPicPr>
          <p:cNvPr id="37" name="icon_FaTag" descr="preencoded.png">    </p:cNvPr>
          <p:cNvPicPr>
            <a:picLocks noChangeAspect="1"/>
          </p:cNvPicPr>
          <p:nvPr/>
        </p:nvPicPr>
        <p:blipFill>
          <a:blip r:embed="rId8"/>
          <a:stretch>
            <a:fillRect/>
          </a:stretch>
        </p:blipFill>
        <p:spPr>
          <a:xfrm>
            <a:off x="6640373" y="3275381"/>
            <a:ext cx="252374" cy="252374"/>
          </a:xfrm>
          <a:prstGeom prst="rect">
            <a:avLst/>
          </a:prstGeom>
        </p:spPr>
      </p:pic>
      <p:sp>
        <p:nvSpPr>
          <p:cNvPr id="38" name="text"/>
          <p:cNvSpPr txBox="1"/>
          <p:nvPr/>
        </p:nvSpPr>
        <p:spPr>
          <a:xfrm>
            <a:off x="7223760" y="3072384"/>
            <a:ext cx="4282135" cy="329184"/>
          </a:xfrm>
          <a:prstGeom prst="rect">
            <a:avLst/>
          </a:prstGeom>
          <a:noFill/>
          <a:ln/>
        </p:spPr>
        <p:txBody>
          <a:bodyPr wrap="square" lIns="0" tIns="0" rIns="0" bIns="0" rtlCol="0" anchor="t"/>
          <a:lstStyle/>
          <a:p>
            <a:pPr indent="0" marL="0">
              <a:buNone/>
            </a:pPr>
            <a:r>
              <a:rPr lang="en-US" sz="1600" b="1" dirty="0">
                <a:solidFill>
                  <a:schemeClr val="tx1"/>
                </a:solidFill>
              </a:rPr>
              <a:t>Abnormality tags</a:t>
            </a:r>
            <a:endParaRPr lang="en-US" sz="1600" dirty="0"/>
          </a:p>
        </p:txBody>
      </p:sp>
      <p:sp>
        <p:nvSpPr>
          <p:cNvPr id="39" name="text"/>
          <p:cNvSpPr txBox="1"/>
          <p:nvPr/>
        </p:nvSpPr>
        <p:spPr>
          <a:xfrm>
            <a:off x="7223760" y="3419856"/>
            <a:ext cx="4282135" cy="329184"/>
          </a:xfrm>
          <a:prstGeom prst="rect">
            <a:avLst/>
          </a:prstGeom>
          <a:noFill/>
          <a:ln/>
        </p:spPr>
        <p:txBody>
          <a:bodyPr wrap="square" lIns="0" tIns="0" rIns="0" bIns="0" rtlCol="0" anchor="t"/>
          <a:lstStyle/>
          <a:p>
            <a:pPr indent="0" marL="0">
              <a:buNone/>
            </a:pPr>
            <a:r>
              <a:rPr lang="en-US" sz="1400" dirty="0">
                <a:solidFill>
                  <a:schemeClr val="tx2"/>
                </a:solidFill>
              </a:rPr>
              <a:t>Operators tag leaks and loose parts for repair</a:t>
            </a:r>
            <a:endParaRPr lang="en-US" sz="1400" dirty="0"/>
          </a:p>
        </p:txBody>
      </p:sp>
      <p:sp>
        <p:nvSpPr>
          <p:cNvPr id="40" name="3DC_card"/>
          <p:cNvSpPr/>
          <p:nvPr/>
        </p:nvSpPr>
        <p:spPr>
          <a:xfrm>
            <a:off x="6309360" y="3995928"/>
            <a:ext cx="5333695" cy="914400"/>
          </a:xfrm>
          <a:prstGeom prst="roundRect">
            <a:avLst>
              <a:gd name="adj" fmla="val 12000"/>
            </a:avLst>
          </a:prstGeom>
          <a:solidFill>
            <a:schemeClr val="bg2"/>
          </a:solidFill>
          <a:ln w="12700">
            <a:solidFill>
              <a:schemeClr val="bg2"/>
            </a:solidFill>
            <a:prstDash val="solid"/>
          </a:ln>
          <a:effectLst>
            <a:outerShdw sx="100000" sy="100000" kx="0" ky="0" algn="bl" rotWithShape="0" blurRad="127000" dist="38100" dir="5400000">
              <a:srgbClr val="16212E">
                <a:alpha val="16000"/>
              </a:srgbClr>
            </a:outerShdw>
          </a:effectLst>
          <a:scene3d>
            <a:camera prst="orthographicFront"/>
            <a:lightRig rig="threePt" dir="t"/>
          </a:scene3d>
          <a:sp3d>
            <a:bevelT w="25400" h="12700" prst="softRound"/>
          </a:sp3d>
        </p:spPr>
      </p:sp>
      <p:sp>
        <p:nvSpPr>
          <p:cNvPr id="41" name="3DB_icon"/>
          <p:cNvSpPr/>
          <p:nvPr/>
        </p:nvSpPr>
        <p:spPr>
          <a:xfrm>
            <a:off x="6492240" y="4178808"/>
            <a:ext cx="548640" cy="548640"/>
          </a:xfrm>
          <a:prstGeom prst="ellipse">
            <a:avLst/>
          </a:prstGeom>
          <a:solidFill>
            <a:schemeClr val="accent2"/>
          </a:solidFill>
          <a:ln w="12700">
            <a:solidFill>
              <a:schemeClr val="accent2"/>
            </a:solidFill>
            <a:prstDash val="solid"/>
          </a:ln>
          <a:scene3d>
            <a:camera prst="orthographicFront"/>
            <a:lightRig rig="threePt" dir="t"/>
          </a:scene3d>
          <a:sp3d prstMaterial="plastic">
            <a:bevelT w="88900" h="38100"/>
          </a:sp3d>
        </p:spPr>
      </p:sp>
      <p:pic>
        <p:nvPicPr>
          <p:cNvPr id="42" name="icon_FaWrench" descr="preencoded.png">    </p:cNvPr>
          <p:cNvPicPr>
            <a:picLocks noChangeAspect="1"/>
          </p:cNvPicPr>
          <p:nvPr/>
        </p:nvPicPr>
        <p:blipFill>
          <a:blip r:embed="rId9"/>
          <a:stretch>
            <a:fillRect/>
          </a:stretch>
        </p:blipFill>
        <p:spPr>
          <a:xfrm>
            <a:off x="6640373" y="4326941"/>
            <a:ext cx="252374" cy="252374"/>
          </a:xfrm>
          <a:prstGeom prst="rect">
            <a:avLst/>
          </a:prstGeom>
        </p:spPr>
      </p:pic>
      <p:sp>
        <p:nvSpPr>
          <p:cNvPr id="43" name="text"/>
          <p:cNvSpPr txBox="1"/>
          <p:nvPr/>
        </p:nvSpPr>
        <p:spPr>
          <a:xfrm>
            <a:off x="7223760" y="4123944"/>
            <a:ext cx="4282135" cy="329184"/>
          </a:xfrm>
          <a:prstGeom prst="rect">
            <a:avLst/>
          </a:prstGeom>
          <a:noFill/>
          <a:ln/>
        </p:spPr>
        <p:txBody>
          <a:bodyPr wrap="square" lIns="0" tIns="0" rIns="0" bIns="0" rtlCol="0" anchor="t"/>
          <a:lstStyle/>
          <a:p>
            <a:pPr indent="0" marL="0">
              <a:buNone/>
            </a:pPr>
            <a:r>
              <a:rPr lang="en-US" sz="1600" b="1" dirty="0">
                <a:solidFill>
                  <a:schemeClr val="tx1"/>
                </a:solidFill>
              </a:rPr>
              <a:t>Planned maintenance calendar</a:t>
            </a:r>
            <a:endParaRPr lang="en-US" sz="1600" dirty="0"/>
          </a:p>
        </p:txBody>
      </p:sp>
      <p:sp>
        <p:nvSpPr>
          <p:cNvPr id="44" name="text"/>
          <p:cNvSpPr txBox="1"/>
          <p:nvPr/>
        </p:nvSpPr>
        <p:spPr>
          <a:xfrm>
            <a:off x="7223760" y="4471416"/>
            <a:ext cx="4282135" cy="329184"/>
          </a:xfrm>
          <a:prstGeom prst="rect">
            <a:avLst/>
          </a:prstGeom>
          <a:noFill/>
          <a:ln/>
        </p:spPr>
        <p:txBody>
          <a:bodyPr wrap="square" lIns="0" tIns="0" rIns="0" bIns="0" rtlCol="0" anchor="t"/>
          <a:lstStyle/>
          <a:p>
            <a:pPr indent="0" marL="0">
              <a:buNone/>
            </a:pPr>
            <a:r>
              <a:rPr lang="en-US" sz="1400" dirty="0">
                <a:solidFill>
                  <a:schemeClr val="tx2"/>
                </a:solidFill>
              </a:rPr>
              <a:t>Service based on failure history, not breakdowns</a:t>
            </a:r>
            <a:endParaRPr lang="en-US" sz="1400" dirty="0"/>
          </a:p>
        </p:txBody>
      </p:sp>
      <p:sp>
        <p:nvSpPr>
          <p:cNvPr id="45" name="3DC_card"/>
          <p:cNvSpPr/>
          <p:nvPr/>
        </p:nvSpPr>
        <p:spPr>
          <a:xfrm>
            <a:off x="6309360" y="5047488"/>
            <a:ext cx="5333695" cy="914400"/>
          </a:xfrm>
          <a:prstGeom prst="roundRect">
            <a:avLst>
              <a:gd name="adj" fmla="val 12000"/>
            </a:avLst>
          </a:prstGeom>
          <a:solidFill>
            <a:schemeClr val="bg2"/>
          </a:solidFill>
          <a:ln w="12700">
            <a:solidFill>
              <a:schemeClr val="bg2"/>
            </a:solidFill>
            <a:prstDash val="solid"/>
          </a:ln>
          <a:effectLst>
            <a:outerShdw sx="100000" sy="100000" kx="0" ky="0" algn="bl" rotWithShape="0" blurRad="127000" dist="38100" dir="5400000">
              <a:srgbClr val="16212E">
                <a:alpha val="16000"/>
              </a:srgbClr>
            </a:outerShdw>
          </a:effectLst>
          <a:scene3d>
            <a:camera prst="orthographicFront"/>
            <a:lightRig rig="threePt" dir="t"/>
          </a:scene3d>
          <a:sp3d>
            <a:bevelT w="25400" h="12700" prst="softRound"/>
          </a:sp3d>
        </p:spPr>
      </p:sp>
      <p:sp>
        <p:nvSpPr>
          <p:cNvPr id="46" name="3DB_icon"/>
          <p:cNvSpPr/>
          <p:nvPr/>
        </p:nvSpPr>
        <p:spPr>
          <a:xfrm>
            <a:off x="6492240" y="5230368"/>
            <a:ext cx="548640" cy="548640"/>
          </a:xfrm>
          <a:prstGeom prst="ellipse">
            <a:avLst/>
          </a:prstGeom>
          <a:solidFill>
            <a:schemeClr val="accent2"/>
          </a:solidFill>
          <a:ln w="12700">
            <a:solidFill>
              <a:schemeClr val="accent2"/>
            </a:solidFill>
            <a:prstDash val="solid"/>
          </a:ln>
          <a:scene3d>
            <a:camera prst="orthographicFront"/>
            <a:lightRig rig="threePt" dir="t"/>
          </a:scene3d>
          <a:sp3d prstMaterial="plastic">
            <a:bevelT w="88900" h="38100"/>
          </a:sp3d>
        </p:spPr>
      </p:sp>
      <p:pic>
        <p:nvPicPr>
          <p:cNvPr id="47" name="icon_FaChartLine" descr="preencoded.png">    </p:cNvPr>
          <p:cNvPicPr>
            <a:picLocks noChangeAspect="1"/>
          </p:cNvPicPr>
          <p:nvPr/>
        </p:nvPicPr>
        <p:blipFill>
          <a:blip r:embed="rId10"/>
          <a:stretch>
            <a:fillRect/>
          </a:stretch>
        </p:blipFill>
        <p:spPr>
          <a:xfrm>
            <a:off x="6640373" y="5378501"/>
            <a:ext cx="252374" cy="252374"/>
          </a:xfrm>
          <a:prstGeom prst="rect">
            <a:avLst/>
          </a:prstGeom>
        </p:spPr>
      </p:pic>
      <p:sp>
        <p:nvSpPr>
          <p:cNvPr id="48" name="text"/>
          <p:cNvSpPr txBox="1"/>
          <p:nvPr/>
        </p:nvSpPr>
        <p:spPr>
          <a:xfrm>
            <a:off x="7223760" y="5175504"/>
            <a:ext cx="4282135" cy="329184"/>
          </a:xfrm>
          <a:prstGeom prst="rect">
            <a:avLst/>
          </a:prstGeom>
          <a:noFill/>
          <a:ln/>
        </p:spPr>
        <p:txBody>
          <a:bodyPr wrap="square" lIns="0" tIns="0" rIns="0" bIns="0" rtlCol="0" anchor="t"/>
          <a:lstStyle/>
          <a:p>
            <a:pPr indent="0" marL="0">
              <a:buNone/>
            </a:pPr>
            <a:r>
              <a:rPr lang="en-US" sz="1600" b="1" dirty="0">
                <a:solidFill>
                  <a:schemeClr val="tx1"/>
                </a:solidFill>
              </a:rPr>
              <a:t>Monthly OEE review</a:t>
            </a:r>
            <a:endParaRPr lang="en-US" sz="1600" dirty="0"/>
          </a:p>
        </p:txBody>
      </p:sp>
      <p:sp>
        <p:nvSpPr>
          <p:cNvPr id="49" name="text"/>
          <p:cNvSpPr txBox="1"/>
          <p:nvPr/>
        </p:nvSpPr>
        <p:spPr>
          <a:xfrm>
            <a:off x="7223760" y="5522976"/>
            <a:ext cx="4282135" cy="329184"/>
          </a:xfrm>
          <a:prstGeom prst="rect">
            <a:avLst/>
          </a:prstGeom>
          <a:noFill/>
          <a:ln/>
        </p:spPr>
        <p:txBody>
          <a:bodyPr wrap="square" lIns="0" tIns="0" rIns="0" bIns="0" rtlCol="0" anchor="t"/>
          <a:lstStyle/>
          <a:p>
            <a:pPr indent="0" marL="0">
              <a:buNone/>
            </a:pPr>
            <a:r>
              <a:rPr lang="en-US" sz="1400" dirty="0">
                <a:solidFill>
                  <a:schemeClr val="tx2"/>
                </a:solidFill>
              </a:rPr>
              <a:t>The team picks the biggest loss and fixes it</a:t>
            </a:r>
            <a:endParaRPr lang="en-US" sz="14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mc:AlternateContent xmlns:mc="http://schemas.openxmlformats.org/markup-compatibility/2006">
    <mc:Choice xmlns:p14="http://schemas.microsoft.com/office/powerpoint/2010/main" Requires="p14">
      <p:transition spd="slow" p14:dur="14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anim calcmode="lin" valueType="num">
                                      <p:cBhvr>
                                        <p:cTn id="8" dur="600" fill="hold"/>
                                        <p:tgtEl>
                                          <p:spTgt spid="4"/>
                                        </p:tgtEl>
                                        <p:attrNameLst>
                                          <p:attrName>ppt_x</p:attrName>
                                        </p:attrNameLst>
                                      </p:cBhvr>
                                      <p:tavLst>
                                        <p:tav tm="0">
                                          <p:val>
                                            <p:strVal val="#ppt_x"/>
                                          </p:val>
                                        </p:tav>
                                        <p:tav tm="100000">
                                          <p:val>
                                            <p:strVal val="#ppt_x"/>
                                          </p:val>
                                        </p:tav>
                                      </p:tavLst>
                                    </p:anim>
                                    <p:anim calcmode="lin" valueType="num">
                                      <p:cBhvr>
                                        <p:cTn id="9" dur="600" fill="hold"/>
                                        <p:tgtEl>
                                          <p:spTgt spid="4"/>
                                        </p:tgtEl>
                                        <p:attrNameLst>
                                          <p:attrName>ppt_y</p:attrName>
                                        </p:attrNameLst>
                                      </p:cBhvr>
                                      <p:tavLst>
                                        <p:tav tm="0">
                                          <p:val>
                                            <p:strVal val="#ppt_y+.05"/>
                                          </p:val>
                                        </p:tav>
                                        <p:tav tm="100000">
                                          <p:val>
                                            <p:strVal val="#ppt_y"/>
                                          </p:val>
                                        </p:tav>
                                      </p:tavLst>
                                    </p:anim>
                                  </p:childTnLst>
                                </p:cTn>
                              </p:par>
                              <p:par>
                                <p:cTn id="10" presetID="53" presetClass="entr" presetSubtype="16" fill="hold" grpId="0" nodeType="withEffect">
                                  <p:stCondLst>
                                    <p:cond delay="200"/>
                                  </p:stCondLst>
                                  <p:childTnLst>
                                    <p:set>
                                      <p:cBhvr>
                                        <p:cTn id="11" dur="1" fill="hold">
                                          <p:stCondLst>
                                            <p:cond delay="0"/>
                                          </p:stCondLst>
                                        </p:cTn>
                                        <p:tgtEl>
                                          <p:spTgt spid="5"/>
                                        </p:tgtEl>
                                        <p:attrNameLst>
                                          <p:attrName>style.visibility</p:attrName>
                                        </p:attrNameLst>
                                      </p:cBhvr>
                                      <p:to>
                                        <p:strVal val="visible"/>
                                      </p:to>
                                    </p:set>
                                    <p:anim calcmode="lin" valueType="num">
                                      <p:cBhvr>
                                        <p:cTn id="12" dur="500" fill="hold"/>
                                        <p:tgtEl>
                                          <p:spTgt spid="5"/>
                                        </p:tgtEl>
                                        <p:attrNameLst>
                                          <p:attrName>ppt_w</p:attrName>
                                        </p:attrNameLst>
                                      </p:cBhvr>
                                      <p:tavLst>
                                        <p:tav tm="0">
                                          <p:val>
                                            <p:fltVal val="0"/>
                                          </p:val>
                                        </p:tav>
                                        <p:tav tm="100000">
                                          <p:val>
                                            <p:strVal val="#ppt_w"/>
                                          </p:val>
                                        </p:tav>
                                      </p:tavLst>
                                    </p:anim>
                                    <p:anim calcmode="lin" valueType="num">
                                      <p:cBhvr>
                                        <p:cTn id="13" dur="500" fill="hold"/>
                                        <p:tgtEl>
                                          <p:spTgt spid="5"/>
                                        </p:tgtEl>
                                        <p:attrNameLst>
                                          <p:attrName>ppt_h</p:attrName>
                                        </p:attrNameLst>
                                      </p:cBhvr>
                                      <p:tavLst>
                                        <p:tav tm="0">
                                          <p:val>
                                            <p:fltVal val="0"/>
                                          </p:val>
                                        </p:tav>
                                        <p:tav tm="100000">
                                          <p:val>
                                            <p:strVal val="#ppt_h"/>
                                          </p:val>
                                        </p:tav>
                                      </p:tavLst>
                                    </p:anim>
                                    <p:animEffect transition="in" filter="fade">
                                      <p:cBhvr>
                                        <p:cTn id="14" dur="500"/>
                                        <p:tgtEl>
                                          <p:spTgt spid="5"/>
                                        </p:tgtEl>
                                      </p:cBhvr>
                                    </p:animEffect>
                                  </p:childTnLst>
                                </p:cTn>
                              </p:par>
                              <p:par>
                                <p:cTn id="15" presetID="53" presetClass="entr" presetSubtype="16" fill="hold" grpId="0" nodeType="withEffect">
                                  <p:stCondLst>
                                    <p:cond delay="200"/>
                                  </p:stCondLst>
                                  <p:childTnLst>
                                    <p:set>
                                      <p:cBhvr>
                                        <p:cTn id="16" dur="1" fill="hold">
                                          <p:stCondLst>
                                            <p:cond delay="0"/>
                                          </p:stCondLst>
                                        </p:cTn>
                                        <p:tgtEl>
                                          <p:spTgt spid="6"/>
                                        </p:tgtEl>
                                        <p:attrNameLst>
                                          <p:attrName>style.visibility</p:attrName>
                                        </p:attrNameLst>
                                      </p:cBhvr>
                                      <p:to>
                                        <p:strVal val="visible"/>
                                      </p:to>
                                    </p:set>
                                    <p:anim calcmode="lin" valueType="num">
                                      <p:cBhvr>
                                        <p:cTn id="17" dur="500" fill="hold"/>
                                        <p:tgtEl>
                                          <p:spTgt spid="6"/>
                                        </p:tgtEl>
                                        <p:attrNameLst>
                                          <p:attrName>ppt_w</p:attrName>
                                        </p:attrNameLst>
                                      </p:cBhvr>
                                      <p:tavLst>
                                        <p:tav tm="0">
                                          <p:val>
                                            <p:fltVal val="0"/>
                                          </p:val>
                                        </p:tav>
                                        <p:tav tm="100000">
                                          <p:val>
                                            <p:strVal val="#ppt_w"/>
                                          </p:val>
                                        </p:tav>
                                      </p:tavLst>
                                    </p:anim>
                                    <p:anim calcmode="lin" valueType="num">
                                      <p:cBhvr>
                                        <p:cTn id="18" dur="500" fill="hold"/>
                                        <p:tgtEl>
                                          <p:spTgt spid="6"/>
                                        </p:tgtEl>
                                        <p:attrNameLst>
                                          <p:attrName>ppt_h</p:attrName>
                                        </p:attrNameLst>
                                      </p:cBhvr>
                                      <p:tavLst>
                                        <p:tav tm="0">
                                          <p:val>
                                            <p:fltVal val="0"/>
                                          </p:val>
                                        </p:tav>
                                        <p:tav tm="100000">
                                          <p:val>
                                            <p:strVal val="#ppt_h"/>
                                          </p:val>
                                        </p:tav>
                                      </p:tavLst>
                                    </p:anim>
                                    <p:animEffect transition="in" filter="fade">
                                      <p:cBhvr>
                                        <p:cTn id="19" dur="500"/>
                                        <p:tgtEl>
                                          <p:spTgt spid="6"/>
                                        </p:tgtEl>
                                      </p:cBhvr>
                                    </p:animEffect>
                                  </p:childTnLst>
                                </p:cTn>
                              </p:par>
                              <p:par>
                                <p:cTn id="20" presetID="42" presetClass="entr" presetSubtype="0" fill="hold" grpId="0" nodeType="withEffect">
                                  <p:stCondLst>
                                    <p:cond delay="20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600"/>
                                        <p:tgtEl>
                                          <p:spTgt spid="7"/>
                                        </p:tgtEl>
                                      </p:cBhvr>
                                    </p:animEffect>
                                    <p:anim calcmode="lin" valueType="num">
                                      <p:cBhvr>
                                        <p:cTn id="23" dur="600" fill="hold"/>
                                        <p:tgtEl>
                                          <p:spTgt spid="7"/>
                                        </p:tgtEl>
                                        <p:attrNameLst>
                                          <p:attrName>ppt_x</p:attrName>
                                        </p:attrNameLst>
                                      </p:cBhvr>
                                      <p:tavLst>
                                        <p:tav tm="0">
                                          <p:val>
                                            <p:strVal val="#ppt_x"/>
                                          </p:val>
                                        </p:tav>
                                        <p:tav tm="100000">
                                          <p:val>
                                            <p:strVal val="#ppt_x"/>
                                          </p:val>
                                        </p:tav>
                                      </p:tavLst>
                                    </p:anim>
                                    <p:anim calcmode="lin" valueType="num">
                                      <p:cBhvr>
                                        <p:cTn id="24" dur="600" fill="hold"/>
                                        <p:tgtEl>
                                          <p:spTgt spid="7"/>
                                        </p:tgtEl>
                                        <p:attrNameLst>
                                          <p:attrName>ppt_y</p:attrName>
                                        </p:attrNameLst>
                                      </p:cBhvr>
                                      <p:tavLst>
                                        <p:tav tm="0">
                                          <p:val>
                                            <p:strVal val="#ppt_y+.05"/>
                                          </p:val>
                                        </p:tav>
                                        <p:tav tm="100000">
                                          <p:val>
                                            <p:strVal val="#ppt_y"/>
                                          </p:val>
                                        </p:tav>
                                      </p:tavLst>
                                    </p:anim>
                                  </p:childTnLst>
                                </p:cTn>
                              </p:par>
                              <p:par>
                                <p:cTn id="25" presetID="42" presetClass="entr" presetSubtype="0" fill="hold" grpId="0" nodeType="withEffect">
                                  <p:stCondLst>
                                    <p:cond delay="20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600"/>
                                        <p:tgtEl>
                                          <p:spTgt spid="8"/>
                                        </p:tgtEl>
                                      </p:cBhvr>
                                    </p:animEffect>
                                    <p:anim calcmode="lin" valueType="num">
                                      <p:cBhvr>
                                        <p:cTn id="28" dur="600" fill="hold"/>
                                        <p:tgtEl>
                                          <p:spTgt spid="8"/>
                                        </p:tgtEl>
                                        <p:attrNameLst>
                                          <p:attrName>ppt_x</p:attrName>
                                        </p:attrNameLst>
                                      </p:cBhvr>
                                      <p:tavLst>
                                        <p:tav tm="0">
                                          <p:val>
                                            <p:strVal val="#ppt_x"/>
                                          </p:val>
                                        </p:tav>
                                        <p:tav tm="100000">
                                          <p:val>
                                            <p:strVal val="#ppt_x"/>
                                          </p:val>
                                        </p:tav>
                                      </p:tavLst>
                                    </p:anim>
                                    <p:anim calcmode="lin" valueType="num">
                                      <p:cBhvr>
                                        <p:cTn id="29" dur="600" fill="hold"/>
                                        <p:tgtEl>
                                          <p:spTgt spid="8"/>
                                        </p:tgtEl>
                                        <p:attrNameLst>
                                          <p:attrName>ppt_y</p:attrName>
                                        </p:attrNameLst>
                                      </p:cBhvr>
                                      <p:tavLst>
                                        <p:tav tm="0">
                                          <p:val>
                                            <p:strVal val="#ppt_y+.05"/>
                                          </p:val>
                                        </p:tav>
                                        <p:tav tm="100000">
                                          <p:val>
                                            <p:strVal val="#ppt_y"/>
                                          </p:val>
                                        </p:tav>
                                      </p:tavLst>
                                    </p:anim>
                                  </p:childTnLst>
                                </p:cTn>
                              </p:par>
                              <p:par>
                                <p:cTn id="30" presetID="53" presetClass="entr" presetSubtype="16" fill="hold" grpId="0" nodeType="withEffect">
                                  <p:stCondLst>
                                    <p:cond delay="400"/>
                                  </p:stCondLst>
                                  <p:childTnLst>
                                    <p:set>
                                      <p:cBhvr>
                                        <p:cTn id="31" dur="1" fill="hold">
                                          <p:stCondLst>
                                            <p:cond delay="0"/>
                                          </p:stCondLst>
                                        </p:cTn>
                                        <p:tgtEl>
                                          <p:spTgt spid="9"/>
                                        </p:tgtEl>
                                        <p:attrNameLst>
                                          <p:attrName>style.visibility</p:attrName>
                                        </p:attrNameLst>
                                      </p:cBhvr>
                                      <p:to>
                                        <p:strVal val="visible"/>
                                      </p:to>
                                    </p:set>
                                    <p:anim calcmode="lin" valueType="num">
                                      <p:cBhvr>
                                        <p:cTn id="32" dur="500" fill="hold"/>
                                        <p:tgtEl>
                                          <p:spTgt spid="9"/>
                                        </p:tgtEl>
                                        <p:attrNameLst>
                                          <p:attrName>ppt_w</p:attrName>
                                        </p:attrNameLst>
                                      </p:cBhvr>
                                      <p:tavLst>
                                        <p:tav tm="0">
                                          <p:val>
                                            <p:fltVal val="0"/>
                                          </p:val>
                                        </p:tav>
                                        <p:tav tm="100000">
                                          <p:val>
                                            <p:strVal val="#ppt_w"/>
                                          </p:val>
                                        </p:tav>
                                      </p:tavLst>
                                    </p:anim>
                                    <p:anim calcmode="lin" valueType="num">
                                      <p:cBhvr>
                                        <p:cTn id="33" dur="500" fill="hold"/>
                                        <p:tgtEl>
                                          <p:spTgt spid="9"/>
                                        </p:tgtEl>
                                        <p:attrNameLst>
                                          <p:attrName>ppt_h</p:attrName>
                                        </p:attrNameLst>
                                      </p:cBhvr>
                                      <p:tavLst>
                                        <p:tav tm="0">
                                          <p:val>
                                            <p:fltVal val="0"/>
                                          </p:val>
                                        </p:tav>
                                        <p:tav tm="100000">
                                          <p:val>
                                            <p:strVal val="#ppt_h"/>
                                          </p:val>
                                        </p:tav>
                                      </p:tavLst>
                                    </p:anim>
                                    <p:animEffect transition="in" filter="fade">
                                      <p:cBhvr>
                                        <p:cTn id="34" dur="500"/>
                                        <p:tgtEl>
                                          <p:spTgt spid="9"/>
                                        </p:tgtEl>
                                      </p:cBhvr>
                                    </p:animEffect>
                                  </p:childTnLst>
                                </p:cTn>
                              </p:par>
                              <p:par>
                                <p:cTn id="35" presetID="53" presetClass="entr" presetSubtype="16" fill="hold" grpId="0" nodeType="withEffect">
                                  <p:stCondLst>
                                    <p:cond delay="400"/>
                                  </p:stCondLst>
                                  <p:childTnLst>
                                    <p:set>
                                      <p:cBhvr>
                                        <p:cTn id="36" dur="1" fill="hold">
                                          <p:stCondLst>
                                            <p:cond delay="0"/>
                                          </p:stCondLst>
                                        </p:cTn>
                                        <p:tgtEl>
                                          <p:spTgt spid="10"/>
                                        </p:tgtEl>
                                        <p:attrNameLst>
                                          <p:attrName>style.visibility</p:attrName>
                                        </p:attrNameLst>
                                      </p:cBhvr>
                                      <p:to>
                                        <p:strVal val="visible"/>
                                      </p:to>
                                    </p:set>
                                    <p:anim calcmode="lin" valueType="num">
                                      <p:cBhvr>
                                        <p:cTn id="37" dur="500" fill="hold"/>
                                        <p:tgtEl>
                                          <p:spTgt spid="10"/>
                                        </p:tgtEl>
                                        <p:attrNameLst>
                                          <p:attrName>ppt_w</p:attrName>
                                        </p:attrNameLst>
                                      </p:cBhvr>
                                      <p:tavLst>
                                        <p:tav tm="0">
                                          <p:val>
                                            <p:fltVal val="0"/>
                                          </p:val>
                                        </p:tav>
                                        <p:tav tm="100000">
                                          <p:val>
                                            <p:strVal val="#ppt_w"/>
                                          </p:val>
                                        </p:tav>
                                      </p:tavLst>
                                    </p:anim>
                                    <p:anim calcmode="lin" valueType="num">
                                      <p:cBhvr>
                                        <p:cTn id="38" dur="500" fill="hold"/>
                                        <p:tgtEl>
                                          <p:spTgt spid="10"/>
                                        </p:tgtEl>
                                        <p:attrNameLst>
                                          <p:attrName>ppt_h</p:attrName>
                                        </p:attrNameLst>
                                      </p:cBhvr>
                                      <p:tavLst>
                                        <p:tav tm="0">
                                          <p:val>
                                            <p:fltVal val="0"/>
                                          </p:val>
                                        </p:tav>
                                        <p:tav tm="100000">
                                          <p:val>
                                            <p:strVal val="#ppt_h"/>
                                          </p:val>
                                        </p:tav>
                                      </p:tavLst>
                                    </p:anim>
                                    <p:animEffect transition="in" filter="fade">
                                      <p:cBhvr>
                                        <p:cTn id="39" dur="500"/>
                                        <p:tgtEl>
                                          <p:spTgt spid="10"/>
                                        </p:tgtEl>
                                      </p:cBhvr>
                                    </p:animEffect>
                                  </p:childTnLst>
                                </p:cTn>
                              </p:par>
                              <p:par>
                                <p:cTn id="40" presetID="42" presetClass="entr" presetSubtype="0" fill="hold" grpId="0" nodeType="withEffect">
                                  <p:stCondLst>
                                    <p:cond delay="40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600"/>
                                        <p:tgtEl>
                                          <p:spTgt spid="11"/>
                                        </p:tgtEl>
                                      </p:cBhvr>
                                    </p:animEffect>
                                    <p:anim calcmode="lin" valueType="num">
                                      <p:cBhvr>
                                        <p:cTn id="43" dur="600" fill="hold"/>
                                        <p:tgtEl>
                                          <p:spTgt spid="11"/>
                                        </p:tgtEl>
                                        <p:attrNameLst>
                                          <p:attrName>ppt_x</p:attrName>
                                        </p:attrNameLst>
                                      </p:cBhvr>
                                      <p:tavLst>
                                        <p:tav tm="0">
                                          <p:val>
                                            <p:strVal val="#ppt_x"/>
                                          </p:val>
                                        </p:tav>
                                        <p:tav tm="100000">
                                          <p:val>
                                            <p:strVal val="#ppt_x"/>
                                          </p:val>
                                        </p:tav>
                                      </p:tavLst>
                                    </p:anim>
                                    <p:anim calcmode="lin" valueType="num">
                                      <p:cBhvr>
                                        <p:cTn id="44" dur="600" fill="hold"/>
                                        <p:tgtEl>
                                          <p:spTgt spid="11"/>
                                        </p:tgtEl>
                                        <p:attrNameLst>
                                          <p:attrName>ppt_y</p:attrName>
                                        </p:attrNameLst>
                                      </p:cBhvr>
                                      <p:tavLst>
                                        <p:tav tm="0">
                                          <p:val>
                                            <p:strVal val="#ppt_y+.05"/>
                                          </p:val>
                                        </p:tav>
                                        <p:tav tm="100000">
                                          <p:val>
                                            <p:strVal val="#ppt_y"/>
                                          </p:val>
                                        </p:tav>
                                      </p:tavLst>
                                    </p:anim>
                                  </p:childTnLst>
                                </p:cTn>
                              </p:par>
                              <p:par>
                                <p:cTn id="45" presetID="42" presetClass="entr" presetSubtype="0" fill="hold" grpId="0" nodeType="withEffect">
                                  <p:stCondLst>
                                    <p:cond delay="40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600"/>
                                        <p:tgtEl>
                                          <p:spTgt spid="12"/>
                                        </p:tgtEl>
                                      </p:cBhvr>
                                    </p:animEffect>
                                    <p:anim calcmode="lin" valueType="num">
                                      <p:cBhvr>
                                        <p:cTn id="48" dur="600" fill="hold"/>
                                        <p:tgtEl>
                                          <p:spTgt spid="12"/>
                                        </p:tgtEl>
                                        <p:attrNameLst>
                                          <p:attrName>ppt_x</p:attrName>
                                        </p:attrNameLst>
                                      </p:cBhvr>
                                      <p:tavLst>
                                        <p:tav tm="0">
                                          <p:val>
                                            <p:strVal val="#ppt_x"/>
                                          </p:val>
                                        </p:tav>
                                        <p:tav tm="100000">
                                          <p:val>
                                            <p:strVal val="#ppt_x"/>
                                          </p:val>
                                        </p:tav>
                                      </p:tavLst>
                                    </p:anim>
                                    <p:anim calcmode="lin" valueType="num">
                                      <p:cBhvr>
                                        <p:cTn id="49" dur="600" fill="hold"/>
                                        <p:tgtEl>
                                          <p:spTgt spid="12"/>
                                        </p:tgtEl>
                                        <p:attrNameLst>
                                          <p:attrName>ppt_y</p:attrName>
                                        </p:attrNameLst>
                                      </p:cBhvr>
                                      <p:tavLst>
                                        <p:tav tm="0">
                                          <p:val>
                                            <p:strVal val="#ppt_y+.05"/>
                                          </p:val>
                                        </p:tav>
                                        <p:tav tm="100000">
                                          <p:val>
                                            <p:strVal val="#ppt_y"/>
                                          </p:val>
                                        </p:tav>
                                      </p:tavLst>
                                    </p:anim>
                                  </p:childTnLst>
                                </p:cTn>
                              </p:par>
                              <p:par>
                                <p:cTn id="50" presetID="53" presetClass="entr" presetSubtype="16" fill="hold" grpId="0" nodeType="withEffect">
                                  <p:stCondLst>
                                    <p:cond delay="600"/>
                                  </p:stCondLst>
                                  <p:childTnLst>
                                    <p:set>
                                      <p:cBhvr>
                                        <p:cTn id="51" dur="1" fill="hold">
                                          <p:stCondLst>
                                            <p:cond delay="0"/>
                                          </p:stCondLst>
                                        </p:cTn>
                                        <p:tgtEl>
                                          <p:spTgt spid="13"/>
                                        </p:tgtEl>
                                        <p:attrNameLst>
                                          <p:attrName>style.visibility</p:attrName>
                                        </p:attrNameLst>
                                      </p:cBhvr>
                                      <p:to>
                                        <p:strVal val="visible"/>
                                      </p:to>
                                    </p:set>
                                    <p:anim calcmode="lin" valueType="num">
                                      <p:cBhvr>
                                        <p:cTn id="52" dur="500" fill="hold"/>
                                        <p:tgtEl>
                                          <p:spTgt spid="13"/>
                                        </p:tgtEl>
                                        <p:attrNameLst>
                                          <p:attrName>ppt_w</p:attrName>
                                        </p:attrNameLst>
                                      </p:cBhvr>
                                      <p:tavLst>
                                        <p:tav tm="0">
                                          <p:val>
                                            <p:fltVal val="0"/>
                                          </p:val>
                                        </p:tav>
                                        <p:tav tm="100000">
                                          <p:val>
                                            <p:strVal val="#ppt_w"/>
                                          </p:val>
                                        </p:tav>
                                      </p:tavLst>
                                    </p:anim>
                                    <p:anim calcmode="lin" valueType="num">
                                      <p:cBhvr>
                                        <p:cTn id="53" dur="500" fill="hold"/>
                                        <p:tgtEl>
                                          <p:spTgt spid="13"/>
                                        </p:tgtEl>
                                        <p:attrNameLst>
                                          <p:attrName>ppt_h</p:attrName>
                                        </p:attrNameLst>
                                      </p:cBhvr>
                                      <p:tavLst>
                                        <p:tav tm="0">
                                          <p:val>
                                            <p:fltVal val="0"/>
                                          </p:val>
                                        </p:tav>
                                        <p:tav tm="100000">
                                          <p:val>
                                            <p:strVal val="#ppt_h"/>
                                          </p:val>
                                        </p:tav>
                                      </p:tavLst>
                                    </p:anim>
                                    <p:animEffect transition="in" filter="fade">
                                      <p:cBhvr>
                                        <p:cTn id="54" dur="500"/>
                                        <p:tgtEl>
                                          <p:spTgt spid="13"/>
                                        </p:tgtEl>
                                      </p:cBhvr>
                                    </p:animEffect>
                                  </p:childTnLst>
                                </p:cTn>
                              </p:par>
                              <p:par>
                                <p:cTn id="55" presetID="53" presetClass="entr" presetSubtype="16" fill="hold" grpId="0" nodeType="withEffect">
                                  <p:stCondLst>
                                    <p:cond delay="600"/>
                                  </p:stCondLst>
                                  <p:childTnLst>
                                    <p:set>
                                      <p:cBhvr>
                                        <p:cTn id="56" dur="1" fill="hold">
                                          <p:stCondLst>
                                            <p:cond delay="0"/>
                                          </p:stCondLst>
                                        </p:cTn>
                                        <p:tgtEl>
                                          <p:spTgt spid="14"/>
                                        </p:tgtEl>
                                        <p:attrNameLst>
                                          <p:attrName>style.visibility</p:attrName>
                                        </p:attrNameLst>
                                      </p:cBhvr>
                                      <p:to>
                                        <p:strVal val="visible"/>
                                      </p:to>
                                    </p:set>
                                    <p:anim calcmode="lin" valueType="num">
                                      <p:cBhvr>
                                        <p:cTn id="57" dur="500" fill="hold"/>
                                        <p:tgtEl>
                                          <p:spTgt spid="14"/>
                                        </p:tgtEl>
                                        <p:attrNameLst>
                                          <p:attrName>ppt_w</p:attrName>
                                        </p:attrNameLst>
                                      </p:cBhvr>
                                      <p:tavLst>
                                        <p:tav tm="0">
                                          <p:val>
                                            <p:fltVal val="0"/>
                                          </p:val>
                                        </p:tav>
                                        <p:tav tm="100000">
                                          <p:val>
                                            <p:strVal val="#ppt_w"/>
                                          </p:val>
                                        </p:tav>
                                      </p:tavLst>
                                    </p:anim>
                                    <p:anim calcmode="lin" valueType="num">
                                      <p:cBhvr>
                                        <p:cTn id="58" dur="500" fill="hold"/>
                                        <p:tgtEl>
                                          <p:spTgt spid="14"/>
                                        </p:tgtEl>
                                        <p:attrNameLst>
                                          <p:attrName>ppt_h</p:attrName>
                                        </p:attrNameLst>
                                      </p:cBhvr>
                                      <p:tavLst>
                                        <p:tav tm="0">
                                          <p:val>
                                            <p:fltVal val="0"/>
                                          </p:val>
                                        </p:tav>
                                        <p:tav tm="100000">
                                          <p:val>
                                            <p:strVal val="#ppt_h"/>
                                          </p:val>
                                        </p:tav>
                                      </p:tavLst>
                                    </p:anim>
                                    <p:animEffect transition="in" filter="fade">
                                      <p:cBhvr>
                                        <p:cTn id="59" dur="500"/>
                                        <p:tgtEl>
                                          <p:spTgt spid="14"/>
                                        </p:tgtEl>
                                      </p:cBhvr>
                                    </p:animEffect>
                                  </p:childTnLst>
                                </p:cTn>
                              </p:par>
                              <p:par>
                                <p:cTn id="60" presetID="42" presetClass="entr" presetSubtype="0" fill="hold" grpId="0" nodeType="withEffect">
                                  <p:stCondLst>
                                    <p:cond delay="60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600"/>
                                        <p:tgtEl>
                                          <p:spTgt spid="15"/>
                                        </p:tgtEl>
                                      </p:cBhvr>
                                    </p:animEffect>
                                    <p:anim calcmode="lin" valueType="num">
                                      <p:cBhvr>
                                        <p:cTn id="63" dur="600" fill="hold"/>
                                        <p:tgtEl>
                                          <p:spTgt spid="15"/>
                                        </p:tgtEl>
                                        <p:attrNameLst>
                                          <p:attrName>ppt_x</p:attrName>
                                        </p:attrNameLst>
                                      </p:cBhvr>
                                      <p:tavLst>
                                        <p:tav tm="0">
                                          <p:val>
                                            <p:strVal val="#ppt_x"/>
                                          </p:val>
                                        </p:tav>
                                        <p:tav tm="100000">
                                          <p:val>
                                            <p:strVal val="#ppt_x"/>
                                          </p:val>
                                        </p:tav>
                                      </p:tavLst>
                                    </p:anim>
                                    <p:anim calcmode="lin" valueType="num">
                                      <p:cBhvr>
                                        <p:cTn id="64" dur="600" fill="hold"/>
                                        <p:tgtEl>
                                          <p:spTgt spid="15"/>
                                        </p:tgtEl>
                                        <p:attrNameLst>
                                          <p:attrName>ppt_y</p:attrName>
                                        </p:attrNameLst>
                                      </p:cBhvr>
                                      <p:tavLst>
                                        <p:tav tm="0">
                                          <p:val>
                                            <p:strVal val="#ppt_y+.05"/>
                                          </p:val>
                                        </p:tav>
                                        <p:tav tm="100000">
                                          <p:val>
                                            <p:strVal val="#ppt_y"/>
                                          </p:val>
                                        </p:tav>
                                      </p:tavLst>
                                    </p:anim>
                                  </p:childTnLst>
                                </p:cTn>
                              </p:par>
                              <p:par>
                                <p:cTn id="65" presetID="42" presetClass="entr" presetSubtype="0" fill="hold" grpId="0" nodeType="withEffect">
                                  <p:stCondLst>
                                    <p:cond delay="60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600"/>
                                        <p:tgtEl>
                                          <p:spTgt spid="16"/>
                                        </p:tgtEl>
                                      </p:cBhvr>
                                    </p:animEffect>
                                    <p:anim calcmode="lin" valueType="num">
                                      <p:cBhvr>
                                        <p:cTn id="68" dur="600" fill="hold"/>
                                        <p:tgtEl>
                                          <p:spTgt spid="16"/>
                                        </p:tgtEl>
                                        <p:attrNameLst>
                                          <p:attrName>ppt_x</p:attrName>
                                        </p:attrNameLst>
                                      </p:cBhvr>
                                      <p:tavLst>
                                        <p:tav tm="0">
                                          <p:val>
                                            <p:strVal val="#ppt_x"/>
                                          </p:val>
                                        </p:tav>
                                        <p:tav tm="100000">
                                          <p:val>
                                            <p:strVal val="#ppt_x"/>
                                          </p:val>
                                        </p:tav>
                                      </p:tavLst>
                                    </p:anim>
                                    <p:anim calcmode="lin" valueType="num">
                                      <p:cBhvr>
                                        <p:cTn id="69" dur="600" fill="hold"/>
                                        <p:tgtEl>
                                          <p:spTgt spid="16"/>
                                        </p:tgtEl>
                                        <p:attrNameLst>
                                          <p:attrName>ppt_y</p:attrName>
                                        </p:attrNameLst>
                                      </p:cBhvr>
                                      <p:tavLst>
                                        <p:tav tm="0">
                                          <p:val>
                                            <p:strVal val="#ppt_y+.05"/>
                                          </p:val>
                                        </p:tav>
                                        <p:tav tm="100000">
                                          <p:val>
                                            <p:strVal val="#ppt_y"/>
                                          </p:val>
                                        </p:tav>
                                      </p:tavLst>
                                    </p:anim>
                                  </p:childTnLst>
                                </p:cTn>
                              </p:par>
                              <p:par>
                                <p:cTn id="70" presetID="53" presetClass="entr" presetSubtype="16" fill="hold" grpId="0" nodeType="withEffect">
                                  <p:stCondLst>
                                    <p:cond delay="800"/>
                                  </p:stCondLst>
                                  <p:childTnLst>
                                    <p:set>
                                      <p:cBhvr>
                                        <p:cTn id="71" dur="1" fill="hold">
                                          <p:stCondLst>
                                            <p:cond delay="0"/>
                                          </p:stCondLst>
                                        </p:cTn>
                                        <p:tgtEl>
                                          <p:spTgt spid="17"/>
                                        </p:tgtEl>
                                        <p:attrNameLst>
                                          <p:attrName>style.visibility</p:attrName>
                                        </p:attrNameLst>
                                      </p:cBhvr>
                                      <p:to>
                                        <p:strVal val="visible"/>
                                      </p:to>
                                    </p:set>
                                    <p:anim calcmode="lin" valueType="num">
                                      <p:cBhvr>
                                        <p:cTn id="72" dur="500" fill="hold"/>
                                        <p:tgtEl>
                                          <p:spTgt spid="17"/>
                                        </p:tgtEl>
                                        <p:attrNameLst>
                                          <p:attrName>ppt_w</p:attrName>
                                        </p:attrNameLst>
                                      </p:cBhvr>
                                      <p:tavLst>
                                        <p:tav tm="0">
                                          <p:val>
                                            <p:fltVal val="0"/>
                                          </p:val>
                                        </p:tav>
                                        <p:tav tm="100000">
                                          <p:val>
                                            <p:strVal val="#ppt_w"/>
                                          </p:val>
                                        </p:tav>
                                      </p:tavLst>
                                    </p:anim>
                                    <p:anim calcmode="lin" valueType="num">
                                      <p:cBhvr>
                                        <p:cTn id="73" dur="500" fill="hold"/>
                                        <p:tgtEl>
                                          <p:spTgt spid="17"/>
                                        </p:tgtEl>
                                        <p:attrNameLst>
                                          <p:attrName>ppt_h</p:attrName>
                                        </p:attrNameLst>
                                      </p:cBhvr>
                                      <p:tavLst>
                                        <p:tav tm="0">
                                          <p:val>
                                            <p:fltVal val="0"/>
                                          </p:val>
                                        </p:tav>
                                        <p:tav tm="100000">
                                          <p:val>
                                            <p:strVal val="#ppt_h"/>
                                          </p:val>
                                        </p:tav>
                                      </p:tavLst>
                                    </p:anim>
                                    <p:animEffect transition="in" filter="fade">
                                      <p:cBhvr>
                                        <p:cTn id="74" dur="500"/>
                                        <p:tgtEl>
                                          <p:spTgt spid="17"/>
                                        </p:tgtEl>
                                      </p:cBhvr>
                                    </p:animEffect>
                                  </p:childTnLst>
                                </p:cTn>
                              </p:par>
                              <p:par>
                                <p:cTn id="75" presetID="53" presetClass="entr" presetSubtype="16" fill="hold" grpId="0" nodeType="withEffect">
                                  <p:stCondLst>
                                    <p:cond delay="800"/>
                                  </p:stCondLst>
                                  <p:childTnLst>
                                    <p:set>
                                      <p:cBhvr>
                                        <p:cTn id="76" dur="1" fill="hold">
                                          <p:stCondLst>
                                            <p:cond delay="0"/>
                                          </p:stCondLst>
                                        </p:cTn>
                                        <p:tgtEl>
                                          <p:spTgt spid="18"/>
                                        </p:tgtEl>
                                        <p:attrNameLst>
                                          <p:attrName>style.visibility</p:attrName>
                                        </p:attrNameLst>
                                      </p:cBhvr>
                                      <p:to>
                                        <p:strVal val="visible"/>
                                      </p:to>
                                    </p:set>
                                    <p:anim calcmode="lin" valueType="num">
                                      <p:cBhvr>
                                        <p:cTn id="77" dur="500" fill="hold"/>
                                        <p:tgtEl>
                                          <p:spTgt spid="18"/>
                                        </p:tgtEl>
                                        <p:attrNameLst>
                                          <p:attrName>ppt_w</p:attrName>
                                        </p:attrNameLst>
                                      </p:cBhvr>
                                      <p:tavLst>
                                        <p:tav tm="0">
                                          <p:val>
                                            <p:fltVal val="0"/>
                                          </p:val>
                                        </p:tav>
                                        <p:tav tm="100000">
                                          <p:val>
                                            <p:strVal val="#ppt_w"/>
                                          </p:val>
                                        </p:tav>
                                      </p:tavLst>
                                    </p:anim>
                                    <p:anim calcmode="lin" valueType="num">
                                      <p:cBhvr>
                                        <p:cTn id="78" dur="500" fill="hold"/>
                                        <p:tgtEl>
                                          <p:spTgt spid="18"/>
                                        </p:tgtEl>
                                        <p:attrNameLst>
                                          <p:attrName>ppt_h</p:attrName>
                                        </p:attrNameLst>
                                      </p:cBhvr>
                                      <p:tavLst>
                                        <p:tav tm="0">
                                          <p:val>
                                            <p:fltVal val="0"/>
                                          </p:val>
                                        </p:tav>
                                        <p:tav tm="100000">
                                          <p:val>
                                            <p:strVal val="#ppt_h"/>
                                          </p:val>
                                        </p:tav>
                                      </p:tavLst>
                                    </p:anim>
                                    <p:animEffect transition="in" filter="fade">
                                      <p:cBhvr>
                                        <p:cTn id="79" dur="500"/>
                                        <p:tgtEl>
                                          <p:spTgt spid="18"/>
                                        </p:tgtEl>
                                      </p:cBhvr>
                                    </p:animEffect>
                                  </p:childTnLst>
                                </p:cTn>
                              </p:par>
                              <p:par>
                                <p:cTn id="80" presetID="42" presetClass="entr" presetSubtype="0" fill="hold" grpId="0" nodeType="withEffect">
                                  <p:stCondLst>
                                    <p:cond delay="80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600"/>
                                        <p:tgtEl>
                                          <p:spTgt spid="19"/>
                                        </p:tgtEl>
                                      </p:cBhvr>
                                    </p:animEffect>
                                    <p:anim calcmode="lin" valueType="num">
                                      <p:cBhvr>
                                        <p:cTn id="83" dur="600" fill="hold"/>
                                        <p:tgtEl>
                                          <p:spTgt spid="19"/>
                                        </p:tgtEl>
                                        <p:attrNameLst>
                                          <p:attrName>ppt_x</p:attrName>
                                        </p:attrNameLst>
                                      </p:cBhvr>
                                      <p:tavLst>
                                        <p:tav tm="0">
                                          <p:val>
                                            <p:strVal val="#ppt_x"/>
                                          </p:val>
                                        </p:tav>
                                        <p:tav tm="100000">
                                          <p:val>
                                            <p:strVal val="#ppt_x"/>
                                          </p:val>
                                        </p:tav>
                                      </p:tavLst>
                                    </p:anim>
                                    <p:anim calcmode="lin" valueType="num">
                                      <p:cBhvr>
                                        <p:cTn id="84" dur="600" fill="hold"/>
                                        <p:tgtEl>
                                          <p:spTgt spid="19"/>
                                        </p:tgtEl>
                                        <p:attrNameLst>
                                          <p:attrName>ppt_y</p:attrName>
                                        </p:attrNameLst>
                                      </p:cBhvr>
                                      <p:tavLst>
                                        <p:tav tm="0">
                                          <p:val>
                                            <p:strVal val="#ppt_y+.05"/>
                                          </p:val>
                                        </p:tav>
                                        <p:tav tm="100000">
                                          <p:val>
                                            <p:strVal val="#ppt_y"/>
                                          </p:val>
                                        </p:tav>
                                      </p:tavLst>
                                    </p:anim>
                                  </p:childTnLst>
                                </p:cTn>
                              </p:par>
                              <p:par>
                                <p:cTn id="85" presetID="42" presetClass="entr" presetSubtype="0" fill="hold" grpId="0" nodeType="withEffect">
                                  <p:stCondLst>
                                    <p:cond delay="80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600"/>
                                        <p:tgtEl>
                                          <p:spTgt spid="20"/>
                                        </p:tgtEl>
                                      </p:cBhvr>
                                    </p:animEffect>
                                    <p:anim calcmode="lin" valueType="num">
                                      <p:cBhvr>
                                        <p:cTn id="88" dur="600" fill="hold"/>
                                        <p:tgtEl>
                                          <p:spTgt spid="20"/>
                                        </p:tgtEl>
                                        <p:attrNameLst>
                                          <p:attrName>ppt_x</p:attrName>
                                        </p:attrNameLst>
                                      </p:cBhvr>
                                      <p:tavLst>
                                        <p:tav tm="0">
                                          <p:val>
                                            <p:strVal val="#ppt_x"/>
                                          </p:val>
                                        </p:tav>
                                        <p:tav tm="100000">
                                          <p:val>
                                            <p:strVal val="#ppt_x"/>
                                          </p:val>
                                        </p:tav>
                                      </p:tavLst>
                                    </p:anim>
                                    <p:anim calcmode="lin" valueType="num">
                                      <p:cBhvr>
                                        <p:cTn id="89" dur="600" fill="hold"/>
                                        <p:tgtEl>
                                          <p:spTgt spid="20"/>
                                        </p:tgtEl>
                                        <p:attrNameLst>
                                          <p:attrName>ppt_y</p:attrName>
                                        </p:attrNameLst>
                                      </p:cBhvr>
                                      <p:tavLst>
                                        <p:tav tm="0">
                                          <p:val>
                                            <p:strVal val="#ppt_y+.05"/>
                                          </p:val>
                                        </p:tav>
                                        <p:tav tm="100000">
                                          <p:val>
                                            <p:strVal val="#ppt_y"/>
                                          </p:val>
                                        </p:tav>
                                      </p:tavLst>
                                    </p:anim>
                                  </p:childTnLst>
                                </p:cTn>
                              </p:par>
                              <p:par>
                                <p:cTn id="90" presetID="53" presetClass="entr" presetSubtype="16" fill="hold" grpId="0" nodeType="withEffect">
                                  <p:stCondLst>
                                    <p:cond delay="1000"/>
                                  </p:stCondLst>
                                  <p:childTnLst>
                                    <p:set>
                                      <p:cBhvr>
                                        <p:cTn id="91" dur="1" fill="hold">
                                          <p:stCondLst>
                                            <p:cond delay="0"/>
                                          </p:stCondLst>
                                        </p:cTn>
                                        <p:tgtEl>
                                          <p:spTgt spid="21"/>
                                        </p:tgtEl>
                                        <p:attrNameLst>
                                          <p:attrName>style.visibility</p:attrName>
                                        </p:attrNameLst>
                                      </p:cBhvr>
                                      <p:to>
                                        <p:strVal val="visible"/>
                                      </p:to>
                                    </p:set>
                                    <p:anim calcmode="lin" valueType="num">
                                      <p:cBhvr>
                                        <p:cTn id="92" dur="500" fill="hold"/>
                                        <p:tgtEl>
                                          <p:spTgt spid="21"/>
                                        </p:tgtEl>
                                        <p:attrNameLst>
                                          <p:attrName>ppt_w</p:attrName>
                                        </p:attrNameLst>
                                      </p:cBhvr>
                                      <p:tavLst>
                                        <p:tav tm="0">
                                          <p:val>
                                            <p:fltVal val="0"/>
                                          </p:val>
                                        </p:tav>
                                        <p:tav tm="100000">
                                          <p:val>
                                            <p:strVal val="#ppt_w"/>
                                          </p:val>
                                        </p:tav>
                                      </p:tavLst>
                                    </p:anim>
                                    <p:anim calcmode="lin" valueType="num">
                                      <p:cBhvr>
                                        <p:cTn id="93" dur="500" fill="hold"/>
                                        <p:tgtEl>
                                          <p:spTgt spid="21"/>
                                        </p:tgtEl>
                                        <p:attrNameLst>
                                          <p:attrName>ppt_h</p:attrName>
                                        </p:attrNameLst>
                                      </p:cBhvr>
                                      <p:tavLst>
                                        <p:tav tm="0">
                                          <p:val>
                                            <p:fltVal val="0"/>
                                          </p:val>
                                        </p:tav>
                                        <p:tav tm="100000">
                                          <p:val>
                                            <p:strVal val="#ppt_h"/>
                                          </p:val>
                                        </p:tav>
                                      </p:tavLst>
                                    </p:anim>
                                    <p:animEffect transition="in" filter="fade">
                                      <p:cBhvr>
                                        <p:cTn id="94" dur="500"/>
                                        <p:tgtEl>
                                          <p:spTgt spid="21"/>
                                        </p:tgtEl>
                                      </p:cBhvr>
                                    </p:animEffect>
                                  </p:childTnLst>
                                </p:cTn>
                              </p:par>
                              <p:par>
                                <p:cTn id="95" presetID="53" presetClass="entr" presetSubtype="16" fill="hold" grpId="0" nodeType="withEffect">
                                  <p:stCondLst>
                                    <p:cond delay="1000"/>
                                  </p:stCondLst>
                                  <p:childTnLst>
                                    <p:set>
                                      <p:cBhvr>
                                        <p:cTn id="96" dur="1" fill="hold">
                                          <p:stCondLst>
                                            <p:cond delay="0"/>
                                          </p:stCondLst>
                                        </p:cTn>
                                        <p:tgtEl>
                                          <p:spTgt spid="22"/>
                                        </p:tgtEl>
                                        <p:attrNameLst>
                                          <p:attrName>style.visibility</p:attrName>
                                        </p:attrNameLst>
                                      </p:cBhvr>
                                      <p:to>
                                        <p:strVal val="visible"/>
                                      </p:to>
                                    </p:set>
                                    <p:anim calcmode="lin" valueType="num">
                                      <p:cBhvr>
                                        <p:cTn id="97" dur="500" fill="hold"/>
                                        <p:tgtEl>
                                          <p:spTgt spid="22"/>
                                        </p:tgtEl>
                                        <p:attrNameLst>
                                          <p:attrName>ppt_w</p:attrName>
                                        </p:attrNameLst>
                                      </p:cBhvr>
                                      <p:tavLst>
                                        <p:tav tm="0">
                                          <p:val>
                                            <p:fltVal val="0"/>
                                          </p:val>
                                        </p:tav>
                                        <p:tav tm="100000">
                                          <p:val>
                                            <p:strVal val="#ppt_w"/>
                                          </p:val>
                                        </p:tav>
                                      </p:tavLst>
                                    </p:anim>
                                    <p:anim calcmode="lin" valueType="num">
                                      <p:cBhvr>
                                        <p:cTn id="98" dur="500" fill="hold"/>
                                        <p:tgtEl>
                                          <p:spTgt spid="22"/>
                                        </p:tgtEl>
                                        <p:attrNameLst>
                                          <p:attrName>ppt_h</p:attrName>
                                        </p:attrNameLst>
                                      </p:cBhvr>
                                      <p:tavLst>
                                        <p:tav tm="0">
                                          <p:val>
                                            <p:fltVal val="0"/>
                                          </p:val>
                                        </p:tav>
                                        <p:tav tm="100000">
                                          <p:val>
                                            <p:strVal val="#ppt_h"/>
                                          </p:val>
                                        </p:tav>
                                      </p:tavLst>
                                    </p:anim>
                                    <p:animEffect transition="in" filter="fade">
                                      <p:cBhvr>
                                        <p:cTn id="99" dur="500"/>
                                        <p:tgtEl>
                                          <p:spTgt spid="22"/>
                                        </p:tgtEl>
                                      </p:cBhvr>
                                    </p:animEffect>
                                  </p:childTnLst>
                                </p:cTn>
                              </p:par>
                              <p:par>
                                <p:cTn id="100" presetID="42" presetClass="entr" presetSubtype="0" fill="hold" grpId="0" nodeType="withEffect">
                                  <p:stCondLst>
                                    <p:cond delay="100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600"/>
                                        <p:tgtEl>
                                          <p:spTgt spid="23"/>
                                        </p:tgtEl>
                                      </p:cBhvr>
                                    </p:animEffect>
                                    <p:anim calcmode="lin" valueType="num">
                                      <p:cBhvr>
                                        <p:cTn id="103" dur="600" fill="hold"/>
                                        <p:tgtEl>
                                          <p:spTgt spid="23"/>
                                        </p:tgtEl>
                                        <p:attrNameLst>
                                          <p:attrName>ppt_x</p:attrName>
                                        </p:attrNameLst>
                                      </p:cBhvr>
                                      <p:tavLst>
                                        <p:tav tm="0">
                                          <p:val>
                                            <p:strVal val="#ppt_x"/>
                                          </p:val>
                                        </p:tav>
                                        <p:tav tm="100000">
                                          <p:val>
                                            <p:strVal val="#ppt_x"/>
                                          </p:val>
                                        </p:tav>
                                      </p:tavLst>
                                    </p:anim>
                                    <p:anim calcmode="lin" valueType="num">
                                      <p:cBhvr>
                                        <p:cTn id="104" dur="600" fill="hold"/>
                                        <p:tgtEl>
                                          <p:spTgt spid="23"/>
                                        </p:tgtEl>
                                        <p:attrNameLst>
                                          <p:attrName>ppt_y</p:attrName>
                                        </p:attrNameLst>
                                      </p:cBhvr>
                                      <p:tavLst>
                                        <p:tav tm="0">
                                          <p:val>
                                            <p:strVal val="#ppt_y+.05"/>
                                          </p:val>
                                        </p:tav>
                                        <p:tav tm="100000">
                                          <p:val>
                                            <p:strVal val="#ppt_y"/>
                                          </p:val>
                                        </p:tav>
                                      </p:tavLst>
                                    </p:anim>
                                  </p:childTnLst>
                                </p:cTn>
                              </p:par>
                              <p:par>
                                <p:cTn id="105" presetID="42" presetClass="entr" presetSubtype="0" fill="hold" grpId="0" nodeType="withEffect">
                                  <p:stCondLst>
                                    <p:cond delay="100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600"/>
                                        <p:tgtEl>
                                          <p:spTgt spid="24"/>
                                        </p:tgtEl>
                                      </p:cBhvr>
                                    </p:animEffect>
                                    <p:anim calcmode="lin" valueType="num">
                                      <p:cBhvr>
                                        <p:cTn id="108" dur="600" fill="hold"/>
                                        <p:tgtEl>
                                          <p:spTgt spid="24"/>
                                        </p:tgtEl>
                                        <p:attrNameLst>
                                          <p:attrName>ppt_x</p:attrName>
                                        </p:attrNameLst>
                                      </p:cBhvr>
                                      <p:tavLst>
                                        <p:tav tm="0">
                                          <p:val>
                                            <p:strVal val="#ppt_x"/>
                                          </p:val>
                                        </p:tav>
                                        <p:tav tm="100000">
                                          <p:val>
                                            <p:strVal val="#ppt_x"/>
                                          </p:val>
                                        </p:tav>
                                      </p:tavLst>
                                    </p:anim>
                                    <p:anim calcmode="lin" valueType="num">
                                      <p:cBhvr>
                                        <p:cTn id="109" dur="600" fill="hold"/>
                                        <p:tgtEl>
                                          <p:spTgt spid="24"/>
                                        </p:tgtEl>
                                        <p:attrNameLst>
                                          <p:attrName>ppt_y</p:attrName>
                                        </p:attrNameLst>
                                      </p:cBhvr>
                                      <p:tavLst>
                                        <p:tav tm="0">
                                          <p:val>
                                            <p:strVal val="#ppt_y+.05"/>
                                          </p:val>
                                        </p:tav>
                                        <p:tav tm="100000">
                                          <p:val>
                                            <p:strVal val="#ppt_y"/>
                                          </p:val>
                                        </p:tav>
                                      </p:tavLst>
                                    </p:anim>
                                  </p:childTnLst>
                                </p:cTn>
                              </p:par>
                              <p:par>
                                <p:cTn id="110" presetID="53" presetClass="entr" presetSubtype="16" fill="hold" grpId="0" nodeType="withEffect">
                                  <p:stCondLst>
                                    <p:cond delay="1200"/>
                                  </p:stCondLst>
                                  <p:childTnLst>
                                    <p:set>
                                      <p:cBhvr>
                                        <p:cTn id="111" dur="1" fill="hold">
                                          <p:stCondLst>
                                            <p:cond delay="0"/>
                                          </p:stCondLst>
                                        </p:cTn>
                                        <p:tgtEl>
                                          <p:spTgt spid="25"/>
                                        </p:tgtEl>
                                        <p:attrNameLst>
                                          <p:attrName>style.visibility</p:attrName>
                                        </p:attrNameLst>
                                      </p:cBhvr>
                                      <p:to>
                                        <p:strVal val="visible"/>
                                      </p:to>
                                    </p:set>
                                    <p:anim calcmode="lin" valueType="num">
                                      <p:cBhvr>
                                        <p:cTn id="112" dur="500" fill="hold"/>
                                        <p:tgtEl>
                                          <p:spTgt spid="25"/>
                                        </p:tgtEl>
                                        <p:attrNameLst>
                                          <p:attrName>ppt_w</p:attrName>
                                        </p:attrNameLst>
                                      </p:cBhvr>
                                      <p:tavLst>
                                        <p:tav tm="0">
                                          <p:val>
                                            <p:fltVal val="0"/>
                                          </p:val>
                                        </p:tav>
                                        <p:tav tm="100000">
                                          <p:val>
                                            <p:strVal val="#ppt_w"/>
                                          </p:val>
                                        </p:tav>
                                      </p:tavLst>
                                    </p:anim>
                                    <p:anim calcmode="lin" valueType="num">
                                      <p:cBhvr>
                                        <p:cTn id="113" dur="500" fill="hold"/>
                                        <p:tgtEl>
                                          <p:spTgt spid="25"/>
                                        </p:tgtEl>
                                        <p:attrNameLst>
                                          <p:attrName>ppt_h</p:attrName>
                                        </p:attrNameLst>
                                      </p:cBhvr>
                                      <p:tavLst>
                                        <p:tav tm="0">
                                          <p:val>
                                            <p:fltVal val="0"/>
                                          </p:val>
                                        </p:tav>
                                        <p:tav tm="100000">
                                          <p:val>
                                            <p:strVal val="#ppt_h"/>
                                          </p:val>
                                        </p:tav>
                                      </p:tavLst>
                                    </p:anim>
                                    <p:animEffect transition="in" filter="fade">
                                      <p:cBhvr>
                                        <p:cTn id="114" dur="500"/>
                                        <p:tgtEl>
                                          <p:spTgt spid="25"/>
                                        </p:tgtEl>
                                      </p:cBhvr>
                                    </p:animEffect>
                                  </p:childTnLst>
                                </p:cTn>
                              </p:par>
                              <p:par>
                                <p:cTn id="115" presetID="53" presetClass="entr" presetSubtype="16" fill="hold" grpId="0" nodeType="withEffect">
                                  <p:stCondLst>
                                    <p:cond delay="1200"/>
                                  </p:stCondLst>
                                  <p:childTnLst>
                                    <p:set>
                                      <p:cBhvr>
                                        <p:cTn id="116" dur="1" fill="hold">
                                          <p:stCondLst>
                                            <p:cond delay="0"/>
                                          </p:stCondLst>
                                        </p:cTn>
                                        <p:tgtEl>
                                          <p:spTgt spid="26"/>
                                        </p:tgtEl>
                                        <p:attrNameLst>
                                          <p:attrName>style.visibility</p:attrName>
                                        </p:attrNameLst>
                                      </p:cBhvr>
                                      <p:to>
                                        <p:strVal val="visible"/>
                                      </p:to>
                                    </p:set>
                                    <p:anim calcmode="lin" valueType="num">
                                      <p:cBhvr>
                                        <p:cTn id="117" dur="500" fill="hold"/>
                                        <p:tgtEl>
                                          <p:spTgt spid="26"/>
                                        </p:tgtEl>
                                        <p:attrNameLst>
                                          <p:attrName>ppt_w</p:attrName>
                                        </p:attrNameLst>
                                      </p:cBhvr>
                                      <p:tavLst>
                                        <p:tav tm="0">
                                          <p:val>
                                            <p:fltVal val="0"/>
                                          </p:val>
                                        </p:tav>
                                        <p:tav tm="100000">
                                          <p:val>
                                            <p:strVal val="#ppt_w"/>
                                          </p:val>
                                        </p:tav>
                                      </p:tavLst>
                                    </p:anim>
                                    <p:anim calcmode="lin" valueType="num">
                                      <p:cBhvr>
                                        <p:cTn id="118" dur="500" fill="hold"/>
                                        <p:tgtEl>
                                          <p:spTgt spid="26"/>
                                        </p:tgtEl>
                                        <p:attrNameLst>
                                          <p:attrName>ppt_h</p:attrName>
                                        </p:attrNameLst>
                                      </p:cBhvr>
                                      <p:tavLst>
                                        <p:tav tm="0">
                                          <p:val>
                                            <p:fltVal val="0"/>
                                          </p:val>
                                        </p:tav>
                                        <p:tav tm="100000">
                                          <p:val>
                                            <p:strVal val="#ppt_h"/>
                                          </p:val>
                                        </p:tav>
                                      </p:tavLst>
                                    </p:anim>
                                    <p:animEffect transition="in" filter="fade">
                                      <p:cBhvr>
                                        <p:cTn id="119" dur="500"/>
                                        <p:tgtEl>
                                          <p:spTgt spid="26"/>
                                        </p:tgtEl>
                                      </p:cBhvr>
                                    </p:animEffect>
                                  </p:childTnLst>
                                </p:cTn>
                              </p:par>
                              <p:par>
                                <p:cTn id="120" presetID="42" presetClass="entr" presetSubtype="0" fill="hold" grpId="0" nodeType="withEffect">
                                  <p:stCondLst>
                                    <p:cond delay="120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600"/>
                                        <p:tgtEl>
                                          <p:spTgt spid="27"/>
                                        </p:tgtEl>
                                      </p:cBhvr>
                                    </p:animEffect>
                                    <p:anim calcmode="lin" valueType="num">
                                      <p:cBhvr>
                                        <p:cTn id="123" dur="600" fill="hold"/>
                                        <p:tgtEl>
                                          <p:spTgt spid="27"/>
                                        </p:tgtEl>
                                        <p:attrNameLst>
                                          <p:attrName>ppt_x</p:attrName>
                                        </p:attrNameLst>
                                      </p:cBhvr>
                                      <p:tavLst>
                                        <p:tav tm="0">
                                          <p:val>
                                            <p:strVal val="#ppt_x"/>
                                          </p:val>
                                        </p:tav>
                                        <p:tav tm="100000">
                                          <p:val>
                                            <p:strVal val="#ppt_x"/>
                                          </p:val>
                                        </p:tav>
                                      </p:tavLst>
                                    </p:anim>
                                    <p:anim calcmode="lin" valueType="num">
                                      <p:cBhvr>
                                        <p:cTn id="124" dur="600" fill="hold"/>
                                        <p:tgtEl>
                                          <p:spTgt spid="27"/>
                                        </p:tgtEl>
                                        <p:attrNameLst>
                                          <p:attrName>ppt_y</p:attrName>
                                        </p:attrNameLst>
                                      </p:cBhvr>
                                      <p:tavLst>
                                        <p:tav tm="0">
                                          <p:val>
                                            <p:strVal val="#ppt_y+.05"/>
                                          </p:val>
                                        </p:tav>
                                        <p:tav tm="100000">
                                          <p:val>
                                            <p:strVal val="#ppt_y"/>
                                          </p:val>
                                        </p:tav>
                                      </p:tavLst>
                                    </p:anim>
                                  </p:childTnLst>
                                </p:cTn>
                              </p:par>
                              <p:par>
                                <p:cTn id="125" presetID="42" presetClass="entr" presetSubtype="0" fill="hold" grpId="0" nodeType="withEffect">
                                  <p:stCondLst>
                                    <p:cond delay="120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600"/>
                                        <p:tgtEl>
                                          <p:spTgt spid="28"/>
                                        </p:tgtEl>
                                      </p:cBhvr>
                                    </p:animEffect>
                                    <p:anim calcmode="lin" valueType="num">
                                      <p:cBhvr>
                                        <p:cTn id="128" dur="600" fill="hold"/>
                                        <p:tgtEl>
                                          <p:spTgt spid="28"/>
                                        </p:tgtEl>
                                        <p:attrNameLst>
                                          <p:attrName>ppt_x</p:attrName>
                                        </p:attrNameLst>
                                      </p:cBhvr>
                                      <p:tavLst>
                                        <p:tav tm="0">
                                          <p:val>
                                            <p:strVal val="#ppt_x"/>
                                          </p:val>
                                        </p:tav>
                                        <p:tav tm="100000">
                                          <p:val>
                                            <p:strVal val="#ppt_x"/>
                                          </p:val>
                                        </p:tav>
                                      </p:tavLst>
                                    </p:anim>
                                    <p:anim calcmode="lin" valueType="num">
                                      <p:cBhvr>
                                        <p:cTn id="129" dur="600" fill="hold"/>
                                        <p:tgtEl>
                                          <p:spTgt spid="28"/>
                                        </p:tgtEl>
                                        <p:attrNameLst>
                                          <p:attrName>ppt_y</p:attrName>
                                        </p:attrNameLst>
                                      </p:cBhvr>
                                      <p:tavLst>
                                        <p:tav tm="0">
                                          <p:val>
                                            <p:strVal val="#ppt_y+.05"/>
                                          </p:val>
                                        </p:tav>
                                        <p:tav tm="100000">
                                          <p:val>
                                            <p:strVal val="#ppt_y"/>
                                          </p:val>
                                        </p:tav>
                                      </p:tavLst>
                                    </p:anim>
                                  </p:childTnLst>
                                </p:cTn>
                              </p:par>
                            </p:childTnLst>
                          </p:cTn>
                        </p:par>
                      </p:childTnLst>
                    </p:cTn>
                  </p:par>
                  <p:par>
                    <p:cTn id="130" fill="hold">
                      <p:stCondLst>
                        <p:cond delay="indefinite"/>
                      </p:stCondLst>
                      <p:childTnLst>
                        <p:par>
                          <p:cTn id="131" fill="hold">
                            <p:stCondLst>
                              <p:cond delay="0"/>
                            </p:stCondLst>
                            <p:childTnLst>
                              <p:par>
                                <p:cTn id="132" presetID="42" presetClass="entr" presetSubtype="0" fill="hold" grpId="0" nodeType="clickEffect">
                                  <p:stCondLst>
                                    <p:cond delay="0"/>
                                  </p:stCondLst>
                                  <p:childTnLst>
                                    <p:set>
                                      <p:cBhvr>
                                        <p:cTn id="133" dur="1" fill="hold">
                                          <p:stCondLst>
                                            <p:cond delay="0"/>
                                          </p:stCondLst>
                                        </p:cTn>
                                        <p:tgtEl>
                                          <p:spTgt spid="29"/>
                                        </p:tgtEl>
                                        <p:attrNameLst>
                                          <p:attrName>style.visibility</p:attrName>
                                        </p:attrNameLst>
                                      </p:cBhvr>
                                      <p:to>
                                        <p:strVal val="visible"/>
                                      </p:to>
                                    </p:set>
                                    <p:animEffect transition="in" filter="fade">
                                      <p:cBhvr>
                                        <p:cTn id="134" dur="600"/>
                                        <p:tgtEl>
                                          <p:spTgt spid="29"/>
                                        </p:tgtEl>
                                      </p:cBhvr>
                                    </p:animEffect>
                                    <p:anim calcmode="lin" valueType="num">
                                      <p:cBhvr>
                                        <p:cTn id="135" dur="600" fill="hold"/>
                                        <p:tgtEl>
                                          <p:spTgt spid="29"/>
                                        </p:tgtEl>
                                        <p:attrNameLst>
                                          <p:attrName>ppt_x</p:attrName>
                                        </p:attrNameLst>
                                      </p:cBhvr>
                                      <p:tavLst>
                                        <p:tav tm="0">
                                          <p:val>
                                            <p:strVal val="#ppt_x"/>
                                          </p:val>
                                        </p:tav>
                                        <p:tav tm="100000">
                                          <p:val>
                                            <p:strVal val="#ppt_x"/>
                                          </p:val>
                                        </p:tav>
                                      </p:tavLst>
                                    </p:anim>
                                    <p:anim calcmode="lin" valueType="num">
                                      <p:cBhvr>
                                        <p:cTn id="136" dur="600" fill="hold"/>
                                        <p:tgtEl>
                                          <p:spTgt spid="29"/>
                                        </p:tgtEl>
                                        <p:attrNameLst>
                                          <p:attrName>ppt_y</p:attrName>
                                        </p:attrNameLst>
                                      </p:cBhvr>
                                      <p:tavLst>
                                        <p:tav tm="0">
                                          <p:val>
                                            <p:strVal val="#ppt_y+.05"/>
                                          </p:val>
                                        </p:tav>
                                        <p:tav tm="100000">
                                          <p:val>
                                            <p:strVal val="#ppt_y"/>
                                          </p:val>
                                        </p:tav>
                                      </p:tavLst>
                                    </p:anim>
                                  </p:childTnLst>
                                </p:cTn>
                              </p:par>
                              <p:par>
                                <p:cTn id="137" presetID="42" presetClass="entr" presetSubtype="0" fill="hold" grpId="0" nodeType="withEffect">
                                  <p:stCondLst>
                                    <p:cond delay="200"/>
                                  </p:stCondLst>
                                  <p:childTnLst>
                                    <p:set>
                                      <p:cBhvr>
                                        <p:cTn id="138" dur="1" fill="hold">
                                          <p:stCondLst>
                                            <p:cond delay="0"/>
                                          </p:stCondLst>
                                        </p:cTn>
                                        <p:tgtEl>
                                          <p:spTgt spid="30"/>
                                        </p:tgtEl>
                                        <p:attrNameLst>
                                          <p:attrName>style.visibility</p:attrName>
                                        </p:attrNameLst>
                                      </p:cBhvr>
                                      <p:to>
                                        <p:strVal val="visible"/>
                                      </p:to>
                                    </p:set>
                                    <p:animEffect transition="in" filter="fade">
                                      <p:cBhvr>
                                        <p:cTn id="139" dur="600"/>
                                        <p:tgtEl>
                                          <p:spTgt spid="30"/>
                                        </p:tgtEl>
                                      </p:cBhvr>
                                    </p:animEffect>
                                    <p:anim calcmode="lin" valueType="num">
                                      <p:cBhvr>
                                        <p:cTn id="140" dur="600" fill="hold"/>
                                        <p:tgtEl>
                                          <p:spTgt spid="30"/>
                                        </p:tgtEl>
                                        <p:attrNameLst>
                                          <p:attrName>ppt_x</p:attrName>
                                        </p:attrNameLst>
                                      </p:cBhvr>
                                      <p:tavLst>
                                        <p:tav tm="0">
                                          <p:val>
                                            <p:strVal val="#ppt_x"/>
                                          </p:val>
                                        </p:tav>
                                        <p:tav tm="100000">
                                          <p:val>
                                            <p:strVal val="#ppt_x"/>
                                          </p:val>
                                        </p:tav>
                                      </p:tavLst>
                                    </p:anim>
                                    <p:anim calcmode="lin" valueType="num">
                                      <p:cBhvr>
                                        <p:cTn id="141" dur="600" fill="hold"/>
                                        <p:tgtEl>
                                          <p:spTgt spid="30"/>
                                        </p:tgtEl>
                                        <p:attrNameLst>
                                          <p:attrName>ppt_y</p:attrName>
                                        </p:attrNameLst>
                                      </p:cBhvr>
                                      <p:tavLst>
                                        <p:tav tm="0">
                                          <p:val>
                                            <p:strVal val="#ppt_y+.05"/>
                                          </p:val>
                                        </p:tav>
                                        <p:tav tm="100000">
                                          <p:val>
                                            <p:strVal val="#ppt_y"/>
                                          </p:val>
                                        </p:tav>
                                      </p:tavLst>
                                    </p:anim>
                                  </p:childTnLst>
                                </p:cTn>
                              </p:par>
                              <p:par>
                                <p:cTn id="142" presetID="53" presetClass="entr" presetSubtype="16" fill="hold" grpId="0" nodeType="withEffect">
                                  <p:stCondLst>
                                    <p:cond delay="200"/>
                                  </p:stCondLst>
                                  <p:childTnLst>
                                    <p:set>
                                      <p:cBhvr>
                                        <p:cTn id="143" dur="1" fill="hold">
                                          <p:stCondLst>
                                            <p:cond delay="0"/>
                                          </p:stCondLst>
                                        </p:cTn>
                                        <p:tgtEl>
                                          <p:spTgt spid="31"/>
                                        </p:tgtEl>
                                        <p:attrNameLst>
                                          <p:attrName>style.visibility</p:attrName>
                                        </p:attrNameLst>
                                      </p:cBhvr>
                                      <p:to>
                                        <p:strVal val="visible"/>
                                      </p:to>
                                    </p:set>
                                    <p:anim calcmode="lin" valueType="num">
                                      <p:cBhvr>
                                        <p:cTn id="144" dur="500" fill="hold"/>
                                        <p:tgtEl>
                                          <p:spTgt spid="31"/>
                                        </p:tgtEl>
                                        <p:attrNameLst>
                                          <p:attrName>ppt_w</p:attrName>
                                        </p:attrNameLst>
                                      </p:cBhvr>
                                      <p:tavLst>
                                        <p:tav tm="0">
                                          <p:val>
                                            <p:fltVal val="0"/>
                                          </p:val>
                                        </p:tav>
                                        <p:tav tm="100000">
                                          <p:val>
                                            <p:strVal val="#ppt_w"/>
                                          </p:val>
                                        </p:tav>
                                      </p:tavLst>
                                    </p:anim>
                                    <p:anim calcmode="lin" valueType="num">
                                      <p:cBhvr>
                                        <p:cTn id="145" dur="500" fill="hold"/>
                                        <p:tgtEl>
                                          <p:spTgt spid="31"/>
                                        </p:tgtEl>
                                        <p:attrNameLst>
                                          <p:attrName>ppt_h</p:attrName>
                                        </p:attrNameLst>
                                      </p:cBhvr>
                                      <p:tavLst>
                                        <p:tav tm="0">
                                          <p:val>
                                            <p:fltVal val="0"/>
                                          </p:val>
                                        </p:tav>
                                        <p:tav tm="100000">
                                          <p:val>
                                            <p:strVal val="#ppt_h"/>
                                          </p:val>
                                        </p:tav>
                                      </p:tavLst>
                                    </p:anim>
                                    <p:animEffect transition="in" filter="fade">
                                      <p:cBhvr>
                                        <p:cTn id="146" dur="500"/>
                                        <p:tgtEl>
                                          <p:spTgt spid="31"/>
                                        </p:tgtEl>
                                      </p:cBhvr>
                                    </p:animEffect>
                                  </p:childTnLst>
                                </p:cTn>
                              </p:par>
                              <p:par>
                                <p:cTn id="147" presetID="53" presetClass="entr" presetSubtype="16" fill="hold" grpId="0" nodeType="withEffect">
                                  <p:stCondLst>
                                    <p:cond delay="200"/>
                                  </p:stCondLst>
                                  <p:childTnLst>
                                    <p:set>
                                      <p:cBhvr>
                                        <p:cTn id="148" dur="1" fill="hold">
                                          <p:stCondLst>
                                            <p:cond delay="0"/>
                                          </p:stCondLst>
                                        </p:cTn>
                                        <p:tgtEl>
                                          <p:spTgt spid="32"/>
                                        </p:tgtEl>
                                        <p:attrNameLst>
                                          <p:attrName>style.visibility</p:attrName>
                                        </p:attrNameLst>
                                      </p:cBhvr>
                                      <p:to>
                                        <p:strVal val="visible"/>
                                      </p:to>
                                    </p:set>
                                    <p:anim calcmode="lin" valueType="num">
                                      <p:cBhvr>
                                        <p:cTn id="149" dur="500" fill="hold"/>
                                        <p:tgtEl>
                                          <p:spTgt spid="32"/>
                                        </p:tgtEl>
                                        <p:attrNameLst>
                                          <p:attrName>ppt_w</p:attrName>
                                        </p:attrNameLst>
                                      </p:cBhvr>
                                      <p:tavLst>
                                        <p:tav tm="0">
                                          <p:val>
                                            <p:fltVal val="0"/>
                                          </p:val>
                                        </p:tav>
                                        <p:tav tm="100000">
                                          <p:val>
                                            <p:strVal val="#ppt_w"/>
                                          </p:val>
                                        </p:tav>
                                      </p:tavLst>
                                    </p:anim>
                                    <p:anim calcmode="lin" valueType="num">
                                      <p:cBhvr>
                                        <p:cTn id="150" dur="500" fill="hold"/>
                                        <p:tgtEl>
                                          <p:spTgt spid="32"/>
                                        </p:tgtEl>
                                        <p:attrNameLst>
                                          <p:attrName>ppt_h</p:attrName>
                                        </p:attrNameLst>
                                      </p:cBhvr>
                                      <p:tavLst>
                                        <p:tav tm="0">
                                          <p:val>
                                            <p:fltVal val="0"/>
                                          </p:val>
                                        </p:tav>
                                        <p:tav tm="100000">
                                          <p:val>
                                            <p:strVal val="#ppt_h"/>
                                          </p:val>
                                        </p:tav>
                                      </p:tavLst>
                                    </p:anim>
                                    <p:animEffect transition="in" filter="fade">
                                      <p:cBhvr>
                                        <p:cTn id="151" dur="500"/>
                                        <p:tgtEl>
                                          <p:spTgt spid="32"/>
                                        </p:tgtEl>
                                      </p:cBhvr>
                                    </p:animEffect>
                                  </p:childTnLst>
                                </p:cTn>
                              </p:par>
                              <p:par>
                                <p:cTn id="152" presetID="42" presetClass="entr" presetSubtype="0" fill="hold" grpId="0" nodeType="withEffect">
                                  <p:stCondLst>
                                    <p:cond delay="200"/>
                                  </p:stCondLst>
                                  <p:childTnLst>
                                    <p:set>
                                      <p:cBhvr>
                                        <p:cTn id="153" dur="1" fill="hold">
                                          <p:stCondLst>
                                            <p:cond delay="0"/>
                                          </p:stCondLst>
                                        </p:cTn>
                                        <p:tgtEl>
                                          <p:spTgt spid="33"/>
                                        </p:tgtEl>
                                        <p:attrNameLst>
                                          <p:attrName>style.visibility</p:attrName>
                                        </p:attrNameLst>
                                      </p:cBhvr>
                                      <p:to>
                                        <p:strVal val="visible"/>
                                      </p:to>
                                    </p:set>
                                    <p:animEffect transition="in" filter="fade">
                                      <p:cBhvr>
                                        <p:cTn id="154" dur="600"/>
                                        <p:tgtEl>
                                          <p:spTgt spid="33"/>
                                        </p:tgtEl>
                                      </p:cBhvr>
                                    </p:animEffect>
                                    <p:anim calcmode="lin" valueType="num">
                                      <p:cBhvr>
                                        <p:cTn id="155" dur="600" fill="hold"/>
                                        <p:tgtEl>
                                          <p:spTgt spid="33"/>
                                        </p:tgtEl>
                                        <p:attrNameLst>
                                          <p:attrName>ppt_x</p:attrName>
                                        </p:attrNameLst>
                                      </p:cBhvr>
                                      <p:tavLst>
                                        <p:tav tm="0">
                                          <p:val>
                                            <p:strVal val="#ppt_x"/>
                                          </p:val>
                                        </p:tav>
                                        <p:tav tm="100000">
                                          <p:val>
                                            <p:strVal val="#ppt_x"/>
                                          </p:val>
                                        </p:tav>
                                      </p:tavLst>
                                    </p:anim>
                                    <p:anim calcmode="lin" valueType="num">
                                      <p:cBhvr>
                                        <p:cTn id="156" dur="600" fill="hold"/>
                                        <p:tgtEl>
                                          <p:spTgt spid="33"/>
                                        </p:tgtEl>
                                        <p:attrNameLst>
                                          <p:attrName>ppt_y</p:attrName>
                                        </p:attrNameLst>
                                      </p:cBhvr>
                                      <p:tavLst>
                                        <p:tav tm="0">
                                          <p:val>
                                            <p:strVal val="#ppt_y+.05"/>
                                          </p:val>
                                        </p:tav>
                                        <p:tav tm="100000">
                                          <p:val>
                                            <p:strVal val="#ppt_y"/>
                                          </p:val>
                                        </p:tav>
                                      </p:tavLst>
                                    </p:anim>
                                  </p:childTnLst>
                                </p:cTn>
                              </p:par>
                              <p:par>
                                <p:cTn id="157" presetID="42" presetClass="entr" presetSubtype="0" fill="hold" grpId="0" nodeType="withEffect">
                                  <p:stCondLst>
                                    <p:cond delay="200"/>
                                  </p:stCondLst>
                                  <p:childTnLst>
                                    <p:set>
                                      <p:cBhvr>
                                        <p:cTn id="158" dur="1" fill="hold">
                                          <p:stCondLst>
                                            <p:cond delay="0"/>
                                          </p:stCondLst>
                                        </p:cTn>
                                        <p:tgtEl>
                                          <p:spTgt spid="34"/>
                                        </p:tgtEl>
                                        <p:attrNameLst>
                                          <p:attrName>style.visibility</p:attrName>
                                        </p:attrNameLst>
                                      </p:cBhvr>
                                      <p:to>
                                        <p:strVal val="visible"/>
                                      </p:to>
                                    </p:set>
                                    <p:animEffect transition="in" filter="fade">
                                      <p:cBhvr>
                                        <p:cTn id="159" dur="600"/>
                                        <p:tgtEl>
                                          <p:spTgt spid="34"/>
                                        </p:tgtEl>
                                      </p:cBhvr>
                                    </p:animEffect>
                                    <p:anim calcmode="lin" valueType="num">
                                      <p:cBhvr>
                                        <p:cTn id="160" dur="600" fill="hold"/>
                                        <p:tgtEl>
                                          <p:spTgt spid="34"/>
                                        </p:tgtEl>
                                        <p:attrNameLst>
                                          <p:attrName>ppt_x</p:attrName>
                                        </p:attrNameLst>
                                      </p:cBhvr>
                                      <p:tavLst>
                                        <p:tav tm="0">
                                          <p:val>
                                            <p:strVal val="#ppt_x"/>
                                          </p:val>
                                        </p:tav>
                                        <p:tav tm="100000">
                                          <p:val>
                                            <p:strVal val="#ppt_x"/>
                                          </p:val>
                                        </p:tav>
                                      </p:tavLst>
                                    </p:anim>
                                    <p:anim calcmode="lin" valueType="num">
                                      <p:cBhvr>
                                        <p:cTn id="161" dur="600" fill="hold"/>
                                        <p:tgtEl>
                                          <p:spTgt spid="34"/>
                                        </p:tgtEl>
                                        <p:attrNameLst>
                                          <p:attrName>ppt_y</p:attrName>
                                        </p:attrNameLst>
                                      </p:cBhvr>
                                      <p:tavLst>
                                        <p:tav tm="0">
                                          <p:val>
                                            <p:strVal val="#ppt_y+.05"/>
                                          </p:val>
                                        </p:tav>
                                        <p:tav tm="100000">
                                          <p:val>
                                            <p:strVal val="#ppt_y"/>
                                          </p:val>
                                        </p:tav>
                                      </p:tavLst>
                                    </p:anim>
                                  </p:childTnLst>
                                </p:cTn>
                              </p:par>
                              <p:par>
                                <p:cTn id="162" presetID="42" presetClass="entr" presetSubtype="0" fill="hold" grpId="0" nodeType="withEffect">
                                  <p:stCondLst>
                                    <p:cond delay="400"/>
                                  </p:stCondLst>
                                  <p:childTnLst>
                                    <p:set>
                                      <p:cBhvr>
                                        <p:cTn id="163" dur="1" fill="hold">
                                          <p:stCondLst>
                                            <p:cond delay="0"/>
                                          </p:stCondLst>
                                        </p:cTn>
                                        <p:tgtEl>
                                          <p:spTgt spid="35"/>
                                        </p:tgtEl>
                                        <p:attrNameLst>
                                          <p:attrName>style.visibility</p:attrName>
                                        </p:attrNameLst>
                                      </p:cBhvr>
                                      <p:to>
                                        <p:strVal val="visible"/>
                                      </p:to>
                                    </p:set>
                                    <p:animEffect transition="in" filter="fade">
                                      <p:cBhvr>
                                        <p:cTn id="164" dur="600"/>
                                        <p:tgtEl>
                                          <p:spTgt spid="35"/>
                                        </p:tgtEl>
                                      </p:cBhvr>
                                    </p:animEffect>
                                    <p:anim calcmode="lin" valueType="num">
                                      <p:cBhvr>
                                        <p:cTn id="165" dur="600" fill="hold"/>
                                        <p:tgtEl>
                                          <p:spTgt spid="35"/>
                                        </p:tgtEl>
                                        <p:attrNameLst>
                                          <p:attrName>ppt_x</p:attrName>
                                        </p:attrNameLst>
                                      </p:cBhvr>
                                      <p:tavLst>
                                        <p:tav tm="0">
                                          <p:val>
                                            <p:strVal val="#ppt_x"/>
                                          </p:val>
                                        </p:tav>
                                        <p:tav tm="100000">
                                          <p:val>
                                            <p:strVal val="#ppt_x"/>
                                          </p:val>
                                        </p:tav>
                                      </p:tavLst>
                                    </p:anim>
                                    <p:anim calcmode="lin" valueType="num">
                                      <p:cBhvr>
                                        <p:cTn id="166" dur="600" fill="hold"/>
                                        <p:tgtEl>
                                          <p:spTgt spid="35"/>
                                        </p:tgtEl>
                                        <p:attrNameLst>
                                          <p:attrName>ppt_y</p:attrName>
                                        </p:attrNameLst>
                                      </p:cBhvr>
                                      <p:tavLst>
                                        <p:tav tm="0">
                                          <p:val>
                                            <p:strVal val="#ppt_y+.05"/>
                                          </p:val>
                                        </p:tav>
                                        <p:tav tm="100000">
                                          <p:val>
                                            <p:strVal val="#ppt_y"/>
                                          </p:val>
                                        </p:tav>
                                      </p:tavLst>
                                    </p:anim>
                                  </p:childTnLst>
                                </p:cTn>
                              </p:par>
                              <p:par>
                                <p:cTn id="167" presetID="53" presetClass="entr" presetSubtype="16" fill="hold" grpId="0" nodeType="withEffect">
                                  <p:stCondLst>
                                    <p:cond delay="400"/>
                                  </p:stCondLst>
                                  <p:childTnLst>
                                    <p:set>
                                      <p:cBhvr>
                                        <p:cTn id="168" dur="1" fill="hold">
                                          <p:stCondLst>
                                            <p:cond delay="0"/>
                                          </p:stCondLst>
                                        </p:cTn>
                                        <p:tgtEl>
                                          <p:spTgt spid="36"/>
                                        </p:tgtEl>
                                        <p:attrNameLst>
                                          <p:attrName>style.visibility</p:attrName>
                                        </p:attrNameLst>
                                      </p:cBhvr>
                                      <p:to>
                                        <p:strVal val="visible"/>
                                      </p:to>
                                    </p:set>
                                    <p:anim calcmode="lin" valueType="num">
                                      <p:cBhvr>
                                        <p:cTn id="169" dur="500" fill="hold"/>
                                        <p:tgtEl>
                                          <p:spTgt spid="36"/>
                                        </p:tgtEl>
                                        <p:attrNameLst>
                                          <p:attrName>ppt_w</p:attrName>
                                        </p:attrNameLst>
                                      </p:cBhvr>
                                      <p:tavLst>
                                        <p:tav tm="0">
                                          <p:val>
                                            <p:fltVal val="0"/>
                                          </p:val>
                                        </p:tav>
                                        <p:tav tm="100000">
                                          <p:val>
                                            <p:strVal val="#ppt_w"/>
                                          </p:val>
                                        </p:tav>
                                      </p:tavLst>
                                    </p:anim>
                                    <p:anim calcmode="lin" valueType="num">
                                      <p:cBhvr>
                                        <p:cTn id="170" dur="500" fill="hold"/>
                                        <p:tgtEl>
                                          <p:spTgt spid="36"/>
                                        </p:tgtEl>
                                        <p:attrNameLst>
                                          <p:attrName>ppt_h</p:attrName>
                                        </p:attrNameLst>
                                      </p:cBhvr>
                                      <p:tavLst>
                                        <p:tav tm="0">
                                          <p:val>
                                            <p:fltVal val="0"/>
                                          </p:val>
                                        </p:tav>
                                        <p:tav tm="100000">
                                          <p:val>
                                            <p:strVal val="#ppt_h"/>
                                          </p:val>
                                        </p:tav>
                                      </p:tavLst>
                                    </p:anim>
                                    <p:animEffect transition="in" filter="fade">
                                      <p:cBhvr>
                                        <p:cTn id="171" dur="500"/>
                                        <p:tgtEl>
                                          <p:spTgt spid="36"/>
                                        </p:tgtEl>
                                      </p:cBhvr>
                                    </p:animEffect>
                                  </p:childTnLst>
                                </p:cTn>
                              </p:par>
                              <p:par>
                                <p:cTn id="172" presetID="53" presetClass="entr" presetSubtype="16" fill="hold" grpId="0" nodeType="withEffect">
                                  <p:stCondLst>
                                    <p:cond delay="400"/>
                                  </p:stCondLst>
                                  <p:childTnLst>
                                    <p:set>
                                      <p:cBhvr>
                                        <p:cTn id="173" dur="1" fill="hold">
                                          <p:stCondLst>
                                            <p:cond delay="0"/>
                                          </p:stCondLst>
                                        </p:cTn>
                                        <p:tgtEl>
                                          <p:spTgt spid="37"/>
                                        </p:tgtEl>
                                        <p:attrNameLst>
                                          <p:attrName>style.visibility</p:attrName>
                                        </p:attrNameLst>
                                      </p:cBhvr>
                                      <p:to>
                                        <p:strVal val="visible"/>
                                      </p:to>
                                    </p:set>
                                    <p:anim calcmode="lin" valueType="num">
                                      <p:cBhvr>
                                        <p:cTn id="174" dur="500" fill="hold"/>
                                        <p:tgtEl>
                                          <p:spTgt spid="37"/>
                                        </p:tgtEl>
                                        <p:attrNameLst>
                                          <p:attrName>ppt_w</p:attrName>
                                        </p:attrNameLst>
                                      </p:cBhvr>
                                      <p:tavLst>
                                        <p:tav tm="0">
                                          <p:val>
                                            <p:fltVal val="0"/>
                                          </p:val>
                                        </p:tav>
                                        <p:tav tm="100000">
                                          <p:val>
                                            <p:strVal val="#ppt_w"/>
                                          </p:val>
                                        </p:tav>
                                      </p:tavLst>
                                    </p:anim>
                                    <p:anim calcmode="lin" valueType="num">
                                      <p:cBhvr>
                                        <p:cTn id="175" dur="500" fill="hold"/>
                                        <p:tgtEl>
                                          <p:spTgt spid="37"/>
                                        </p:tgtEl>
                                        <p:attrNameLst>
                                          <p:attrName>ppt_h</p:attrName>
                                        </p:attrNameLst>
                                      </p:cBhvr>
                                      <p:tavLst>
                                        <p:tav tm="0">
                                          <p:val>
                                            <p:fltVal val="0"/>
                                          </p:val>
                                        </p:tav>
                                        <p:tav tm="100000">
                                          <p:val>
                                            <p:strVal val="#ppt_h"/>
                                          </p:val>
                                        </p:tav>
                                      </p:tavLst>
                                    </p:anim>
                                    <p:animEffect transition="in" filter="fade">
                                      <p:cBhvr>
                                        <p:cTn id="176" dur="500"/>
                                        <p:tgtEl>
                                          <p:spTgt spid="37"/>
                                        </p:tgtEl>
                                      </p:cBhvr>
                                    </p:animEffect>
                                  </p:childTnLst>
                                </p:cTn>
                              </p:par>
                              <p:par>
                                <p:cTn id="177" presetID="42" presetClass="entr" presetSubtype="0" fill="hold" grpId="0" nodeType="withEffect">
                                  <p:stCondLst>
                                    <p:cond delay="400"/>
                                  </p:stCondLst>
                                  <p:childTnLst>
                                    <p:set>
                                      <p:cBhvr>
                                        <p:cTn id="178" dur="1" fill="hold">
                                          <p:stCondLst>
                                            <p:cond delay="0"/>
                                          </p:stCondLst>
                                        </p:cTn>
                                        <p:tgtEl>
                                          <p:spTgt spid="38"/>
                                        </p:tgtEl>
                                        <p:attrNameLst>
                                          <p:attrName>style.visibility</p:attrName>
                                        </p:attrNameLst>
                                      </p:cBhvr>
                                      <p:to>
                                        <p:strVal val="visible"/>
                                      </p:to>
                                    </p:set>
                                    <p:animEffect transition="in" filter="fade">
                                      <p:cBhvr>
                                        <p:cTn id="179" dur="600"/>
                                        <p:tgtEl>
                                          <p:spTgt spid="38"/>
                                        </p:tgtEl>
                                      </p:cBhvr>
                                    </p:animEffect>
                                    <p:anim calcmode="lin" valueType="num">
                                      <p:cBhvr>
                                        <p:cTn id="180" dur="600" fill="hold"/>
                                        <p:tgtEl>
                                          <p:spTgt spid="38"/>
                                        </p:tgtEl>
                                        <p:attrNameLst>
                                          <p:attrName>ppt_x</p:attrName>
                                        </p:attrNameLst>
                                      </p:cBhvr>
                                      <p:tavLst>
                                        <p:tav tm="0">
                                          <p:val>
                                            <p:strVal val="#ppt_x"/>
                                          </p:val>
                                        </p:tav>
                                        <p:tav tm="100000">
                                          <p:val>
                                            <p:strVal val="#ppt_x"/>
                                          </p:val>
                                        </p:tav>
                                      </p:tavLst>
                                    </p:anim>
                                    <p:anim calcmode="lin" valueType="num">
                                      <p:cBhvr>
                                        <p:cTn id="181" dur="600" fill="hold"/>
                                        <p:tgtEl>
                                          <p:spTgt spid="38"/>
                                        </p:tgtEl>
                                        <p:attrNameLst>
                                          <p:attrName>ppt_y</p:attrName>
                                        </p:attrNameLst>
                                      </p:cBhvr>
                                      <p:tavLst>
                                        <p:tav tm="0">
                                          <p:val>
                                            <p:strVal val="#ppt_y+.05"/>
                                          </p:val>
                                        </p:tav>
                                        <p:tav tm="100000">
                                          <p:val>
                                            <p:strVal val="#ppt_y"/>
                                          </p:val>
                                        </p:tav>
                                      </p:tavLst>
                                    </p:anim>
                                  </p:childTnLst>
                                </p:cTn>
                              </p:par>
                              <p:par>
                                <p:cTn id="182" presetID="42" presetClass="entr" presetSubtype="0" fill="hold" grpId="0" nodeType="withEffect">
                                  <p:stCondLst>
                                    <p:cond delay="400"/>
                                  </p:stCondLst>
                                  <p:childTnLst>
                                    <p:set>
                                      <p:cBhvr>
                                        <p:cTn id="183" dur="1" fill="hold">
                                          <p:stCondLst>
                                            <p:cond delay="0"/>
                                          </p:stCondLst>
                                        </p:cTn>
                                        <p:tgtEl>
                                          <p:spTgt spid="39"/>
                                        </p:tgtEl>
                                        <p:attrNameLst>
                                          <p:attrName>style.visibility</p:attrName>
                                        </p:attrNameLst>
                                      </p:cBhvr>
                                      <p:to>
                                        <p:strVal val="visible"/>
                                      </p:to>
                                    </p:set>
                                    <p:animEffect transition="in" filter="fade">
                                      <p:cBhvr>
                                        <p:cTn id="184" dur="600"/>
                                        <p:tgtEl>
                                          <p:spTgt spid="39"/>
                                        </p:tgtEl>
                                      </p:cBhvr>
                                    </p:animEffect>
                                    <p:anim calcmode="lin" valueType="num">
                                      <p:cBhvr>
                                        <p:cTn id="185" dur="600" fill="hold"/>
                                        <p:tgtEl>
                                          <p:spTgt spid="39"/>
                                        </p:tgtEl>
                                        <p:attrNameLst>
                                          <p:attrName>ppt_x</p:attrName>
                                        </p:attrNameLst>
                                      </p:cBhvr>
                                      <p:tavLst>
                                        <p:tav tm="0">
                                          <p:val>
                                            <p:strVal val="#ppt_x"/>
                                          </p:val>
                                        </p:tav>
                                        <p:tav tm="100000">
                                          <p:val>
                                            <p:strVal val="#ppt_x"/>
                                          </p:val>
                                        </p:tav>
                                      </p:tavLst>
                                    </p:anim>
                                    <p:anim calcmode="lin" valueType="num">
                                      <p:cBhvr>
                                        <p:cTn id="186" dur="600" fill="hold"/>
                                        <p:tgtEl>
                                          <p:spTgt spid="39"/>
                                        </p:tgtEl>
                                        <p:attrNameLst>
                                          <p:attrName>ppt_y</p:attrName>
                                        </p:attrNameLst>
                                      </p:cBhvr>
                                      <p:tavLst>
                                        <p:tav tm="0">
                                          <p:val>
                                            <p:strVal val="#ppt_y+.05"/>
                                          </p:val>
                                        </p:tav>
                                        <p:tav tm="100000">
                                          <p:val>
                                            <p:strVal val="#ppt_y"/>
                                          </p:val>
                                        </p:tav>
                                      </p:tavLst>
                                    </p:anim>
                                  </p:childTnLst>
                                </p:cTn>
                              </p:par>
                              <p:par>
                                <p:cTn id="187" presetID="42" presetClass="entr" presetSubtype="0" fill="hold" grpId="0" nodeType="withEffect">
                                  <p:stCondLst>
                                    <p:cond delay="600"/>
                                  </p:stCondLst>
                                  <p:childTnLst>
                                    <p:set>
                                      <p:cBhvr>
                                        <p:cTn id="188" dur="1" fill="hold">
                                          <p:stCondLst>
                                            <p:cond delay="0"/>
                                          </p:stCondLst>
                                        </p:cTn>
                                        <p:tgtEl>
                                          <p:spTgt spid="40"/>
                                        </p:tgtEl>
                                        <p:attrNameLst>
                                          <p:attrName>style.visibility</p:attrName>
                                        </p:attrNameLst>
                                      </p:cBhvr>
                                      <p:to>
                                        <p:strVal val="visible"/>
                                      </p:to>
                                    </p:set>
                                    <p:animEffect transition="in" filter="fade">
                                      <p:cBhvr>
                                        <p:cTn id="189" dur="600"/>
                                        <p:tgtEl>
                                          <p:spTgt spid="40"/>
                                        </p:tgtEl>
                                      </p:cBhvr>
                                    </p:animEffect>
                                    <p:anim calcmode="lin" valueType="num">
                                      <p:cBhvr>
                                        <p:cTn id="190" dur="600" fill="hold"/>
                                        <p:tgtEl>
                                          <p:spTgt spid="40"/>
                                        </p:tgtEl>
                                        <p:attrNameLst>
                                          <p:attrName>ppt_x</p:attrName>
                                        </p:attrNameLst>
                                      </p:cBhvr>
                                      <p:tavLst>
                                        <p:tav tm="0">
                                          <p:val>
                                            <p:strVal val="#ppt_x"/>
                                          </p:val>
                                        </p:tav>
                                        <p:tav tm="100000">
                                          <p:val>
                                            <p:strVal val="#ppt_x"/>
                                          </p:val>
                                        </p:tav>
                                      </p:tavLst>
                                    </p:anim>
                                    <p:anim calcmode="lin" valueType="num">
                                      <p:cBhvr>
                                        <p:cTn id="191" dur="600" fill="hold"/>
                                        <p:tgtEl>
                                          <p:spTgt spid="40"/>
                                        </p:tgtEl>
                                        <p:attrNameLst>
                                          <p:attrName>ppt_y</p:attrName>
                                        </p:attrNameLst>
                                      </p:cBhvr>
                                      <p:tavLst>
                                        <p:tav tm="0">
                                          <p:val>
                                            <p:strVal val="#ppt_y+.05"/>
                                          </p:val>
                                        </p:tav>
                                        <p:tav tm="100000">
                                          <p:val>
                                            <p:strVal val="#ppt_y"/>
                                          </p:val>
                                        </p:tav>
                                      </p:tavLst>
                                    </p:anim>
                                  </p:childTnLst>
                                </p:cTn>
                              </p:par>
                              <p:par>
                                <p:cTn id="192" presetID="53" presetClass="entr" presetSubtype="16" fill="hold" grpId="0" nodeType="withEffect">
                                  <p:stCondLst>
                                    <p:cond delay="600"/>
                                  </p:stCondLst>
                                  <p:childTnLst>
                                    <p:set>
                                      <p:cBhvr>
                                        <p:cTn id="193" dur="1" fill="hold">
                                          <p:stCondLst>
                                            <p:cond delay="0"/>
                                          </p:stCondLst>
                                        </p:cTn>
                                        <p:tgtEl>
                                          <p:spTgt spid="41"/>
                                        </p:tgtEl>
                                        <p:attrNameLst>
                                          <p:attrName>style.visibility</p:attrName>
                                        </p:attrNameLst>
                                      </p:cBhvr>
                                      <p:to>
                                        <p:strVal val="visible"/>
                                      </p:to>
                                    </p:set>
                                    <p:anim calcmode="lin" valueType="num">
                                      <p:cBhvr>
                                        <p:cTn id="194" dur="500" fill="hold"/>
                                        <p:tgtEl>
                                          <p:spTgt spid="41"/>
                                        </p:tgtEl>
                                        <p:attrNameLst>
                                          <p:attrName>ppt_w</p:attrName>
                                        </p:attrNameLst>
                                      </p:cBhvr>
                                      <p:tavLst>
                                        <p:tav tm="0">
                                          <p:val>
                                            <p:fltVal val="0"/>
                                          </p:val>
                                        </p:tav>
                                        <p:tav tm="100000">
                                          <p:val>
                                            <p:strVal val="#ppt_w"/>
                                          </p:val>
                                        </p:tav>
                                      </p:tavLst>
                                    </p:anim>
                                    <p:anim calcmode="lin" valueType="num">
                                      <p:cBhvr>
                                        <p:cTn id="195" dur="500" fill="hold"/>
                                        <p:tgtEl>
                                          <p:spTgt spid="41"/>
                                        </p:tgtEl>
                                        <p:attrNameLst>
                                          <p:attrName>ppt_h</p:attrName>
                                        </p:attrNameLst>
                                      </p:cBhvr>
                                      <p:tavLst>
                                        <p:tav tm="0">
                                          <p:val>
                                            <p:fltVal val="0"/>
                                          </p:val>
                                        </p:tav>
                                        <p:tav tm="100000">
                                          <p:val>
                                            <p:strVal val="#ppt_h"/>
                                          </p:val>
                                        </p:tav>
                                      </p:tavLst>
                                    </p:anim>
                                    <p:animEffect transition="in" filter="fade">
                                      <p:cBhvr>
                                        <p:cTn id="196" dur="500"/>
                                        <p:tgtEl>
                                          <p:spTgt spid="41"/>
                                        </p:tgtEl>
                                      </p:cBhvr>
                                    </p:animEffect>
                                  </p:childTnLst>
                                </p:cTn>
                              </p:par>
                              <p:par>
                                <p:cTn id="197" presetID="53" presetClass="entr" presetSubtype="16" fill="hold" grpId="0" nodeType="withEffect">
                                  <p:stCondLst>
                                    <p:cond delay="600"/>
                                  </p:stCondLst>
                                  <p:childTnLst>
                                    <p:set>
                                      <p:cBhvr>
                                        <p:cTn id="198" dur="1" fill="hold">
                                          <p:stCondLst>
                                            <p:cond delay="0"/>
                                          </p:stCondLst>
                                        </p:cTn>
                                        <p:tgtEl>
                                          <p:spTgt spid="42"/>
                                        </p:tgtEl>
                                        <p:attrNameLst>
                                          <p:attrName>style.visibility</p:attrName>
                                        </p:attrNameLst>
                                      </p:cBhvr>
                                      <p:to>
                                        <p:strVal val="visible"/>
                                      </p:to>
                                    </p:set>
                                    <p:anim calcmode="lin" valueType="num">
                                      <p:cBhvr>
                                        <p:cTn id="199" dur="500" fill="hold"/>
                                        <p:tgtEl>
                                          <p:spTgt spid="42"/>
                                        </p:tgtEl>
                                        <p:attrNameLst>
                                          <p:attrName>ppt_w</p:attrName>
                                        </p:attrNameLst>
                                      </p:cBhvr>
                                      <p:tavLst>
                                        <p:tav tm="0">
                                          <p:val>
                                            <p:fltVal val="0"/>
                                          </p:val>
                                        </p:tav>
                                        <p:tav tm="100000">
                                          <p:val>
                                            <p:strVal val="#ppt_w"/>
                                          </p:val>
                                        </p:tav>
                                      </p:tavLst>
                                    </p:anim>
                                    <p:anim calcmode="lin" valueType="num">
                                      <p:cBhvr>
                                        <p:cTn id="200" dur="500" fill="hold"/>
                                        <p:tgtEl>
                                          <p:spTgt spid="42"/>
                                        </p:tgtEl>
                                        <p:attrNameLst>
                                          <p:attrName>ppt_h</p:attrName>
                                        </p:attrNameLst>
                                      </p:cBhvr>
                                      <p:tavLst>
                                        <p:tav tm="0">
                                          <p:val>
                                            <p:fltVal val="0"/>
                                          </p:val>
                                        </p:tav>
                                        <p:tav tm="100000">
                                          <p:val>
                                            <p:strVal val="#ppt_h"/>
                                          </p:val>
                                        </p:tav>
                                      </p:tavLst>
                                    </p:anim>
                                    <p:animEffect transition="in" filter="fade">
                                      <p:cBhvr>
                                        <p:cTn id="201" dur="500"/>
                                        <p:tgtEl>
                                          <p:spTgt spid="42"/>
                                        </p:tgtEl>
                                      </p:cBhvr>
                                    </p:animEffect>
                                  </p:childTnLst>
                                </p:cTn>
                              </p:par>
                              <p:par>
                                <p:cTn id="202" presetID="42" presetClass="entr" presetSubtype="0" fill="hold" grpId="0" nodeType="withEffect">
                                  <p:stCondLst>
                                    <p:cond delay="600"/>
                                  </p:stCondLst>
                                  <p:childTnLst>
                                    <p:set>
                                      <p:cBhvr>
                                        <p:cTn id="203" dur="1" fill="hold">
                                          <p:stCondLst>
                                            <p:cond delay="0"/>
                                          </p:stCondLst>
                                        </p:cTn>
                                        <p:tgtEl>
                                          <p:spTgt spid="43"/>
                                        </p:tgtEl>
                                        <p:attrNameLst>
                                          <p:attrName>style.visibility</p:attrName>
                                        </p:attrNameLst>
                                      </p:cBhvr>
                                      <p:to>
                                        <p:strVal val="visible"/>
                                      </p:to>
                                    </p:set>
                                    <p:animEffect transition="in" filter="fade">
                                      <p:cBhvr>
                                        <p:cTn id="204" dur="600"/>
                                        <p:tgtEl>
                                          <p:spTgt spid="43"/>
                                        </p:tgtEl>
                                      </p:cBhvr>
                                    </p:animEffect>
                                    <p:anim calcmode="lin" valueType="num">
                                      <p:cBhvr>
                                        <p:cTn id="205" dur="600" fill="hold"/>
                                        <p:tgtEl>
                                          <p:spTgt spid="43"/>
                                        </p:tgtEl>
                                        <p:attrNameLst>
                                          <p:attrName>ppt_x</p:attrName>
                                        </p:attrNameLst>
                                      </p:cBhvr>
                                      <p:tavLst>
                                        <p:tav tm="0">
                                          <p:val>
                                            <p:strVal val="#ppt_x"/>
                                          </p:val>
                                        </p:tav>
                                        <p:tav tm="100000">
                                          <p:val>
                                            <p:strVal val="#ppt_x"/>
                                          </p:val>
                                        </p:tav>
                                      </p:tavLst>
                                    </p:anim>
                                    <p:anim calcmode="lin" valueType="num">
                                      <p:cBhvr>
                                        <p:cTn id="206" dur="600" fill="hold"/>
                                        <p:tgtEl>
                                          <p:spTgt spid="43"/>
                                        </p:tgtEl>
                                        <p:attrNameLst>
                                          <p:attrName>ppt_y</p:attrName>
                                        </p:attrNameLst>
                                      </p:cBhvr>
                                      <p:tavLst>
                                        <p:tav tm="0">
                                          <p:val>
                                            <p:strVal val="#ppt_y+.05"/>
                                          </p:val>
                                        </p:tav>
                                        <p:tav tm="100000">
                                          <p:val>
                                            <p:strVal val="#ppt_y"/>
                                          </p:val>
                                        </p:tav>
                                      </p:tavLst>
                                    </p:anim>
                                  </p:childTnLst>
                                </p:cTn>
                              </p:par>
                              <p:par>
                                <p:cTn id="207" presetID="42" presetClass="entr" presetSubtype="0" fill="hold" grpId="0" nodeType="withEffect">
                                  <p:stCondLst>
                                    <p:cond delay="600"/>
                                  </p:stCondLst>
                                  <p:childTnLst>
                                    <p:set>
                                      <p:cBhvr>
                                        <p:cTn id="208" dur="1" fill="hold">
                                          <p:stCondLst>
                                            <p:cond delay="0"/>
                                          </p:stCondLst>
                                        </p:cTn>
                                        <p:tgtEl>
                                          <p:spTgt spid="44"/>
                                        </p:tgtEl>
                                        <p:attrNameLst>
                                          <p:attrName>style.visibility</p:attrName>
                                        </p:attrNameLst>
                                      </p:cBhvr>
                                      <p:to>
                                        <p:strVal val="visible"/>
                                      </p:to>
                                    </p:set>
                                    <p:animEffect transition="in" filter="fade">
                                      <p:cBhvr>
                                        <p:cTn id="209" dur="600"/>
                                        <p:tgtEl>
                                          <p:spTgt spid="44"/>
                                        </p:tgtEl>
                                      </p:cBhvr>
                                    </p:animEffect>
                                    <p:anim calcmode="lin" valueType="num">
                                      <p:cBhvr>
                                        <p:cTn id="210" dur="600" fill="hold"/>
                                        <p:tgtEl>
                                          <p:spTgt spid="44"/>
                                        </p:tgtEl>
                                        <p:attrNameLst>
                                          <p:attrName>ppt_x</p:attrName>
                                        </p:attrNameLst>
                                      </p:cBhvr>
                                      <p:tavLst>
                                        <p:tav tm="0">
                                          <p:val>
                                            <p:strVal val="#ppt_x"/>
                                          </p:val>
                                        </p:tav>
                                        <p:tav tm="100000">
                                          <p:val>
                                            <p:strVal val="#ppt_x"/>
                                          </p:val>
                                        </p:tav>
                                      </p:tavLst>
                                    </p:anim>
                                    <p:anim calcmode="lin" valueType="num">
                                      <p:cBhvr>
                                        <p:cTn id="211" dur="600" fill="hold"/>
                                        <p:tgtEl>
                                          <p:spTgt spid="44"/>
                                        </p:tgtEl>
                                        <p:attrNameLst>
                                          <p:attrName>ppt_y</p:attrName>
                                        </p:attrNameLst>
                                      </p:cBhvr>
                                      <p:tavLst>
                                        <p:tav tm="0">
                                          <p:val>
                                            <p:strVal val="#ppt_y+.05"/>
                                          </p:val>
                                        </p:tav>
                                        <p:tav tm="100000">
                                          <p:val>
                                            <p:strVal val="#ppt_y"/>
                                          </p:val>
                                        </p:tav>
                                      </p:tavLst>
                                    </p:anim>
                                  </p:childTnLst>
                                </p:cTn>
                              </p:par>
                              <p:par>
                                <p:cTn id="212" presetID="42" presetClass="entr" presetSubtype="0" fill="hold" grpId="0" nodeType="withEffect">
                                  <p:stCondLst>
                                    <p:cond delay="800"/>
                                  </p:stCondLst>
                                  <p:childTnLst>
                                    <p:set>
                                      <p:cBhvr>
                                        <p:cTn id="213" dur="1" fill="hold">
                                          <p:stCondLst>
                                            <p:cond delay="0"/>
                                          </p:stCondLst>
                                        </p:cTn>
                                        <p:tgtEl>
                                          <p:spTgt spid="45"/>
                                        </p:tgtEl>
                                        <p:attrNameLst>
                                          <p:attrName>style.visibility</p:attrName>
                                        </p:attrNameLst>
                                      </p:cBhvr>
                                      <p:to>
                                        <p:strVal val="visible"/>
                                      </p:to>
                                    </p:set>
                                    <p:animEffect transition="in" filter="fade">
                                      <p:cBhvr>
                                        <p:cTn id="214" dur="600"/>
                                        <p:tgtEl>
                                          <p:spTgt spid="45"/>
                                        </p:tgtEl>
                                      </p:cBhvr>
                                    </p:animEffect>
                                    <p:anim calcmode="lin" valueType="num">
                                      <p:cBhvr>
                                        <p:cTn id="215" dur="600" fill="hold"/>
                                        <p:tgtEl>
                                          <p:spTgt spid="45"/>
                                        </p:tgtEl>
                                        <p:attrNameLst>
                                          <p:attrName>ppt_x</p:attrName>
                                        </p:attrNameLst>
                                      </p:cBhvr>
                                      <p:tavLst>
                                        <p:tav tm="0">
                                          <p:val>
                                            <p:strVal val="#ppt_x"/>
                                          </p:val>
                                        </p:tav>
                                        <p:tav tm="100000">
                                          <p:val>
                                            <p:strVal val="#ppt_x"/>
                                          </p:val>
                                        </p:tav>
                                      </p:tavLst>
                                    </p:anim>
                                    <p:anim calcmode="lin" valueType="num">
                                      <p:cBhvr>
                                        <p:cTn id="216" dur="600" fill="hold"/>
                                        <p:tgtEl>
                                          <p:spTgt spid="45"/>
                                        </p:tgtEl>
                                        <p:attrNameLst>
                                          <p:attrName>ppt_y</p:attrName>
                                        </p:attrNameLst>
                                      </p:cBhvr>
                                      <p:tavLst>
                                        <p:tav tm="0">
                                          <p:val>
                                            <p:strVal val="#ppt_y+.05"/>
                                          </p:val>
                                        </p:tav>
                                        <p:tav tm="100000">
                                          <p:val>
                                            <p:strVal val="#ppt_y"/>
                                          </p:val>
                                        </p:tav>
                                      </p:tavLst>
                                    </p:anim>
                                  </p:childTnLst>
                                </p:cTn>
                              </p:par>
                              <p:par>
                                <p:cTn id="217" presetID="53" presetClass="entr" presetSubtype="16" fill="hold" grpId="0" nodeType="withEffect">
                                  <p:stCondLst>
                                    <p:cond delay="800"/>
                                  </p:stCondLst>
                                  <p:childTnLst>
                                    <p:set>
                                      <p:cBhvr>
                                        <p:cTn id="218" dur="1" fill="hold">
                                          <p:stCondLst>
                                            <p:cond delay="0"/>
                                          </p:stCondLst>
                                        </p:cTn>
                                        <p:tgtEl>
                                          <p:spTgt spid="46"/>
                                        </p:tgtEl>
                                        <p:attrNameLst>
                                          <p:attrName>style.visibility</p:attrName>
                                        </p:attrNameLst>
                                      </p:cBhvr>
                                      <p:to>
                                        <p:strVal val="visible"/>
                                      </p:to>
                                    </p:set>
                                    <p:anim calcmode="lin" valueType="num">
                                      <p:cBhvr>
                                        <p:cTn id="219" dur="500" fill="hold"/>
                                        <p:tgtEl>
                                          <p:spTgt spid="46"/>
                                        </p:tgtEl>
                                        <p:attrNameLst>
                                          <p:attrName>ppt_w</p:attrName>
                                        </p:attrNameLst>
                                      </p:cBhvr>
                                      <p:tavLst>
                                        <p:tav tm="0">
                                          <p:val>
                                            <p:fltVal val="0"/>
                                          </p:val>
                                        </p:tav>
                                        <p:tav tm="100000">
                                          <p:val>
                                            <p:strVal val="#ppt_w"/>
                                          </p:val>
                                        </p:tav>
                                      </p:tavLst>
                                    </p:anim>
                                    <p:anim calcmode="lin" valueType="num">
                                      <p:cBhvr>
                                        <p:cTn id="220" dur="500" fill="hold"/>
                                        <p:tgtEl>
                                          <p:spTgt spid="46"/>
                                        </p:tgtEl>
                                        <p:attrNameLst>
                                          <p:attrName>ppt_h</p:attrName>
                                        </p:attrNameLst>
                                      </p:cBhvr>
                                      <p:tavLst>
                                        <p:tav tm="0">
                                          <p:val>
                                            <p:fltVal val="0"/>
                                          </p:val>
                                        </p:tav>
                                        <p:tav tm="100000">
                                          <p:val>
                                            <p:strVal val="#ppt_h"/>
                                          </p:val>
                                        </p:tav>
                                      </p:tavLst>
                                    </p:anim>
                                    <p:animEffect transition="in" filter="fade">
                                      <p:cBhvr>
                                        <p:cTn id="221" dur="500"/>
                                        <p:tgtEl>
                                          <p:spTgt spid="46"/>
                                        </p:tgtEl>
                                      </p:cBhvr>
                                    </p:animEffect>
                                  </p:childTnLst>
                                </p:cTn>
                              </p:par>
                              <p:par>
                                <p:cTn id="222" presetID="53" presetClass="entr" presetSubtype="16" fill="hold" grpId="0" nodeType="withEffect">
                                  <p:stCondLst>
                                    <p:cond delay="800"/>
                                  </p:stCondLst>
                                  <p:childTnLst>
                                    <p:set>
                                      <p:cBhvr>
                                        <p:cTn id="223" dur="1" fill="hold">
                                          <p:stCondLst>
                                            <p:cond delay="0"/>
                                          </p:stCondLst>
                                        </p:cTn>
                                        <p:tgtEl>
                                          <p:spTgt spid="47"/>
                                        </p:tgtEl>
                                        <p:attrNameLst>
                                          <p:attrName>style.visibility</p:attrName>
                                        </p:attrNameLst>
                                      </p:cBhvr>
                                      <p:to>
                                        <p:strVal val="visible"/>
                                      </p:to>
                                    </p:set>
                                    <p:anim calcmode="lin" valueType="num">
                                      <p:cBhvr>
                                        <p:cTn id="224" dur="500" fill="hold"/>
                                        <p:tgtEl>
                                          <p:spTgt spid="47"/>
                                        </p:tgtEl>
                                        <p:attrNameLst>
                                          <p:attrName>ppt_w</p:attrName>
                                        </p:attrNameLst>
                                      </p:cBhvr>
                                      <p:tavLst>
                                        <p:tav tm="0">
                                          <p:val>
                                            <p:fltVal val="0"/>
                                          </p:val>
                                        </p:tav>
                                        <p:tav tm="100000">
                                          <p:val>
                                            <p:strVal val="#ppt_w"/>
                                          </p:val>
                                        </p:tav>
                                      </p:tavLst>
                                    </p:anim>
                                    <p:anim calcmode="lin" valueType="num">
                                      <p:cBhvr>
                                        <p:cTn id="225" dur="500" fill="hold"/>
                                        <p:tgtEl>
                                          <p:spTgt spid="47"/>
                                        </p:tgtEl>
                                        <p:attrNameLst>
                                          <p:attrName>ppt_h</p:attrName>
                                        </p:attrNameLst>
                                      </p:cBhvr>
                                      <p:tavLst>
                                        <p:tav tm="0">
                                          <p:val>
                                            <p:fltVal val="0"/>
                                          </p:val>
                                        </p:tav>
                                        <p:tav tm="100000">
                                          <p:val>
                                            <p:strVal val="#ppt_h"/>
                                          </p:val>
                                        </p:tav>
                                      </p:tavLst>
                                    </p:anim>
                                    <p:animEffect transition="in" filter="fade">
                                      <p:cBhvr>
                                        <p:cTn id="226" dur="500"/>
                                        <p:tgtEl>
                                          <p:spTgt spid="47"/>
                                        </p:tgtEl>
                                      </p:cBhvr>
                                    </p:animEffect>
                                  </p:childTnLst>
                                </p:cTn>
                              </p:par>
                              <p:par>
                                <p:cTn id="227" presetID="42" presetClass="entr" presetSubtype="0" fill="hold" grpId="0" nodeType="withEffect">
                                  <p:stCondLst>
                                    <p:cond delay="800"/>
                                  </p:stCondLst>
                                  <p:childTnLst>
                                    <p:set>
                                      <p:cBhvr>
                                        <p:cTn id="228" dur="1" fill="hold">
                                          <p:stCondLst>
                                            <p:cond delay="0"/>
                                          </p:stCondLst>
                                        </p:cTn>
                                        <p:tgtEl>
                                          <p:spTgt spid="48"/>
                                        </p:tgtEl>
                                        <p:attrNameLst>
                                          <p:attrName>style.visibility</p:attrName>
                                        </p:attrNameLst>
                                      </p:cBhvr>
                                      <p:to>
                                        <p:strVal val="visible"/>
                                      </p:to>
                                    </p:set>
                                    <p:animEffect transition="in" filter="fade">
                                      <p:cBhvr>
                                        <p:cTn id="229" dur="600"/>
                                        <p:tgtEl>
                                          <p:spTgt spid="48"/>
                                        </p:tgtEl>
                                      </p:cBhvr>
                                    </p:animEffect>
                                    <p:anim calcmode="lin" valueType="num">
                                      <p:cBhvr>
                                        <p:cTn id="230" dur="600" fill="hold"/>
                                        <p:tgtEl>
                                          <p:spTgt spid="48"/>
                                        </p:tgtEl>
                                        <p:attrNameLst>
                                          <p:attrName>ppt_x</p:attrName>
                                        </p:attrNameLst>
                                      </p:cBhvr>
                                      <p:tavLst>
                                        <p:tav tm="0">
                                          <p:val>
                                            <p:strVal val="#ppt_x"/>
                                          </p:val>
                                        </p:tav>
                                        <p:tav tm="100000">
                                          <p:val>
                                            <p:strVal val="#ppt_x"/>
                                          </p:val>
                                        </p:tav>
                                      </p:tavLst>
                                    </p:anim>
                                    <p:anim calcmode="lin" valueType="num">
                                      <p:cBhvr>
                                        <p:cTn id="231" dur="600" fill="hold"/>
                                        <p:tgtEl>
                                          <p:spTgt spid="48"/>
                                        </p:tgtEl>
                                        <p:attrNameLst>
                                          <p:attrName>ppt_y</p:attrName>
                                        </p:attrNameLst>
                                      </p:cBhvr>
                                      <p:tavLst>
                                        <p:tav tm="0">
                                          <p:val>
                                            <p:strVal val="#ppt_y+.05"/>
                                          </p:val>
                                        </p:tav>
                                        <p:tav tm="100000">
                                          <p:val>
                                            <p:strVal val="#ppt_y"/>
                                          </p:val>
                                        </p:tav>
                                      </p:tavLst>
                                    </p:anim>
                                  </p:childTnLst>
                                </p:cTn>
                              </p:par>
                              <p:par>
                                <p:cTn id="232" presetID="42" presetClass="entr" presetSubtype="0" fill="hold" grpId="0" nodeType="withEffect">
                                  <p:stCondLst>
                                    <p:cond delay="800"/>
                                  </p:stCondLst>
                                  <p:childTnLst>
                                    <p:set>
                                      <p:cBhvr>
                                        <p:cTn id="233" dur="1" fill="hold">
                                          <p:stCondLst>
                                            <p:cond delay="0"/>
                                          </p:stCondLst>
                                        </p:cTn>
                                        <p:tgtEl>
                                          <p:spTgt spid="49"/>
                                        </p:tgtEl>
                                        <p:attrNameLst>
                                          <p:attrName>style.visibility</p:attrName>
                                        </p:attrNameLst>
                                      </p:cBhvr>
                                      <p:to>
                                        <p:strVal val="visible"/>
                                      </p:to>
                                    </p:set>
                                    <p:animEffect transition="in" filter="fade">
                                      <p:cBhvr>
                                        <p:cTn id="234" dur="600"/>
                                        <p:tgtEl>
                                          <p:spTgt spid="49"/>
                                        </p:tgtEl>
                                      </p:cBhvr>
                                    </p:animEffect>
                                    <p:anim calcmode="lin" valueType="num">
                                      <p:cBhvr>
                                        <p:cTn id="235" dur="600" fill="hold"/>
                                        <p:tgtEl>
                                          <p:spTgt spid="49"/>
                                        </p:tgtEl>
                                        <p:attrNameLst>
                                          <p:attrName>ppt_x</p:attrName>
                                        </p:attrNameLst>
                                      </p:cBhvr>
                                      <p:tavLst>
                                        <p:tav tm="0">
                                          <p:val>
                                            <p:strVal val="#ppt_x"/>
                                          </p:val>
                                        </p:tav>
                                        <p:tav tm="100000">
                                          <p:val>
                                            <p:strVal val="#ppt_x"/>
                                          </p:val>
                                        </p:tav>
                                      </p:tavLst>
                                    </p:anim>
                                    <p:anim calcmode="lin" valueType="num">
                                      <p:cBhvr>
                                        <p:cTn id="236" dur="600" fill="hold"/>
                                        <p:tgtEl>
                                          <p:spTgt spid="49"/>
                                        </p:tgtEl>
                                        <p:attrNameLst>
                                          <p:attrName>ppt_y</p:attrName>
                                        </p:attrNameLst>
                                      </p:cBhvr>
                                      <p:tavLst>
                                        <p:tav tm="0">
                                          <p:val>
                                            <p:strVal val="#ppt_y+.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1" grpId="0" animBg="1"/>
      <p:bldP spid="12" grpId="0" animBg="1"/>
      <p:bldP spid="13" grpId="0" animBg="1"/>
      <p:bldP spid="15" grpId="0" animBg="1"/>
      <p:bldP spid="16" grpId="0" animBg="1"/>
      <p:bldP spid="17" grpId="0" animBg="1"/>
      <p:bldP spid="19" grpId="0" animBg="1"/>
      <p:bldP spid="20" grpId="0" animBg="1"/>
      <p:bldP spid="21" grpId="0" animBg="1"/>
      <p:bldP spid="23" grpId="0" animBg="1"/>
      <p:bldP spid="24" grpId="0" animBg="1"/>
      <p:bldP spid="25" grpId="0" animBg="1"/>
      <p:bldP spid="27" grpId="0" animBg="1"/>
      <p:bldP spid="28" grpId="0" animBg="1"/>
      <p:bldP spid="29" grpId="0" animBg="1"/>
      <p:bldP spid="30" grpId="0" animBg="1"/>
      <p:bldP spid="31" grpId="0" animBg="1"/>
      <p:bldP spid="33" grpId="0" animBg="1"/>
      <p:bldP spid="34" grpId="0" animBg="1"/>
      <p:bldP spid="35" grpId="0" animBg="1"/>
      <p:bldP spid="36" grpId="0" animBg="1"/>
      <p:bldP spid="38" grpId="0" animBg="1"/>
      <p:bldP spid="39" grpId="0" animBg="1"/>
      <p:bldP spid="40" grpId="0" animBg="1"/>
      <p:bldP spid="41" grpId="0" animBg="1"/>
      <p:bldP spid="43" grpId="0" animBg="1"/>
      <p:bldP spid="44" grpId="0" animBg="1"/>
      <p:bldP spid="45" grpId="0" animBg="1"/>
      <p:bldP spid="46" grpId="0" animBg="1"/>
      <p:bldP spid="48" grpId="0" animBg="1"/>
      <p:bldP spid="49"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chip"/>
          <p:cNvSpPr/>
          <p:nvPr/>
        </p:nvSpPr>
        <p:spPr>
          <a:xfrm>
            <a:off x="548640" y="237744"/>
            <a:ext cx="1531620" cy="274320"/>
          </a:xfrm>
          <a:prstGeom prst="roundRect">
            <a:avLst>
              <a:gd name="adj" fmla="val 50000"/>
            </a:avLst>
          </a:prstGeom>
          <a:solidFill>
            <a:schemeClr val="accent4"/>
          </a:solidFill>
          <a:ln/>
        </p:spPr>
        <p:txBody>
          <a:bodyPr wrap="square" lIns="0" tIns="0" rIns="0" bIns="0" rtlCol="0" anchor="ctr"/>
          <a:lstStyle/>
          <a:p>
            <a:pPr algn="ctr" indent="0" marL="0">
              <a:buNone/>
            </a:pPr>
            <a:r>
              <a:rPr lang="en-US" sz="1050" b="1" spc="150" kern="0" dirty="0">
                <a:solidFill>
                  <a:schemeClr val="bg1"/>
                </a:solidFill>
              </a:rPr>
              <a:t>QUESTIONS 1 &amp; 2</a:t>
            </a:r>
            <a:endParaRPr lang="en-US" sz="1050" dirty="0"/>
          </a:p>
        </p:txBody>
      </p:sp>
      <p:sp>
        <p:nvSpPr>
          <p:cNvPr id="3" name="Text 0"/>
          <p:cNvSpPr/>
          <p:nvPr>
            <p:ph idx="100" type="title" hasCustomPrompt="1"/>
          </p:nvPr>
        </p:nvSpPr>
        <p:spPr>
          <a:xfrm>
            <a:off x="548640" y="566928"/>
            <a:ext cx="11094415" cy="731520"/>
          </a:xfrm>
          <a:prstGeom prst="rect">
            <a:avLst/>
          </a:prstGeom>
          <a:noFill/>
          <a:ln/>
        </p:spPr>
        <p:txBody>
          <a:bodyPr wrap="square" lIns="0" tIns="0" rIns="0" bIns="0" rtlCol="0" anchor="ctr"/>
          <a:lstStyle/>
          <a:p>
            <a:pPr algn="l" indent="0" marL="0">
              <a:buNone/>
            </a:pPr>
            <a:r>
              <a:rPr lang="en-US" sz="3400" b="1" dirty="0">
                <a:solidFill>
                  <a:schemeClr val="tx1"/>
                </a:solidFill>
              </a:rPr>
              <a:t>Why Lean, and how to overcome its challenges</a:t>
            </a:r>
            <a:endParaRPr lang="en-US" sz="3400" dirty="0"/>
          </a:p>
        </p:txBody>
      </p:sp>
      <p:sp>
        <p:nvSpPr>
          <p:cNvPr id="4" name="text"/>
          <p:cNvSpPr txBox="1"/>
          <p:nvPr/>
        </p:nvSpPr>
        <p:spPr>
          <a:xfrm>
            <a:off x="548640" y="1572768"/>
            <a:ext cx="4800600" cy="274320"/>
          </a:xfrm>
          <a:prstGeom prst="rect">
            <a:avLst/>
          </a:prstGeom>
          <a:noFill/>
          <a:ln/>
        </p:spPr>
        <p:txBody>
          <a:bodyPr wrap="square" lIns="0" tIns="0" rIns="0" bIns="0" rtlCol="0" anchor="t"/>
          <a:lstStyle/>
          <a:p>
            <a:pPr indent="0" marL="0">
              <a:buNone/>
            </a:pPr>
            <a:r>
              <a:rPr lang="en-US" sz="1200" b="1" spc="200" kern="0" dirty="0">
                <a:solidFill>
                  <a:schemeClr val="accent4"/>
                </a:solidFill>
              </a:rPr>
              <a:t>1 · WHY ORGANIZATIONS IMPLEMENT LEAN</a:t>
            </a:r>
            <a:endParaRPr lang="en-US" sz="1200" dirty="0"/>
          </a:p>
        </p:txBody>
      </p:sp>
      <p:sp>
        <p:nvSpPr>
          <p:cNvPr id="5" name="3DB_icon"/>
          <p:cNvSpPr/>
          <p:nvPr/>
        </p:nvSpPr>
        <p:spPr>
          <a:xfrm>
            <a:off x="548640" y="1947672"/>
            <a:ext cx="475488" cy="475488"/>
          </a:xfrm>
          <a:prstGeom prst="ellipse">
            <a:avLst/>
          </a:prstGeom>
          <a:solidFill>
            <a:schemeClr val="accent4"/>
          </a:solidFill>
          <a:ln w="12700">
            <a:solidFill>
              <a:schemeClr val="accent4"/>
            </a:solidFill>
            <a:prstDash val="solid"/>
          </a:ln>
          <a:scene3d>
            <a:camera prst="orthographicFront"/>
            <a:lightRig rig="threePt" dir="t"/>
          </a:scene3d>
          <a:sp3d prstMaterial="plastic">
            <a:bevelT w="88900" h="38100"/>
          </a:sp3d>
        </p:spPr>
      </p:sp>
      <p:pic>
        <p:nvPicPr>
          <p:cNvPr id="6" name="icon_FaTrashAlt" descr="preencoded.png">    </p:cNvPr>
          <p:cNvPicPr>
            <a:picLocks noChangeAspect="1"/>
          </p:cNvPicPr>
          <p:nvPr/>
        </p:nvPicPr>
        <p:blipFill>
          <a:blip r:embed="rId1"/>
          <a:stretch>
            <a:fillRect/>
          </a:stretch>
        </p:blipFill>
        <p:spPr>
          <a:xfrm>
            <a:off x="677022" y="2076054"/>
            <a:ext cx="218724" cy="218724"/>
          </a:xfrm>
          <a:prstGeom prst="rect">
            <a:avLst/>
          </a:prstGeom>
        </p:spPr>
      </p:pic>
      <p:sp>
        <p:nvSpPr>
          <p:cNvPr id="7" name="text"/>
          <p:cNvSpPr txBox="1"/>
          <p:nvPr/>
        </p:nvSpPr>
        <p:spPr>
          <a:xfrm>
            <a:off x="1207008" y="1892808"/>
            <a:ext cx="3685032" cy="310896"/>
          </a:xfrm>
          <a:prstGeom prst="rect">
            <a:avLst/>
          </a:prstGeom>
          <a:noFill/>
          <a:ln/>
        </p:spPr>
        <p:txBody>
          <a:bodyPr wrap="square" lIns="0" tIns="0" rIns="0" bIns="0" rtlCol="0" anchor="t"/>
          <a:lstStyle/>
          <a:p>
            <a:pPr indent="0" marL="0">
              <a:buNone/>
            </a:pPr>
            <a:r>
              <a:rPr lang="en-US" sz="1500" b="1" dirty="0">
                <a:solidFill>
                  <a:schemeClr val="tx1"/>
                </a:solidFill>
              </a:rPr>
              <a:t>Eliminate waste</a:t>
            </a:r>
            <a:endParaRPr lang="en-US" sz="1500" dirty="0"/>
          </a:p>
        </p:txBody>
      </p:sp>
      <p:sp>
        <p:nvSpPr>
          <p:cNvPr id="8" name="text"/>
          <p:cNvSpPr txBox="1"/>
          <p:nvPr/>
        </p:nvSpPr>
        <p:spPr>
          <a:xfrm>
            <a:off x="1207008" y="2212848"/>
            <a:ext cx="3685032" cy="292608"/>
          </a:xfrm>
          <a:prstGeom prst="rect">
            <a:avLst/>
          </a:prstGeom>
          <a:noFill/>
          <a:ln/>
        </p:spPr>
        <p:txBody>
          <a:bodyPr wrap="square" lIns="0" tIns="0" rIns="0" bIns="0" rtlCol="0" anchor="t"/>
          <a:lstStyle/>
          <a:p>
            <a:pPr indent="0" marL="0">
              <a:buNone/>
            </a:pPr>
            <a:r>
              <a:rPr lang="en-US" sz="1300" dirty="0">
                <a:solidFill>
                  <a:schemeClr val="tx2"/>
                </a:solidFill>
              </a:rPr>
              <a:t>Remove what the customer does not pay for</a:t>
            </a:r>
            <a:endParaRPr lang="en-US" sz="1300" dirty="0"/>
          </a:p>
        </p:txBody>
      </p:sp>
      <p:sp>
        <p:nvSpPr>
          <p:cNvPr id="9" name="3DB_icon"/>
          <p:cNvSpPr/>
          <p:nvPr/>
        </p:nvSpPr>
        <p:spPr>
          <a:xfrm>
            <a:off x="548640" y="2642616"/>
            <a:ext cx="475488" cy="475488"/>
          </a:xfrm>
          <a:prstGeom prst="ellipse">
            <a:avLst/>
          </a:prstGeom>
          <a:solidFill>
            <a:schemeClr val="accent4"/>
          </a:solidFill>
          <a:ln w="12700">
            <a:solidFill>
              <a:schemeClr val="accent4"/>
            </a:solidFill>
            <a:prstDash val="solid"/>
          </a:ln>
          <a:scene3d>
            <a:camera prst="orthographicFront"/>
            <a:lightRig rig="threePt" dir="t"/>
          </a:scene3d>
          <a:sp3d prstMaterial="plastic">
            <a:bevelT w="88900" h="38100"/>
          </a:sp3d>
        </p:spPr>
      </p:sp>
      <p:pic>
        <p:nvPicPr>
          <p:cNvPr id="10" name="icon_FaCoins" descr="preencoded.png">    </p:cNvPr>
          <p:cNvPicPr>
            <a:picLocks noChangeAspect="1"/>
          </p:cNvPicPr>
          <p:nvPr/>
        </p:nvPicPr>
        <p:blipFill>
          <a:blip r:embed="rId2"/>
          <a:stretch>
            <a:fillRect/>
          </a:stretch>
        </p:blipFill>
        <p:spPr>
          <a:xfrm>
            <a:off x="677022" y="2770998"/>
            <a:ext cx="218724" cy="218724"/>
          </a:xfrm>
          <a:prstGeom prst="rect">
            <a:avLst/>
          </a:prstGeom>
        </p:spPr>
      </p:pic>
      <p:sp>
        <p:nvSpPr>
          <p:cNvPr id="11" name="text"/>
          <p:cNvSpPr txBox="1"/>
          <p:nvPr/>
        </p:nvSpPr>
        <p:spPr>
          <a:xfrm>
            <a:off x="1207008" y="2587752"/>
            <a:ext cx="3685032" cy="310896"/>
          </a:xfrm>
          <a:prstGeom prst="rect">
            <a:avLst/>
          </a:prstGeom>
          <a:noFill/>
          <a:ln/>
        </p:spPr>
        <p:txBody>
          <a:bodyPr wrap="square" lIns="0" tIns="0" rIns="0" bIns="0" rtlCol="0" anchor="t"/>
          <a:lstStyle/>
          <a:p>
            <a:pPr indent="0" marL="0">
              <a:buNone/>
            </a:pPr>
            <a:r>
              <a:rPr lang="en-US" sz="1500" b="1" dirty="0">
                <a:solidFill>
                  <a:schemeClr val="tx1"/>
                </a:solidFill>
              </a:rPr>
              <a:t>Lower costs</a:t>
            </a:r>
            <a:endParaRPr lang="en-US" sz="1500" dirty="0"/>
          </a:p>
        </p:txBody>
      </p:sp>
      <p:sp>
        <p:nvSpPr>
          <p:cNvPr id="12" name="text"/>
          <p:cNvSpPr txBox="1"/>
          <p:nvPr/>
        </p:nvSpPr>
        <p:spPr>
          <a:xfrm>
            <a:off x="1207008" y="2907792"/>
            <a:ext cx="3685032" cy="292608"/>
          </a:xfrm>
          <a:prstGeom prst="rect">
            <a:avLst/>
          </a:prstGeom>
          <a:noFill/>
          <a:ln/>
        </p:spPr>
        <p:txBody>
          <a:bodyPr wrap="square" lIns="0" tIns="0" rIns="0" bIns="0" rtlCol="0" anchor="t"/>
          <a:lstStyle/>
          <a:p>
            <a:pPr indent="0" marL="0">
              <a:buNone/>
            </a:pPr>
            <a:r>
              <a:rPr lang="en-US" sz="1300" dirty="0">
                <a:solidFill>
                  <a:schemeClr val="tx2"/>
                </a:solidFill>
              </a:rPr>
              <a:t>Less inventory, scrap, rework, overtime</a:t>
            </a:r>
            <a:endParaRPr lang="en-US" sz="1300" dirty="0"/>
          </a:p>
        </p:txBody>
      </p:sp>
      <p:sp>
        <p:nvSpPr>
          <p:cNvPr id="13" name="3DB_icon"/>
          <p:cNvSpPr/>
          <p:nvPr/>
        </p:nvSpPr>
        <p:spPr>
          <a:xfrm>
            <a:off x="548640" y="3337560"/>
            <a:ext cx="475488" cy="475488"/>
          </a:xfrm>
          <a:prstGeom prst="ellipse">
            <a:avLst/>
          </a:prstGeom>
          <a:solidFill>
            <a:schemeClr val="accent4"/>
          </a:solidFill>
          <a:ln w="12700">
            <a:solidFill>
              <a:schemeClr val="accent4"/>
            </a:solidFill>
            <a:prstDash val="solid"/>
          </a:ln>
          <a:scene3d>
            <a:camera prst="orthographicFront"/>
            <a:lightRig rig="threePt" dir="t"/>
          </a:scene3d>
          <a:sp3d prstMaterial="plastic">
            <a:bevelT w="88900" h="38100"/>
          </a:sp3d>
        </p:spPr>
      </p:sp>
      <p:pic>
        <p:nvPicPr>
          <p:cNvPr id="14" name="icon_FaShippingFast" descr="preencoded.png">    </p:cNvPr>
          <p:cNvPicPr>
            <a:picLocks noChangeAspect="1"/>
          </p:cNvPicPr>
          <p:nvPr/>
        </p:nvPicPr>
        <p:blipFill>
          <a:blip r:embed="rId3"/>
          <a:stretch>
            <a:fillRect/>
          </a:stretch>
        </p:blipFill>
        <p:spPr>
          <a:xfrm>
            <a:off x="677022" y="3465942"/>
            <a:ext cx="218724" cy="218724"/>
          </a:xfrm>
          <a:prstGeom prst="rect">
            <a:avLst/>
          </a:prstGeom>
        </p:spPr>
      </p:pic>
      <p:sp>
        <p:nvSpPr>
          <p:cNvPr id="15" name="text"/>
          <p:cNvSpPr txBox="1"/>
          <p:nvPr/>
        </p:nvSpPr>
        <p:spPr>
          <a:xfrm>
            <a:off x="1207008" y="3282696"/>
            <a:ext cx="3685032" cy="310896"/>
          </a:xfrm>
          <a:prstGeom prst="rect">
            <a:avLst/>
          </a:prstGeom>
          <a:noFill/>
          <a:ln/>
        </p:spPr>
        <p:txBody>
          <a:bodyPr wrap="square" lIns="0" tIns="0" rIns="0" bIns="0" rtlCol="0" anchor="t"/>
          <a:lstStyle/>
          <a:p>
            <a:pPr indent="0" marL="0">
              <a:buNone/>
            </a:pPr>
            <a:r>
              <a:rPr lang="en-US" sz="1500" b="1" dirty="0">
                <a:solidFill>
                  <a:schemeClr val="tx1"/>
                </a:solidFill>
              </a:rPr>
              <a:t>Faster delivery</a:t>
            </a:r>
            <a:endParaRPr lang="en-US" sz="1500" dirty="0"/>
          </a:p>
        </p:txBody>
      </p:sp>
      <p:sp>
        <p:nvSpPr>
          <p:cNvPr id="16" name="text"/>
          <p:cNvSpPr txBox="1"/>
          <p:nvPr/>
        </p:nvSpPr>
        <p:spPr>
          <a:xfrm>
            <a:off x="1207008" y="3602736"/>
            <a:ext cx="3685032" cy="292608"/>
          </a:xfrm>
          <a:prstGeom prst="rect">
            <a:avLst/>
          </a:prstGeom>
          <a:noFill/>
          <a:ln/>
        </p:spPr>
        <p:txBody>
          <a:bodyPr wrap="square" lIns="0" tIns="0" rIns="0" bIns="0" rtlCol="0" anchor="t"/>
          <a:lstStyle/>
          <a:p>
            <a:pPr indent="0" marL="0">
              <a:buNone/>
            </a:pPr>
            <a:r>
              <a:rPr lang="en-US" sz="1300" dirty="0">
                <a:solidFill>
                  <a:schemeClr val="tx2"/>
                </a:solidFill>
              </a:rPr>
              <a:t>Shorter, more reliable lead times</a:t>
            </a:r>
            <a:endParaRPr lang="en-US" sz="1300" dirty="0"/>
          </a:p>
        </p:txBody>
      </p:sp>
      <p:sp>
        <p:nvSpPr>
          <p:cNvPr id="17" name="3DB_icon"/>
          <p:cNvSpPr/>
          <p:nvPr/>
        </p:nvSpPr>
        <p:spPr>
          <a:xfrm>
            <a:off x="548640" y="4032504"/>
            <a:ext cx="475488" cy="475488"/>
          </a:xfrm>
          <a:prstGeom prst="ellipse">
            <a:avLst/>
          </a:prstGeom>
          <a:solidFill>
            <a:schemeClr val="accent4"/>
          </a:solidFill>
          <a:ln w="12700">
            <a:solidFill>
              <a:schemeClr val="accent4"/>
            </a:solidFill>
            <a:prstDash val="solid"/>
          </a:ln>
          <a:scene3d>
            <a:camera prst="orthographicFront"/>
            <a:lightRig rig="threePt" dir="t"/>
          </a:scene3d>
          <a:sp3d prstMaterial="plastic">
            <a:bevelT w="88900" h="38100"/>
          </a:sp3d>
        </p:spPr>
      </p:sp>
      <p:pic>
        <p:nvPicPr>
          <p:cNvPr id="18" name="icon_FaCheckDouble" descr="preencoded.png">    </p:cNvPr>
          <p:cNvPicPr>
            <a:picLocks noChangeAspect="1"/>
          </p:cNvPicPr>
          <p:nvPr/>
        </p:nvPicPr>
        <p:blipFill>
          <a:blip r:embed="rId4"/>
          <a:stretch>
            <a:fillRect/>
          </a:stretch>
        </p:blipFill>
        <p:spPr>
          <a:xfrm>
            <a:off x="677022" y="4160886"/>
            <a:ext cx="218724" cy="218724"/>
          </a:xfrm>
          <a:prstGeom prst="rect">
            <a:avLst/>
          </a:prstGeom>
        </p:spPr>
      </p:pic>
      <p:sp>
        <p:nvSpPr>
          <p:cNvPr id="19" name="text"/>
          <p:cNvSpPr txBox="1"/>
          <p:nvPr/>
        </p:nvSpPr>
        <p:spPr>
          <a:xfrm>
            <a:off x="1207008" y="3977640"/>
            <a:ext cx="3685032" cy="310896"/>
          </a:xfrm>
          <a:prstGeom prst="rect">
            <a:avLst/>
          </a:prstGeom>
          <a:noFill/>
          <a:ln/>
        </p:spPr>
        <p:txBody>
          <a:bodyPr wrap="square" lIns="0" tIns="0" rIns="0" bIns="0" rtlCol="0" anchor="t"/>
          <a:lstStyle/>
          <a:p>
            <a:pPr indent="0" marL="0">
              <a:buNone/>
            </a:pPr>
            <a:r>
              <a:rPr lang="en-US" sz="1500" b="1" dirty="0">
                <a:solidFill>
                  <a:schemeClr val="tx1"/>
                </a:solidFill>
              </a:rPr>
              <a:t>Higher quality</a:t>
            </a:r>
            <a:endParaRPr lang="en-US" sz="1500" dirty="0"/>
          </a:p>
        </p:txBody>
      </p:sp>
      <p:sp>
        <p:nvSpPr>
          <p:cNvPr id="20" name="text"/>
          <p:cNvSpPr txBox="1"/>
          <p:nvPr/>
        </p:nvSpPr>
        <p:spPr>
          <a:xfrm>
            <a:off x="1207008" y="4297680"/>
            <a:ext cx="3685032" cy="292608"/>
          </a:xfrm>
          <a:prstGeom prst="rect">
            <a:avLst/>
          </a:prstGeom>
          <a:noFill/>
          <a:ln/>
        </p:spPr>
        <p:txBody>
          <a:bodyPr wrap="square" lIns="0" tIns="0" rIns="0" bIns="0" rtlCol="0" anchor="t"/>
          <a:lstStyle/>
          <a:p>
            <a:pPr indent="0" marL="0">
              <a:buNone/>
            </a:pPr>
            <a:r>
              <a:rPr lang="en-US" sz="1300" dirty="0">
                <a:solidFill>
                  <a:schemeClr val="tx2"/>
                </a:solidFill>
              </a:rPr>
              <a:t>Problems fixed at the source</a:t>
            </a:r>
            <a:endParaRPr lang="en-US" sz="1300" dirty="0"/>
          </a:p>
        </p:txBody>
      </p:sp>
      <p:sp>
        <p:nvSpPr>
          <p:cNvPr id="21" name="3DB_icon"/>
          <p:cNvSpPr/>
          <p:nvPr/>
        </p:nvSpPr>
        <p:spPr>
          <a:xfrm>
            <a:off x="548640" y="4727448"/>
            <a:ext cx="475488" cy="475488"/>
          </a:xfrm>
          <a:prstGeom prst="ellipse">
            <a:avLst/>
          </a:prstGeom>
          <a:solidFill>
            <a:schemeClr val="accent4"/>
          </a:solidFill>
          <a:ln w="12700">
            <a:solidFill>
              <a:schemeClr val="accent4"/>
            </a:solidFill>
            <a:prstDash val="solid"/>
          </a:ln>
          <a:scene3d>
            <a:camera prst="orthographicFront"/>
            <a:lightRig rig="threePt" dir="t"/>
          </a:scene3d>
          <a:sp3d prstMaterial="plastic">
            <a:bevelT w="88900" h="38100"/>
          </a:sp3d>
        </p:spPr>
      </p:sp>
      <p:pic>
        <p:nvPicPr>
          <p:cNvPr id="22" name="icon_FaUsers" descr="preencoded.png">    </p:cNvPr>
          <p:cNvPicPr>
            <a:picLocks noChangeAspect="1"/>
          </p:cNvPicPr>
          <p:nvPr/>
        </p:nvPicPr>
        <p:blipFill>
          <a:blip r:embed="rId5"/>
          <a:stretch>
            <a:fillRect/>
          </a:stretch>
        </p:blipFill>
        <p:spPr>
          <a:xfrm>
            <a:off x="677022" y="4855830"/>
            <a:ext cx="218724" cy="218724"/>
          </a:xfrm>
          <a:prstGeom prst="rect">
            <a:avLst/>
          </a:prstGeom>
        </p:spPr>
      </p:pic>
      <p:sp>
        <p:nvSpPr>
          <p:cNvPr id="23" name="text"/>
          <p:cNvSpPr txBox="1"/>
          <p:nvPr/>
        </p:nvSpPr>
        <p:spPr>
          <a:xfrm>
            <a:off x="1207008" y="4672584"/>
            <a:ext cx="3685032" cy="310896"/>
          </a:xfrm>
          <a:prstGeom prst="rect">
            <a:avLst/>
          </a:prstGeom>
          <a:noFill/>
          <a:ln/>
        </p:spPr>
        <p:txBody>
          <a:bodyPr wrap="square" lIns="0" tIns="0" rIns="0" bIns="0" rtlCol="0" anchor="t"/>
          <a:lstStyle/>
          <a:p>
            <a:pPr indent="0" marL="0">
              <a:buNone/>
            </a:pPr>
            <a:r>
              <a:rPr lang="en-US" sz="1500" b="1" dirty="0">
                <a:solidFill>
                  <a:schemeClr val="tx1"/>
                </a:solidFill>
              </a:rPr>
              <a:t>Engaged employees</a:t>
            </a:r>
            <a:endParaRPr lang="en-US" sz="1500" dirty="0"/>
          </a:p>
        </p:txBody>
      </p:sp>
      <p:sp>
        <p:nvSpPr>
          <p:cNvPr id="24" name="text"/>
          <p:cNvSpPr txBox="1"/>
          <p:nvPr/>
        </p:nvSpPr>
        <p:spPr>
          <a:xfrm>
            <a:off x="1207008" y="4992624"/>
            <a:ext cx="3685032" cy="292608"/>
          </a:xfrm>
          <a:prstGeom prst="rect">
            <a:avLst/>
          </a:prstGeom>
          <a:noFill/>
          <a:ln/>
        </p:spPr>
        <p:txBody>
          <a:bodyPr wrap="square" lIns="0" tIns="0" rIns="0" bIns="0" rtlCol="0" anchor="t"/>
          <a:lstStyle/>
          <a:p>
            <a:pPr indent="0" marL="0">
              <a:buNone/>
            </a:pPr>
            <a:r>
              <a:rPr lang="en-US" sz="1300" dirty="0">
                <a:solidFill>
                  <a:schemeClr val="tx2"/>
                </a:solidFill>
              </a:rPr>
              <a:t>Daily problem-solving and teamwork</a:t>
            </a:r>
            <a:endParaRPr lang="en-US" sz="1300" dirty="0"/>
          </a:p>
        </p:txBody>
      </p:sp>
      <p:sp>
        <p:nvSpPr>
          <p:cNvPr id="25" name="3DB_icon"/>
          <p:cNvSpPr/>
          <p:nvPr/>
        </p:nvSpPr>
        <p:spPr>
          <a:xfrm>
            <a:off x="548640" y="5422392"/>
            <a:ext cx="475488" cy="475488"/>
          </a:xfrm>
          <a:prstGeom prst="ellipse">
            <a:avLst/>
          </a:prstGeom>
          <a:solidFill>
            <a:schemeClr val="accent4"/>
          </a:solidFill>
          <a:ln w="12700">
            <a:solidFill>
              <a:schemeClr val="accent4"/>
            </a:solidFill>
            <a:prstDash val="solid"/>
          </a:ln>
          <a:scene3d>
            <a:camera prst="orthographicFront"/>
            <a:lightRig rig="threePt" dir="t"/>
          </a:scene3d>
          <a:sp3d prstMaterial="plastic">
            <a:bevelT w="88900" h="38100"/>
          </a:sp3d>
        </p:spPr>
      </p:sp>
      <p:pic>
        <p:nvPicPr>
          <p:cNvPr id="26" name="icon_FaChessKnight" descr="preencoded.png">    </p:cNvPr>
          <p:cNvPicPr>
            <a:picLocks noChangeAspect="1"/>
          </p:cNvPicPr>
          <p:nvPr/>
        </p:nvPicPr>
        <p:blipFill>
          <a:blip r:embed="rId6"/>
          <a:stretch>
            <a:fillRect/>
          </a:stretch>
        </p:blipFill>
        <p:spPr>
          <a:xfrm>
            <a:off x="677022" y="5550774"/>
            <a:ext cx="218724" cy="218724"/>
          </a:xfrm>
          <a:prstGeom prst="rect">
            <a:avLst/>
          </a:prstGeom>
        </p:spPr>
      </p:pic>
      <p:sp>
        <p:nvSpPr>
          <p:cNvPr id="27" name="text"/>
          <p:cNvSpPr txBox="1"/>
          <p:nvPr/>
        </p:nvSpPr>
        <p:spPr>
          <a:xfrm>
            <a:off x="1207008" y="5367528"/>
            <a:ext cx="3685032" cy="310896"/>
          </a:xfrm>
          <a:prstGeom prst="rect">
            <a:avLst/>
          </a:prstGeom>
          <a:noFill/>
          <a:ln/>
        </p:spPr>
        <p:txBody>
          <a:bodyPr wrap="square" lIns="0" tIns="0" rIns="0" bIns="0" rtlCol="0" anchor="t"/>
          <a:lstStyle/>
          <a:p>
            <a:pPr indent="0" marL="0">
              <a:buNone/>
            </a:pPr>
            <a:r>
              <a:rPr lang="en-US" sz="1500" b="1" dirty="0">
                <a:solidFill>
                  <a:schemeClr val="tx1"/>
                </a:solidFill>
              </a:rPr>
              <a:t>Competitiveness</a:t>
            </a:r>
            <a:endParaRPr lang="en-US" sz="1500" dirty="0"/>
          </a:p>
        </p:txBody>
      </p:sp>
      <p:sp>
        <p:nvSpPr>
          <p:cNvPr id="28" name="text"/>
          <p:cNvSpPr txBox="1"/>
          <p:nvPr/>
        </p:nvSpPr>
        <p:spPr>
          <a:xfrm>
            <a:off x="1207008" y="5687568"/>
            <a:ext cx="3685032" cy="292608"/>
          </a:xfrm>
          <a:prstGeom prst="rect">
            <a:avLst/>
          </a:prstGeom>
          <a:noFill/>
          <a:ln/>
        </p:spPr>
        <p:txBody>
          <a:bodyPr wrap="square" lIns="0" tIns="0" rIns="0" bIns="0" rtlCol="0" anchor="t"/>
          <a:lstStyle/>
          <a:p>
            <a:pPr indent="0" marL="0">
              <a:buNone/>
            </a:pPr>
            <a:r>
              <a:rPr lang="en-US" sz="1300" dirty="0">
                <a:solidFill>
                  <a:schemeClr val="tx2"/>
                </a:solidFill>
              </a:rPr>
              <a:t>Flexibility when demand changes</a:t>
            </a:r>
            <a:endParaRPr lang="en-US" sz="1300" dirty="0"/>
          </a:p>
        </p:txBody>
      </p:sp>
      <p:sp>
        <p:nvSpPr>
          <p:cNvPr id="29" name="text"/>
          <p:cNvSpPr txBox="1"/>
          <p:nvPr/>
        </p:nvSpPr>
        <p:spPr>
          <a:xfrm>
            <a:off x="5166360" y="1572768"/>
            <a:ext cx="6476695" cy="274320"/>
          </a:xfrm>
          <a:prstGeom prst="rect">
            <a:avLst/>
          </a:prstGeom>
          <a:noFill/>
          <a:ln/>
        </p:spPr>
        <p:txBody>
          <a:bodyPr wrap="square" lIns="0" tIns="0" rIns="0" bIns="0" rtlCol="0" anchor="t"/>
          <a:lstStyle/>
          <a:p>
            <a:pPr indent="0" marL="0">
              <a:buNone/>
            </a:pPr>
            <a:r>
              <a:rPr lang="en-US" sz="1200" b="1" spc="200" kern="0" dirty="0">
                <a:solidFill>
                  <a:schemeClr val="accent4"/>
                </a:solidFill>
              </a:rPr>
              <a:t>2 · MAIN CHALLENGES AND HOW TO OVERCOME THEM</a:t>
            </a:r>
            <a:endParaRPr lang="en-US" sz="1200" dirty="0"/>
          </a:p>
        </p:txBody>
      </p:sp>
      <p:graphicFrame>
        <p:nvGraphicFramePr>
          <p:cNvPr id="9" name="table_challenges"/>
          <p:cNvGraphicFramePr>
            <a:graphicFrameLocks noGrp="1"/>
          </p:cNvGraphicFramePr>
          <p:nvPr>
            <p:extLst>
              <p:ext uri="{D42A27DB-BD31-4B8C-83A1-F6EECF244321}">
                <p14:modId xmlns:p14="http://schemas.microsoft.com/office/powerpoint/2010/main" val="1579011935"/>
              </p:ext>
            </p:extLst>
          </p:nvPr>
        </p:nvGraphicFramePr>
        <p:xfrm>
          <a:off x="5166360" y="1892808"/>
          <a:ext cx="6476695" cy="914400"/>
        </p:xfrm>
        <a:graphic>
          <a:graphicData uri="http://schemas.openxmlformats.org/drawingml/2006/table">
            <a:tbl>
              <a:tblPr/>
              <a:tblGrid>
                <a:gridCol w="2331720"/>
                <a:gridCol w="4144975"/>
              </a:tblGrid>
              <a:tr h="411480">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Challenge</a:t>
                      </a:r>
                      <a:endParaRPr lang="en-US" sz="1400" dirty="0">
                        <a:latin typeface="Calibri" charset="0"/>
                        <a:ea typeface="Calibri" charset="0"/>
                        <a:cs typeface="Calibri" charset="0"/>
                      </a:endParaRPr>
                    </a:p>
                  </a:txBody>
                  <a:tcPr marL="101600" marR="101600" marT="50800" marB="50800" anchor="ctr">
                    <a:lnL w="9525" cap="flat" cmpd="sng" algn="ctr">
                      <a:solidFill>
                        <a:srgbClr val="D6DCE3"/>
                      </a:solidFill>
                      <a:prstDash val="solid"/>
                      <a:round/>
                      <a:headEnd type="none" w="med" len="med"/>
                      <a:tailEnd type="none" w="med" len="med"/>
                    </a:lnL>
                    <a:lnR w="9525" cap="flat" cmpd="sng" algn="ctr">
                      <a:solidFill>
                        <a:srgbClr val="D6DCE3"/>
                      </a:solidFill>
                      <a:prstDash val="solid"/>
                      <a:round/>
                      <a:headEnd type="none" w="med" len="med"/>
                      <a:tailEnd type="none" w="med" len="med"/>
                    </a:lnR>
                    <a:lnT w="9525" cap="flat" cmpd="sng" algn="ctr">
                      <a:solidFill>
                        <a:srgbClr val="D6DCE3"/>
                      </a:solidFill>
                      <a:prstDash val="solid"/>
                      <a:round/>
                      <a:headEnd type="none" w="med" len="med"/>
                      <a:tailEnd type="none" w="med" len="med"/>
                    </a:lnT>
                    <a:lnB w="9525" cap="flat" cmpd="sng" algn="ctr">
                      <a:solidFill>
                        <a:srgbClr val="D6DCE3"/>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How to overcome it</a:t>
                      </a:r>
                      <a:endParaRPr lang="en-US" sz="1400" dirty="0">
                        <a:latin typeface="Calibri" charset="0"/>
                        <a:ea typeface="Calibri" charset="0"/>
                        <a:cs typeface="Calibri" charset="0"/>
                      </a:endParaRPr>
                    </a:p>
                  </a:txBody>
                  <a:tcPr marL="101600" marR="101600" marT="50800" marB="50800" anchor="ctr">
                    <a:lnL w="9525" cap="flat" cmpd="sng" algn="ctr">
                      <a:solidFill>
                        <a:srgbClr val="D6DCE3"/>
                      </a:solidFill>
                      <a:prstDash val="solid"/>
                      <a:round/>
                      <a:headEnd type="none" w="med" len="med"/>
                      <a:tailEnd type="none" w="med" len="med"/>
                    </a:lnL>
                    <a:lnR w="9525" cap="flat" cmpd="sng" algn="ctr">
                      <a:solidFill>
                        <a:srgbClr val="D6DCE3"/>
                      </a:solidFill>
                      <a:prstDash val="solid"/>
                      <a:round/>
                      <a:headEnd type="none" w="med" len="med"/>
                      <a:tailEnd type="none" w="med" len="med"/>
                    </a:lnR>
                    <a:lnT w="9525" cap="flat" cmpd="sng" algn="ctr">
                      <a:solidFill>
                        <a:srgbClr val="D6DCE3"/>
                      </a:solidFill>
                      <a:prstDash val="solid"/>
                      <a:round/>
                      <a:headEnd type="none" w="med" len="med"/>
                      <a:tailEnd type="none" w="med" len="med"/>
                    </a:lnT>
                    <a:lnB w="9525" cap="flat" cmpd="sng" algn="ctr">
                      <a:solidFill>
                        <a:srgbClr val="D6DCE3"/>
                      </a:solidFill>
                      <a:prstDash val="solid"/>
                      <a:round/>
                      <a:headEnd type="none" w="med" len="med"/>
                      <a:tailEnd type="none" w="med" len="med"/>
                    </a:lnB>
                    <a:solidFill>
                      <a:schemeClr val="tx1"/>
                    </a:solidFill>
                  </a:tcPr>
                </a:tc>
              </a:tr>
              <a:tr h="640080">
                <a:tc>
                  <a:txBody>
                    <a:bodyPr/>
                    <a:lstStyle/>
                    <a:p>
                      <a:pPr indent="0" marL="0">
                        <a:buNone/>
                      </a:pPr>
                      <a:r>
                        <a:rPr lang="en-US" sz="1400" b="1" dirty="0">
                          <a:solidFill>
                            <a:schemeClr val="tx1"/>
                          </a:solidFill>
                          <a:latin typeface="Calibri" pitchFamily="34" charset="0"/>
                          <a:ea typeface="Calibri" pitchFamily="34" charset="-122"/>
                          <a:cs typeface="Calibri" pitchFamily="34" charset="-120"/>
                        </a:rPr>
                        <a:t>Resistance to change</a:t>
                      </a:r>
                      <a:endParaRPr lang="en-US" sz="1400" dirty="0">
                        <a:latin typeface="Calibri" charset="0"/>
                        <a:ea typeface="Calibri" charset="0"/>
                        <a:cs typeface="Calibri" charset="0"/>
                      </a:endParaRPr>
                    </a:p>
                  </a:txBody>
                  <a:tcPr marL="101600" marR="101600" marT="50800" marB="50800" anchor="ctr">
                    <a:lnL w="9525" cap="flat" cmpd="sng" algn="ctr">
                      <a:solidFill>
                        <a:srgbClr val="D6DCE3"/>
                      </a:solidFill>
                      <a:prstDash val="solid"/>
                      <a:round/>
                      <a:headEnd type="none" w="med" len="med"/>
                      <a:tailEnd type="none" w="med" len="med"/>
                    </a:lnL>
                    <a:lnR w="9525" cap="flat" cmpd="sng" algn="ctr">
                      <a:solidFill>
                        <a:srgbClr val="D6DCE3"/>
                      </a:solidFill>
                      <a:prstDash val="solid"/>
                      <a:round/>
                      <a:headEnd type="none" w="med" len="med"/>
                      <a:tailEnd type="none" w="med" len="med"/>
                    </a:lnR>
                    <a:lnT w="9525" cap="flat" cmpd="sng" algn="ctr">
                      <a:solidFill>
                        <a:srgbClr val="D6DCE3"/>
                      </a:solidFill>
                      <a:prstDash val="solid"/>
                      <a:round/>
                      <a:headEnd type="none" w="med" len="med"/>
                      <a:tailEnd type="none" w="med" len="med"/>
                    </a:lnT>
                    <a:lnB w="9525" cap="flat" cmpd="sng" algn="ctr">
                      <a:solidFill>
                        <a:srgbClr val="D6DCE3"/>
                      </a:solidFill>
                      <a:prstDash val="solid"/>
                      <a:round/>
                      <a:headEnd type="none" w="med" len="med"/>
                      <a:tailEnd type="none" w="med" len="med"/>
                    </a:lnB>
                    <a:solidFill>
                      <a:schemeClr val="bg2"/>
                    </a:solidFill>
                  </a:tcPr>
                </a:tc>
                <a:tc>
                  <a:txBody>
                    <a:bodyPr/>
                    <a:lstStyle/>
                    <a:p>
                      <a:pPr indent="0" marL="0">
                        <a:buNone/>
                      </a:pPr>
                      <a:r>
                        <a:rPr lang="en-US" sz="1400" dirty="0">
                          <a:solidFill>
                            <a:schemeClr val="tx2"/>
                          </a:solidFill>
                          <a:latin typeface="Calibri" pitchFamily="34" charset="0"/>
                          <a:ea typeface="Calibri" pitchFamily="34" charset="-122"/>
                          <a:cs typeface="Calibri" pitchFamily="34" charset="-120"/>
                        </a:rPr>
                        <a:t>Involve staff early, show quick wins, no layoffs from improvement</a:t>
                      </a:r>
                      <a:endParaRPr lang="en-US" sz="1400" dirty="0">
                        <a:latin typeface="Calibri" charset="0"/>
                        <a:ea typeface="Calibri" charset="0"/>
                        <a:cs typeface="Calibri" charset="0"/>
                      </a:endParaRPr>
                    </a:p>
                  </a:txBody>
                  <a:tcPr marL="101600" marR="101600" marT="50800" marB="50800" anchor="ctr">
                    <a:lnL w="9525" cap="flat" cmpd="sng" algn="ctr">
                      <a:solidFill>
                        <a:srgbClr val="D6DCE3"/>
                      </a:solidFill>
                      <a:prstDash val="solid"/>
                      <a:round/>
                      <a:headEnd type="none" w="med" len="med"/>
                      <a:tailEnd type="none" w="med" len="med"/>
                    </a:lnL>
                    <a:lnR w="9525" cap="flat" cmpd="sng" algn="ctr">
                      <a:solidFill>
                        <a:srgbClr val="D6DCE3"/>
                      </a:solidFill>
                      <a:prstDash val="solid"/>
                      <a:round/>
                      <a:headEnd type="none" w="med" len="med"/>
                      <a:tailEnd type="none" w="med" len="med"/>
                    </a:lnR>
                    <a:lnT w="9525" cap="flat" cmpd="sng" algn="ctr">
                      <a:solidFill>
                        <a:srgbClr val="D6DCE3"/>
                      </a:solidFill>
                      <a:prstDash val="solid"/>
                      <a:round/>
                      <a:headEnd type="none" w="med" len="med"/>
                      <a:tailEnd type="none" w="med" len="med"/>
                    </a:lnT>
                    <a:lnB w="9525" cap="flat" cmpd="sng" algn="ctr">
                      <a:solidFill>
                        <a:srgbClr val="D6DCE3"/>
                      </a:solidFill>
                      <a:prstDash val="solid"/>
                      <a:round/>
                      <a:headEnd type="none" w="med" len="med"/>
                      <a:tailEnd type="none" w="med" len="med"/>
                    </a:lnB>
                    <a:solidFill>
                      <a:schemeClr val="bg2"/>
                    </a:solidFill>
                  </a:tcPr>
                </a:tc>
              </a:tr>
              <a:tr h="640080">
                <a:tc>
                  <a:txBody>
                    <a:bodyPr/>
                    <a:lstStyle/>
                    <a:p>
                      <a:pPr indent="0" marL="0">
                        <a:buNone/>
                      </a:pPr>
                      <a:r>
                        <a:rPr lang="en-US" sz="1400" b="1" dirty="0">
                          <a:solidFill>
                            <a:schemeClr val="tx1"/>
                          </a:solidFill>
                          <a:latin typeface="Calibri" pitchFamily="34" charset="0"/>
                          <a:ea typeface="Calibri" pitchFamily="34" charset="-122"/>
                          <a:cs typeface="Calibri" pitchFamily="34" charset="-120"/>
                        </a:rPr>
                        <a:t>Weak leadership support</a:t>
                      </a:r>
                      <a:endParaRPr lang="en-US" sz="1400" dirty="0">
                        <a:latin typeface="Calibri" charset="0"/>
                        <a:ea typeface="Calibri" charset="0"/>
                        <a:cs typeface="Calibri" charset="0"/>
                      </a:endParaRPr>
                    </a:p>
                  </a:txBody>
                  <a:tcPr marL="101600" marR="101600" marT="50800" marB="50800" anchor="ctr">
                    <a:lnL w="9525" cap="flat" cmpd="sng" algn="ctr">
                      <a:solidFill>
                        <a:srgbClr val="D6DCE3"/>
                      </a:solidFill>
                      <a:prstDash val="solid"/>
                      <a:round/>
                      <a:headEnd type="none" w="med" len="med"/>
                      <a:tailEnd type="none" w="med" len="med"/>
                    </a:lnL>
                    <a:lnR w="9525" cap="flat" cmpd="sng" algn="ctr">
                      <a:solidFill>
                        <a:srgbClr val="D6DCE3"/>
                      </a:solidFill>
                      <a:prstDash val="solid"/>
                      <a:round/>
                      <a:headEnd type="none" w="med" len="med"/>
                      <a:tailEnd type="none" w="med" len="med"/>
                    </a:lnR>
                    <a:lnT w="9525" cap="flat" cmpd="sng" algn="ctr">
                      <a:solidFill>
                        <a:srgbClr val="D6DCE3"/>
                      </a:solidFill>
                      <a:prstDash val="solid"/>
                      <a:round/>
                      <a:headEnd type="none" w="med" len="med"/>
                      <a:tailEnd type="none" w="med" len="med"/>
                    </a:lnT>
                    <a:lnB w="9525" cap="flat" cmpd="sng" algn="ctr">
                      <a:solidFill>
                        <a:srgbClr val="D6DCE3"/>
                      </a:solidFill>
                      <a:prstDash val="solid"/>
                      <a:round/>
                      <a:headEnd type="none" w="med" len="med"/>
                      <a:tailEnd type="none" w="med" len="med"/>
                    </a:lnB>
                    <a:solidFill>
                      <a:schemeClr val="bg1"/>
                    </a:solidFill>
                  </a:tcPr>
                </a:tc>
                <a:tc>
                  <a:txBody>
                    <a:bodyPr/>
                    <a:lstStyle/>
                    <a:p>
                      <a:pPr indent="0" marL="0">
                        <a:buNone/>
                      </a:pPr>
                      <a:r>
                        <a:rPr lang="en-US" sz="1400" dirty="0">
                          <a:solidFill>
                            <a:schemeClr val="tx2"/>
                          </a:solidFill>
                          <a:latin typeface="Calibri" pitchFamily="34" charset="0"/>
                          <a:ea typeface="Calibri" pitchFamily="34" charset="-122"/>
                          <a:cs typeface="Calibri" pitchFamily="34" charset="-120"/>
                        </a:rPr>
                        <a:t>Leaders visit the shop floor and review the boards themselves</a:t>
                      </a:r>
                      <a:endParaRPr lang="en-US" sz="1400" dirty="0">
                        <a:latin typeface="Calibri" charset="0"/>
                        <a:ea typeface="Calibri" charset="0"/>
                        <a:cs typeface="Calibri" charset="0"/>
                      </a:endParaRPr>
                    </a:p>
                  </a:txBody>
                  <a:tcPr marL="101600" marR="101600" marT="50800" marB="50800" anchor="ctr">
                    <a:lnL w="9525" cap="flat" cmpd="sng" algn="ctr">
                      <a:solidFill>
                        <a:srgbClr val="D6DCE3"/>
                      </a:solidFill>
                      <a:prstDash val="solid"/>
                      <a:round/>
                      <a:headEnd type="none" w="med" len="med"/>
                      <a:tailEnd type="none" w="med" len="med"/>
                    </a:lnL>
                    <a:lnR w="9525" cap="flat" cmpd="sng" algn="ctr">
                      <a:solidFill>
                        <a:srgbClr val="D6DCE3"/>
                      </a:solidFill>
                      <a:prstDash val="solid"/>
                      <a:round/>
                      <a:headEnd type="none" w="med" len="med"/>
                      <a:tailEnd type="none" w="med" len="med"/>
                    </a:lnR>
                    <a:lnT w="9525" cap="flat" cmpd="sng" algn="ctr">
                      <a:solidFill>
                        <a:srgbClr val="D6DCE3"/>
                      </a:solidFill>
                      <a:prstDash val="solid"/>
                      <a:round/>
                      <a:headEnd type="none" w="med" len="med"/>
                      <a:tailEnd type="none" w="med" len="med"/>
                    </a:lnT>
                    <a:lnB w="9525" cap="flat" cmpd="sng" algn="ctr">
                      <a:solidFill>
                        <a:srgbClr val="D6DCE3"/>
                      </a:solidFill>
                      <a:prstDash val="solid"/>
                      <a:round/>
                      <a:headEnd type="none" w="med" len="med"/>
                      <a:tailEnd type="none" w="med" len="med"/>
                    </a:lnB>
                    <a:solidFill>
                      <a:schemeClr val="bg1"/>
                    </a:solidFill>
                  </a:tcPr>
                </a:tc>
              </a:tr>
              <a:tr h="640080">
                <a:tc>
                  <a:txBody>
                    <a:bodyPr/>
                    <a:lstStyle/>
                    <a:p>
                      <a:pPr indent="0" marL="0">
                        <a:buNone/>
                      </a:pPr>
                      <a:r>
                        <a:rPr lang="en-US" sz="1400" b="1" dirty="0">
                          <a:solidFill>
                            <a:schemeClr val="tx1"/>
                          </a:solidFill>
                          <a:latin typeface="Calibri" pitchFamily="34" charset="0"/>
                          <a:ea typeface="Calibri" pitchFamily="34" charset="-122"/>
                          <a:cs typeface="Calibri" pitchFamily="34" charset="-120"/>
                        </a:rPr>
                        <a:t>Lean seen as just tools</a:t>
                      </a:r>
                      <a:endParaRPr lang="en-US" sz="1400" dirty="0">
                        <a:latin typeface="Calibri" charset="0"/>
                        <a:ea typeface="Calibri" charset="0"/>
                        <a:cs typeface="Calibri" charset="0"/>
                      </a:endParaRPr>
                    </a:p>
                  </a:txBody>
                  <a:tcPr marL="101600" marR="101600" marT="50800" marB="50800" anchor="ctr">
                    <a:lnL w="9525" cap="flat" cmpd="sng" algn="ctr">
                      <a:solidFill>
                        <a:srgbClr val="D6DCE3"/>
                      </a:solidFill>
                      <a:prstDash val="solid"/>
                      <a:round/>
                      <a:headEnd type="none" w="med" len="med"/>
                      <a:tailEnd type="none" w="med" len="med"/>
                    </a:lnL>
                    <a:lnR w="9525" cap="flat" cmpd="sng" algn="ctr">
                      <a:solidFill>
                        <a:srgbClr val="D6DCE3"/>
                      </a:solidFill>
                      <a:prstDash val="solid"/>
                      <a:round/>
                      <a:headEnd type="none" w="med" len="med"/>
                      <a:tailEnd type="none" w="med" len="med"/>
                    </a:lnR>
                    <a:lnT w="9525" cap="flat" cmpd="sng" algn="ctr">
                      <a:solidFill>
                        <a:srgbClr val="D6DCE3"/>
                      </a:solidFill>
                      <a:prstDash val="solid"/>
                      <a:round/>
                      <a:headEnd type="none" w="med" len="med"/>
                      <a:tailEnd type="none" w="med" len="med"/>
                    </a:lnT>
                    <a:lnB w="9525" cap="flat" cmpd="sng" algn="ctr">
                      <a:solidFill>
                        <a:srgbClr val="D6DCE3"/>
                      </a:solidFill>
                      <a:prstDash val="solid"/>
                      <a:round/>
                      <a:headEnd type="none" w="med" len="med"/>
                      <a:tailEnd type="none" w="med" len="med"/>
                    </a:lnB>
                    <a:solidFill>
                      <a:schemeClr val="bg2"/>
                    </a:solidFill>
                  </a:tcPr>
                </a:tc>
                <a:tc>
                  <a:txBody>
                    <a:bodyPr/>
                    <a:lstStyle/>
                    <a:p>
                      <a:pPr indent="0" marL="0">
                        <a:buNone/>
                      </a:pPr>
                      <a:r>
                        <a:rPr lang="en-US" sz="1400" dirty="0">
                          <a:solidFill>
                            <a:schemeClr val="tx2"/>
                          </a:solidFill>
                          <a:latin typeface="Calibri" pitchFamily="34" charset="0"/>
                          <a:ea typeface="Calibri" pitchFamily="34" charset="-122"/>
                          <a:cs typeface="Calibri" pitchFamily="34" charset="-120"/>
                        </a:rPr>
                        <a:t>Explain the “why” and link every tool to a real problem</a:t>
                      </a:r>
                      <a:endParaRPr lang="en-US" sz="1400" dirty="0">
                        <a:latin typeface="Calibri" charset="0"/>
                        <a:ea typeface="Calibri" charset="0"/>
                        <a:cs typeface="Calibri" charset="0"/>
                      </a:endParaRPr>
                    </a:p>
                  </a:txBody>
                  <a:tcPr marL="101600" marR="101600" marT="50800" marB="50800" anchor="ctr">
                    <a:lnL w="9525" cap="flat" cmpd="sng" algn="ctr">
                      <a:solidFill>
                        <a:srgbClr val="D6DCE3"/>
                      </a:solidFill>
                      <a:prstDash val="solid"/>
                      <a:round/>
                      <a:headEnd type="none" w="med" len="med"/>
                      <a:tailEnd type="none" w="med" len="med"/>
                    </a:lnL>
                    <a:lnR w="9525" cap="flat" cmpd="sng" algn="ctr">
                      <a:solidFill>
                        <a:srgbClr val="D6DCE3"/>
                      </a:solidFill>
                      <a:prstDash val="solid"/>
                      <a:round/>
                      <a:headEnd type="none" w="med" len="med"/>
                      <a:tailEnd type="none" w="med" len="med"/>
                    </a:lnR>
                    <a:lnT w="9525" cap="flat" cmpd="sng" algn="ctr">
                      <a:solidFill>
                        <a:srgbClr val="D6DCE3"/>
                      </a:solidFill>
                      <a:prstDash val="solid"/>
                      <a:round/>
                      <a:headEnd type="none" w="med" len="med"/>
                      <a:tailEnd type="none" w="med" len="med"/>
                    </a:lnT>
                    <a:lnB w="9525" cap="flat" cmpd="sng" algn="ctr">
                      <a:solidFill>
                        <a:srgbClr val="D6DCE3"/>
                      </a:solidFill>
                      <a:prstDash val="solid"/>
                      <a:round/>
                      <a:headEnd type="none" w="med" len="med"/>
                      <a:tailEnd type="none" w="med" len="med"/>
                    </a:lnB>
                    <a:solidFill>
                      <a:schemeClr val="bg2"/>
                    </a:solidFill>
                  </a:tcPr>
                </a:tc>
              </a:tr>
              <a:tr h="640080">
                <a:tc>
                  <a:txBody>
                    <a:bodyPr/>
                    <a:lstStyle/>
                    <a:p>
                      <a:pPr indent="0" marL="0">
                        <a:buNone/>
                      </a:pPr>
                      <a:r>
                        <a:rPr lang="en-US" sz="1400" b="1" dirty="0">
                          <a:solidFill>
                            <a:schemeClr val="tx1"/>
                          </a:solidFill>
                          <a:latin typeface="Calibri" pitchFamily="34" charset="0"/>
                          <a:ea typeface="Calibri" pitchFamily="34" charset="-122"/>
                          <a:cs typeface="Calibri" pitchFamily="34" charset="-120"/>
                        </a:rPr>
                        <a:t>No time for training</a:t>
                      </a:r>
                      <a:endParaRPr lang="en-US" sz="1400" dirty="0">
                        <a:latin typeface="Calibri" charset="0"/>
                        <a:ea typeface="Calibri" charset="0"/>
                        <a:cs typeface="Calibri" charset="0"/>
                      </a:endParaRPr>
                    </a:p>
                  </a:txBody>
                  <a:tcPr marL="101600" marR="101600" marT="50800" marB="50800" anchor="ctr">
                    <a:lnL w="9525" cap="flat" cmpd="sng" algn="ctr">
                      <a:solidFill>
                        <a:srgbClr val="D6DCE3"/>
                      </a:solidFill>
                      <a:prstDash val="solid"/>
                      <a:round/>
                      <a:headEnd type="none" w="med" len="med"/>
                      <a:tailEnd type="none" w="med" len="med"/>
                    </a:lnL>
                    <a:lnR w="9525" cap="flat" cmpd="sng" algn="ctr">
                      <a:solidFill>
                        <a:srgbClr val="D6DCE3"/>
                      </a:solidFill>
                      <a:prstDash val="solid"/>
                      <a:round/>
                      <a:headEnd type="none" w="med" len="med"/>
                      <a:tailEnd type="none" w="med" len="med"/>
                    </a:lnR>
                    <a:lnT w="9525" cap="flat" cmpd="sng" algn="ctr">
                      <a:solidFill>
                        <a:srgbClr val="D6DCE3"/>
                      </a:solidFill>
                      <a:prstDash val="solid"/>
                      <a:round/>
                      <a:headEnd type="none" w="med" len="med"/>
                      <a:tailEnd type="none" w="med" len="med"/>
                    </a:lnT>
                    <a:lnB w="9525" cap="flat" cmpd="sng" algn="ctr">
                      <a:solidFill>
                        <a:srgbClr val="D6DCE3"/>
                      </a:solidFill>
                      <a:prstDash val="solid"/>
                      <a:round/>
                      <a:headEnd type="none" w="med" len="med"/>
                      <a:tailEnd type="none" w="med" len="med"/>
                    </a:lnB>
                    <a:solidFill>
                      <a:schemeClr val="bg1"/>
                    </a:solidFill>
                  </a:tcPr>
                </a:tc>
                <a:tc>
                  <a:txBody>
                    <a:bodyPr/>
                    <a:lstStyle/>
                    <a:p>
                      <a:pPr indent="0" marL="0">
                        <a:buNone/>
                      </a:pPr>
                      <a:r>
                        <a:rPr lang="en-US" sz="1400" dirty="0">
                          <a:solidFill>
                            <a:schemeClr val="tx2"/>
                          </a:solidFill>
                          <a:latin typeface="Calibri" pitchFamily="34" charset="0"/>
                          <a:ea typeface="Calibri" pitchFamily="34" charset="-122"/>
                          <a:cs typeface="Calibri" pitchFamily="34" charset="-120"/>
                        </a:rPr>
                        <a:t>Plan training time; one-point lessons; internal coaches</a:t>
                      </a:r>
                      <a:endParaRPr lang="en-US" sz="1400" dirty="0">
                        <a:latin typeface="Calibri" charset="0"/>
                        <a:ea typeface="Calibri" charset="0"/>
                        <a:cs typeface="Calibri" charset="0"/>
                      </a:endParaRPr>
                    </a:p>
                  </a:txBody>
                  <a:tcPr marL="101600" marR="101600" marT="50800" marB="50800" anchor="ctr">
                    <a:lnL w="9525" cap="flat" cmpd="sng" algn="ctr">
                      <a:solidFill>
                        <a:srgbClr val="D6DCE3"/>
                      </a:solidFill>
                      <a:prstDash val="solid"/>
                      <a:round/>
                      <a:headEnd type="none" w="med" len="med"/>
                      <a:tailEnd type="none" w="med" len="med"/>
                    </a:lnL>
                    <a:lnR w="9525" cap="flat" cmpd="sng" algn="ctr">
                      <a:solidFill>
                        <a:srgbClr val="D6DCE3"/>
                      </a:solidFill>
                      <a:prstDash val="solid"/>
                      <a:round/>
                      <a:headEnd type="none" w="med" len="med"/>
                      <a:tailEnd type="none" w="med" len="med"/>
                    </a:lnR>
                    <a:lnT w="9525" cap="flat" cmpd="sng" algn="ctr">
                      <a:solidFill>
                        <a:srgbClr val="D6DCE3"/>
                      </a:solidFill>
                      <a:prstDash val="solid"/>
                      <a:round/>
                      <a:headEnd type="none" w="med" len="med"/>
                      <a:tailEnd type="none" w="med" len="med"/>
                    </a:lnT>
                    <a:lnB w="9525" cap="flat" cmpd="sng" algn="ctr">
                      <a:solidFill>
                        <a:srgbClr val="D6DCE3"/>
                      </a:solidFill>
                      <a:prstDash val="solid"/>
                      <a:round/>
                      <a:headEnd type="none" w="med" len="med"/>
                      <a:tailEnd type="none" w="med" len="med"/>
                    </a:lnB>
                    <a:solidFill>
                      <a:schemeClr val="bg1"/>
                    </a:solidFill>
                  </a:tcPr>
                </a:tc>
              </a:tr>
              <a:tr h="640080">
                <a:tc>
                  <a:txBody>
                    <a:bodyPr/>
                    <a:lstStyle/>
                    <a:p>
                      <a:pPr indent="0" marL="0">
                        <a:buNone/>
                      </a:pPr>
                      <a:r>
                        <a:rPr lang="en-US" sz="1400" b="1" dirty="0">
                          <a:solidFill>
                            <a:schemeClr val="tx1"/>
                          </a:solidFill>
                          <a:latin typeface="Calibri" pitchFamily="34" charset="0"/>
                          <a:ea typeface="Calibri" pitchFamily="34" charset="-122"/>
                          <a:cs typeface="Calibri" pitchFamily="34" charset="-120"/>
                        </a:rPr>
                        <a:t>Gains not sustained</a:t>
                      </a:r>
                      <a:endParaRPr lang="en-US" sz="1400" dirty="0">
                        <a:latin typeface="Calibri" charset="0"/>
                        <a:ea typeface="Calibri" charset="0"/>
                        <a:cs typeface="Calibri" charset="0"/>
                      </a:endParaRPr>
                    </a:p>
                  </a:txBody>
                  <a:tcPr marL="101600" marR="101600" marT="50800" marB="50800" anchor="ctr">
                    <a:lnL w="9525" cap="flat" cmpd="sng" algn="ctr">
                      <a:solidFill>
                        <a:srgbClr val="D6DCE3"/>
                      </a:solidFill>
                      <a:prstDash val="solid"/>
                      <a:round/>
                      <a:headEnd type="none" w="med" len="med"/>
                      <a:tailEnd type="none" w="med" len="med"/>
                    </a:lnL>
                    <a:lnR w="9525" cap="flat" cmpd="sng" algn="ctr">
                      <a:solidFill>
                        <a:srgbClr val="D6DCE3"/>
                      </a:solidFill>
                      <a:prstDash val="solid"/>
                      <a:round/>
                      <a:headEnd type="none" w="med" len="med"/>
                      <a:tailEnd type="none" w="med" len="med"/>
                    </a:lnR>
                    <a:lnT w="9525" cap="flat" cmpd="sng" algn="ctr">
                      <a:solidFill>
                        <a:srgbClr val="D6DCE3"/>
                      </a:solidFill>
                      <a:prstDash val="solid"/>
                      <a:round/>
                      <a:headEnd type="none" w="med" len="med"/>
                      <a:tailEnd type="none" w="med" len="med"/>
                    </a:lnT>
                    <a:lnB w="9525" cap="flat" cmpd="sng" algn="ctr">
                      <a:solidFill>
                        <a:srgbClr val="D6DCE3"/>
                      </a:solidFill>
                      <a:prstDash val="solid"/>
                      <a:round/>
                      <a:headEnd type="none" w="med" len="med"/>
                      <a:tailEnd type="none" w="med" len="med"/>
                    </a:lnB>
                    <a:solidFill>
                      <a:schemeClr val="bg2"/>
                    </a:solidFill>
                  </a:tcPr>
                </a:tc>
                <a:tc>
                  <a:txBody>
                    <a:bodyPr/>
                    <a:lstStyle/>
                    <a:p>
                      <a:pPr indent="0" marL="0">
                        <a:buNone/>
                      </a:pPr>
                      <a:r>
                        <a:rPr lang="en-US" sz="1400" dirty="0">
                          <a:solidFill>
                            <a:schemeClr val="tx2"/>
                          </a:solidFill>
                          <a:latin typeface="Calibri" pitchFamily="34" charset="0"/>
                          <a:ea typeface="Calibri" pitchFamily="34" charset="-122"/>
                          <a:cs typeface="Calibri" pitchFamily="34" charset="-120"/>
                        </a:rPr>
                        <a:t>Standards, daily audits and regular reviews</a:t>
                      </a:r>
                      <a:endParaRPr lang="en-US" sz="1400" dirty="0">
                        <a:latin typeface="Calibri" charset="0"/>
                        <a:ea typeface="Calibri" charset="0"/>
                        <a:cs typeface="Calibri" charset="0"/>
                      </a:endParaRPr>
                    </a:p>
                  </a:txBody>
                  <a:tcPr marL="101600" marR="101600" marT="50800" marB="50800" anchor="ctr">
                    <a:lnL w="9525" cap="flat" cmpd="sng" algn="ctr">
                      <a:solidFill>
                        <a:srgbClr val="D6DCE3"/>
                      </a:solidFill>
                      <a:prstDash val="solid"/>
                      <a:round/>
                      <a:headEnd type="none" w="med" len="med"/>
                      <a:tailEnd type="none" w="med" len="med"/>
                    </a:lnL>
                    <a:lnR w="9525" cap="flat" cmpd="sng" algn="ctr">
                      <a:solidFill>
                        <a:srgbClr val="D6DCE3"/>
                      </a:solidFill>
                      <a:prstDash val="solid"/>
                      <a:round/>
                      <a:headEnd type="none" w="med" len="med"/>
                      <a:tailEnd type="none" w="med" len="med"/>
                    </a:lnR>
                    <a:lnT w="9525" cap="flat" cmpd="sng" algn="ctr">
                      <a:solidFill>
                        <a:srgbClr val="D6DCE3"/>
                      </a:solidFill>
                      <a:prstDash val="solid"/>
                      <a:round/>
                      <a:headEnd type="none" w="med" len="med"/>
                      <a:tailEnd type="none" w="med" len="med"/>
                    </a:lnT>
                    <a:lnB w="9525" cap="flat" cmpd="sng" algn="ctr">
                      <a:solidFill>
                        <a:srgbClr val="D6DCE3"/>
                      </a:solidFill>
                      <a:prstDash val="solid"/>
                      <a:round/>
                      <a:headEnd type="none" w="med" len="med"/>
                      <a:tailEnd type="none" w="med" len="med"/>
                    </a:lnB>
                    <a:solidFill>
                      <a:schemeClr val="bg2"/>
                    </a:solidFill>
                  </a:tcPr>
                </a:tc>
              </a:tr>
              <a:tr h="640080">
                <a:tc>
                  <a:txBody>
                    <a:bodyPr/>
                    <a:lstStyle/>
                    <a:p>
                      <a:pPr indent="0" marL="0">
                        <a:buNone/>
                      </a:pPr>
                      <a:r>
                        <a:rPr lang="en-US" sz="1400" b="1" dirty="0">
                          <a:solidFill>
                            <a:schemeClr val="tx1"/>
                          </a:solidFill>
                          <a:latin typeface="Calibri" pitchFamily="34" charset="0"/>
                          <a:ea typeface="Calibri" pitchFamily="34" charset="-122"/>
                          <a:cs typeface="Calibri" pitchFamily="34" charset="-120"/>
                        </a:rPr>
                        <a:t>Unreliable machines or supply</a:t>
                      </a:r>
                      <a:endParaRPr lang="en-US" sz="1400" dirty="0">
                        <a:latin typeface="Calibri" charset="0"/>
                        <a:ea typeface="Calibri" charset="0"/>
                        <a:cs typeface="Calibri" charset="0"/>
                      </a:endParaRPr>
                    </a:p>
                  </a:txBody>
                  <a:tcPr marL="101600" marR="101600" marT="50800" marB="50800" anchor="ctr">
                    <a:lnL w="9525" cap="flat" cmpd="sng" algn="ctr">
                      <a:solidFill>
                        <a:srgbClr val="D6DCE3"/>
                      </a:solidFill>
                      <a:prstDash val="solid"/>
                      <a:round/>
                      <a:headEnd type="none" w="med" len="med"/>
                      <a:tailEnd type="none" w="med" len="med"/>
                    </a:lnL>
                    <a:lnR w="9525" cap="flat" cmpd="sng" algn="ctr">
                      <a:solidFill>
                        <a:srgbClr val="D6DCE3"/>
                      </a:solidFill>
                      <a:prstDash val="solid"/>
                      <a:round/>
                      <a:headEnd type="none" w="med" len="med"/>
                      <a:tailEnd type="none" w="med" len="med"/>
                    </a:lnR>
                    <a:lnT w="9525" cap="flat" cmpd="sng" algn="ctr">
                      <a:solidFill>
                        <a:srgbClr val="D6DCE3"/>
                      </a:solidFill>
                      <a:prstDash val="solid"/>
                      <a:round/>
                      <a:headEnd type="none" w="med" len="med"/>
                      <a:tailEnd type="none" w="med" len="med"/>
                    </a:lnT>
                    <a:lnB w="9525" cap="flat" cmpd="sng" algn="ctr">
                      <a:solidFill>
                        <a:srgbClr val="D6DCE3"/>
                      </a:solidFill>
                      <a:prstDash val="solid"/>
                      <a:round/>
                      <a:headEnd type="none" w="med" len="med"/>
                      <a:tailEnd type="none" w="med" len="med"/>
                    </a:lnB>
                    <a:solidFill>
                      <a:schemeClr val="bg1"/>
                    </a:solidFill>
                  </a:tcPr>
                </a:tc>
                <a:tc>
                  <a:txBody>
                    <a:bodyPr/>
                    <a:lstStyle/>
                    <a:p>
                      <a:pPr indent="0" marL="0">
                        <a:buNone/>
                      </a:pPr>
                      <a:r>
                        <a:rPr lang="en-US" sz="1400" dirty="0">
                          <a:solidFill>
                            <a:schemeClr val="tx2"/>
                          </a:solidFill>
                          <a:latin typeface="Calibri" pitchFamily="34" charset="0"/>
                          <a:ea typeface="Calibri" pitchFamily="34" charset="-122"/>
                          <a:cs typeface="Calibri" pitchFamily="34" charset="-120"/>
                        </a:rPr>
                        <a:t>Start TPM on bottlenecks; work with suppliers; pilot first</a:t>
                      </a:r>
                      <a:endParaRPr lang="en-US" sz="1400" dirty="0">
                        <a:latin typeface="Calibri" charset="0"/>
                        <a:ea typeface="Calibri" charset="0"/>
                        <a:cs typeface="Calibri" charset="0"/>
                      </a:endParaRPr>
                    </a:p>
                  </a:txBody>
                  <a:tcPr marL="101600" marR="101600" marT="50800" marB="50800" anchor="ctr">
                    <a:lnL w="9525" cap="flat" cmpd="sng" algn="ctr">
                      <a:solidFill>
                        <a:srgbClr val="D6DCE3"/>
                      </a:solidFill>
                      <a:prstDash val="solid"/>
                      <a:round/>
                      <a:headEnd type="none" w="med" len="med"/>
                      <a:tailEnd type="none" w="med" len="med"/>
                    </a:lnL>
                    <a:lnR w="9525" cap="flat" cmpd="sng" algn="ctr">
                      <a:solidFill>
                        <a:srgbClr val="D6DCE3"/>
                      </a:solidFill>
                      <a:prstDash val="solid"/>
                      <a:round/>
                      <a:headEnd type="none" w="med" len="med"/>
                      <a:tailEnd type="none" w="med" len="med"/>
                    </a:lnR>
                    <a:lnT w="9525" cap="flat" cmpd="sng" algn="ctr">
                      <a:solidFill>
                        <a:srgbClr val="D6DCE3"/>
                      </a:solidFill>
                      <a:prstDash val="solid"/>
                      <a:round/>
                      <a:headEnd type="none" w="med" len="med"/>
                      <a:tailEnd type="none" w="med" len="med"/>
                    </a:lnT>
                    <a:lnB w="9525" cap="flat" cmpd="sng" algn="ctr">
                      <a:solidFill>
                        <a:srgbClr val="D6DCE3"/>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mc:AlternateContent xmlns:mc="http://schemas.openxmlformats.org/markup-compatibility/2006">
    <mc:Choice xmlns:p14="http://schemas.microsoft.com/office/powerpoint/2010/main" Requires="p14">
      <p:transition spd="slow" p14:dur="1400">
        <p14:gallery dir="l"/>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anim calcmode="lin" valueType="num">
                                      <p:cBhvr>
                                        <p:cTn id="8" dur="600" fill="hold"/>
                                        <p:tgtEl>
                                          <p:spTgt spid="4"/>
                                        </p:tgtEl>
                                        <p:attrNameLst>
                                          <p:attrName>ppt_x</p:attrName>
                                        </p:attrNameLst>
                                      </p:cBhvr>
                                      <p:tavLst>
                                        <p:tav tm="0">
                                          <p:val>
                                            <p:strVal val="#ppt_x"/>
                                          </p:val>
                                        </p:tav>
                                        <p:tav tm="100000">
                                          <p:val>
                                            <p:strVal val="#ppt_x"/>
                                          </p:val>
                                        </p:tav>
                                      </p:tavLst>
                                    </p:anim>
                                    <p:anim calcmode="lin" valueType="num">
                                      <p:cBhvr>
                                        <p:cTn id="9" dur="600" fill="hold"/>
                                        <p:tgtEl>
                                          <p:spTgt spid="4"/>
                                        </p:tgtEl>
                                        <p:attrNameLst>
                                          <p:attrName>ppt_y</p:attrName>
                                        </p:attrNameLst>
                                      </p:cBhvr>
                                      <p:tavLst>
                                        <p:tav tm="0">
                                          <p:val>
                                            <p:strVal val="#ppt_y+.05"/>
                                          </p:val>
                                        </p:tav>
                                        <p:tav tm="100000">
                                          <p:val>
                                            <p:strVal val="#ppt_y"/>
                                          </p:val>
                                        </p:tav>
                                      </p:tavLst>
                                    </p:anim>
                                  </p:childTnLst>
                                </p:cTn>
                              </p:par>
                              <p:par>
                                <p:cTn id="10" presetID="53" presetClass="entr" presetSubtype="16" fill="hold" grpId="0" nodeType="withEffect">
                                  <p:stCondLst>
                                    <p:cond delay="200"/>
                                  </p:stCondLst>
                                  <p:childTnLst>
                                    <p:set>
                                      <p:cBhvr>
                                        <p:cTn id="11" dur="1" fill="hold">
                                          <p:stCondLst>
                                            <p:cond delay="0"/>
                                          </p:stCondLst>
                                        </p:cTn>
                                        <p:tgtEl>
                                          <p:spTgt spid="5"/>
                                        </p:tgtEl>
                                        <p:attrNameLst>
                                          <p:attrName>style.visibility</p:attrName>
                                        </p:attrNameLst>
                                      </p:cBhvr>
                                      <p:to>
                                        <p:strVal val="visible"/>
                                      </p:to>
                                    </p:set>
                                    <p:anim calcmode="lin" valueType="num">
                                      <p:cBhvr>
                                        <p:cTn id="12" dur="500" fill="hold"/>
                                        <p:tgtEl>
                                          <p:spTgt spid="5"/>
                                        </p:tgtEl>
                                        <p:attrNameLst>
                                          <p:attrName>ppt_w</p:attrName>
                                        </p:attrNameLst>
                                      </p:cBhvr>
                                      <p:tavLst>
                                        <p:tav tm="0">
                                          <p:val>
                                            <p:fltVal val="0"/>
                                          </p:val>
                                        </p:tav>
                                        <p:tav tm="100000">
                                          <p:val>
                                            <p:strVal val="#ppt_w"/>
                                          </p:val>
                                        </p:tav>
                                      </p:tavLst>
                                    </p:anim>
                                    <p:anim calcmode="lin" valueType="num">
                                      <p:cBhvr>
                                        <p:cTn id="13" dur="500" fill="hold"/>
                                        <p:tgtEl>
                                          <p:spTgt spid="5"/>
                                        </p:tgtEl>
                                        <p:attrNameLst>
                                          <p:attrName>ppt_h</p:attrName>
                                        </p:attrNameLst>
                                      </p:cBhvr>
                                      <p:tavLst>
                                        <p:tav tm="0">
                                          <p:val>
                                            <p:fltVal val="0"/>
                                          </p:val>
                                        </p:tav>
                                        <p:tav tm="100000">
                                          <p:val>
                                            <p:strVal val="#ppt_h"/>
                                          </p:val>
                                        </p:tav>
                                      </p:tavLst>
                                    </p:anim>
                                    <p:animEffect transition="in" filter="fade">
                                      <p:cBhvr>
                                        <p:cTn id="14" dur="500"/>
                                        <p:tgtEl>
                                          <p:spTgt spid="5"/>
                                        </p:tgtEl>
                                      </p:cBhvr>
                                    </p:animEffect>
                                  </p:childTnLst>
                                </p:cTn>
                              </p:par>
                              <p:par>
                                <p:cTn id="15" presetID="53" presetClass="entr" presetSubtype="16" fill="hold" grpId="0" nodeType="withEffect">
                                  <p:stCondLst>
                                    <p:cond delay="200"/>
                                  </p:stCondLst>
                                  <p:childTnLst>
                                    <p:set>
                                      <p:cBhvr>
                                        <p:cTn id="16" dur="1" fill="hold">
                                          <p:stCondLst>
                                            <p:cond delay="0"/>
                                          </p:stCondLst>
                                        </p:cTn>
                                        <p:tgtEl>
                                          <p:spTgt spid="6"/>
                                        </p:tgtEl>
                                        <p:attrNameLst>
                                          <p:attrName>style.visibility</p:attrName>
                                        </p:attrNameLst>
                                      </p:cBhvr>
                                      <p:to>
                                        <p:strVal val="visible"/>
                                      </p:to>
                                    </p:set>
                                    <p:anim calcmode="lin" valueType="num">
                                      <p:cBhvr>
                                        <p:cTn id="17" dur="500" fill="hold"/>
                                        <p:tgtEl>
                                          <p:spTgt spid="6"/>
                                        </p:tgtEl>
                                        <p:attrNameLst>
                                          <p:attrName>ppt_w</p:attrName>
                                        </p:attrNameLst>
                                      </p:cBhvr>
                                      <p:tavLst>
                                        <p:tav tm="0">
                                          <p:val>
                                            <p:fltVal val="0"/>
                                          </p:val>
                                        </p:tav>
                                        <p:tav tm="100000">
                                          <p:val>
                                            <p:strVal val="#ppt_w"/>
                                          </p:val>
                                        </p:tav>
                                      </p:tavLst>
                                    </p:anim>
                                    <p:anim calcmode="lin" valueType="num">
                                      <p:cBhvr>
                                        <p:cTn id="18" dur="500" fill="hold"/>
                                        <p:tgtEl>
                                          <p:spTgt spid="6"/>
                                        </p:tgtEl>
                                        <p:attrNameLst>
                                          <p:attrName>ppt_h</p:attrName>
                                        </p:attrNameLst>
                                      </p:cBhvr>
                                      <p:tavLst>
                                        <p:tav tm="0">
                                          <p:val>
                                            <p:fltVal val="0"/>
                                          </p:val>
                                        </p:tav>
                                        <p:tav tm="100000">
                                          <p:val>
                                            <p:strVal val="#ppt_h"/>
                                          </p:val>
                                        </p:tav>
                                      </p:tavLst>
                                    </p:anim>
                                    <p:animEffect transition="in" filter="fade">
                                      <p:cBhvr>
                                        <p:cTn id="19" dur="500"/>
                                        <p:tgtEl>
                                          <p:spTgt spid="6"/>
                                        </p:tgtEl>
                                      </p:cBhvr>
                                    </p:animEffect>
                                  </p:childTnLst>
                                </p:cTn>
                              </p:par>
                              <p:par>
                                <p:cTn id="20" presetID="42" presetClass="entr" presetSubtype="0" fill="hold" grpId="0" nodeType="withEffect">
                                  <p:stCondLst>
                                    <p:cond delay="20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600"/>
                                        <p:tgtEl>
                                          <p:spTgt spid="7"/>
                                        </p:tgtEl>
                                      </p:cBhvr>
                                    </p:animEffect>
                                    <p:anim calcmode="lin" valueType="num">
                                      <p:cBhvr>
                                        <p:cTn id="23" dur="600" fill="hold"/>
                                        <p:tgtEl>
                                          <p:spTgt spid="7"/>
                                        </p:tgtEl>
                                        <p:attrNameLst>
                                          <p:attrName>ppt_x</p:attrName>
                                        </p:attrNameLst>
                                      </p:cBhvr>
                                      <p:tavLst>
                                        <p:tav tm="0">
                                          <p:val>
                                            <p:strVal val="#ppt_x"/>
                                          </p:val>
                                        </p:tav>
                                        <p:tav tm="100000">
                                          <p:val>
                                            <p:strVal val="#ppt_x"/>
                                          </p:val>
                                        </p:tav>
                                      </p:tavLst>
                                    </p:anim>
                                    <p:anim calcmode="lin" valueType="num">
                                      <p:cBhvr>
                                        <p:cTn id="24" dur="600" fill="hold"/>
                                        <p:tgtEl>
                                          <p:spTgt spid="7"/>
                                        </p:tgtEl>
                                        <p:attrNameLst>
                                          <p:attrName>ppt_y</p:attrName>
                                        </p:attrNameLst>
                                      </p:cBhvr>
                                      <p:tavLst>
                                        <p:tav tm="0">
                                          <p:val>
                                            <p:strVal val="#ppt_y+.05"/>
                                          </p:val>
                                        </p:tav>
                                        <p:tav tm="100000">
                                          <p:val>
                                            <p:strVal val="#ppt_y"/>
                                          </p:val>
                                        </p:tav>
                                      </p:tavLst>
                                    </p:anim>
                                  </p:childTnLst>
                                </p:cTn>
                              </p:par>
                              <p:par>
                                <p:cTn id="25" presetID="42" presetClass="entr" presetSubtype="0" fill="hold" grpId="0" nodeType="withEffect">
                                  <p:stCondLst>
                                    <p:cond delay="20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600"/>
                                        <p:tgtEl>
                                          <p:spTgt spid="8"/>
                                        </p:tgtEl>
                                      </p:cBhvr>
                                    </p:animEffect>
                                    <p:anim calcmode="lin" valueType="num">
                                      <p:cBhvr>
                                        <p:cTn id="28" dur="600" fill="hold"/>
                                        <p:tgtEl>
                                          <p:spTgt spid="8"/>
                                        </p:tgtEl>
                                        <p:attrNameLst>
                                          <p:attrName>ppt_x</p:attrName>
                                        </p:attrNameLst>
                                      </p:cBhvr>
                                      <p:tavLst>
                                        <p:tav tm="0">
                                          <p:val>
                                            <p:strVal val="#ppt_x"/>
                                          </p:val>
                                        </p:tav>
                                        <p:tav tm="100000">
                                          <p:val>
                                            <p:strVal val="#ppt_x"/>
                                          </p:val>
                                        </p:tav>
                                      </p:tavLst>
                                    </p:anim>
                                    <p:anim calcmode="lin" valueType="num">
                                      <p:cBhvr>
                                        <p:cTn id="29" dur="600" fill="hold"/>
                                        <p:tgtEl>
                                          <p:spTgt spid="8"/>
                                        </p:tgtEl>
                                        <p:attrNameLst>
                                          <p:attrName>ppt_y</p:attrName>
                                        </p:attrNameLst>
                                      </p:cBhvr>
                                      <p:tavLst>
                                        <p:tav tm="0">
                                          <p:val>
                                            <p:strVal val="#ppt_y+.05"/>
                                          </p:val>
                                        </p:tav>
                                        <p:tav tm="100000">
                                          <p:val>
                                            <p:strVal val="#ppt_y"/>
                                          </p:val>
                                        </p:tav>
                                      </p:tavLst>
                                    </p:anim>
                                  </p:childTnLst>
                                </p:cTn>
                              </p:par>
                              <p:par>
                                <p:cTn id="30" presetID="53" presetClass="entr" presetSubtype="16" fill="hold" grpId="0" nodeType="withEffect">
                                  <p:stCondLst>
                                    <p:cond delay="400"/>
                                  </p:stCondLst>
                                  <p:childTnLst>
                                    <p:set>
                                      <p:cBhvr>
                                        <p:cTn id="31" dur="1" fill="hold">
                                          <p:stCondLst>
                                            <p:cond delay="0"/>
                                          </p:stCondLst>
                                        </p:cTn>
                                        <p:tgtEl>
                                          <p:spTgt spid="9"/>
                                        </p:tgtEl>
                                        <p:attrNameLst>
                                          <p:attrName>style.visibility</p:attrName>
                                        </p:attrNameLst>
                                      </p:cBhvr>
                                      <p:to>
                                        <p:strVal val="visible"/>
                                      </p:to>
                                    </p:set>
                                    <p:anim calcmode="lin" valueType="num">
                                      <p:cBhvr>
                                        <p:cTn id="32" dur="500" fill="hold"/>
                                        <p:tgtEl>
                                          <p:spTgt spid="9"/>
                                        </p:tgtEl>
                                        <p:attrNameLst>
                                          <p:attrName>ppt_w</p:attrName>
                                        </p:attrNameLst>
                                      </p:cBhvr>
                                      <p:tavLst>
                                        <p:tav tm="0">
                                          <p:val>
                                            <p:fltVal val="0"/>
                                          </p:val>
                                        </p:tav>
                                        <p:tav tm="100000">
                                          <p:val>
                                            <p:strVal val="#ppt_w"/>
                                          </p:val>
                                        </p:tav>
                                      </p:tavLst>
                                    </p:anim>
                                    <p:anim calcmode="lin" valueType="num">
                                      <p:cBhvr>
                                        <p:cTn id="33" dur="500" fill="hold"/>
                                        <p:tgtEl>
                                          <p:spTgt spid="9"/>
                                        </p:tgtEl>
                                        <p:attrNameLst>
                                          <p:attrName>ppt_h</p:attrName>
                                        </p:attrNameLst>
                                      </p:cBhvr>
                                      <p:tavLst>
                                        <p:tav tm="0">
                                          <p:val>
                                            <p:fltVal val="0"/>
                                          </p:val>
                                        </p:tav>
                                        <p:tav tm="100000">
                                          <p:val>
                                            <p:strVal val="#ppt_h"/>
                                          </p:val>
                                        </p:tav>
                                      </p:tavLst>
                                    </p:anim>
                                    <p:animEffect transition="in" filter="fade">
                                      <p:cBhvr>
                                        <p:cTn id="34" dur="500"/>
                                        <p:tgtEl>
                                          <p:spTgt spid="9"/>
                                        </p:tgtEl>
                                      </p:cBhvr>
                                    </p:animEffect>
                                  </p:childTnLst>
                                </p:cTn>
                              </p:par>
                              <p:par>
                                <p:cTn id="35" presetID="53" presetClass="entr" presetSubtype="16" fill="hold" grpId="0" nodeType="withEffect">
                                  <p:stCondLst>
                                    <p:cond delay="400"/>
                                  </p:stCondLst>
                                  <p:childTnLst>
                                    <p:set>
                                      <p:cBhvr>
                                        <p:cTn id="36" dur="1" fill="hold">
                                          <p:stCondLst>
                                            <p:cond delay="0"/>
                                          </p:stCondLst>
                                        </p:cTn>
                                        <p:tgtEl>
                                          <p:spTgt spid="10"/>
                                        </p:tgtEl>
                                        <p:attrNameLst>
                                          <p:attrName>style.visibility</p:attrName>
                                        </p:attrNameLst>
                                      </p:cBhvr>
                                      <p:to>
                                        <p:strVal val="visible"/>
                                      </p:to>
                                    </p:set>
                                    <p:anim calcmode="lin" valueType="num">
                                      <p:cBhvr>
                                        <p:cTn id="37" dur="500" fill="hold"/>
                                        <p:tgtEl>
                                          <p:spTgt spid="10"/>
                                        </p:tgtEl>
                                        <p:attrNameLst>
                                          <p:attrName>ppt_w</p:attrName>
                                        </p:attrNameLst>
                                      </p:cBhvr>
                                      <p:tavLst>
                                        <p:tav tm="0">
                                          <p:val>
                                            <p:fltVal val="0"/>
                                          </p:val>
                                        </p:tav>
                                        <p:tav tm="100000">
                                          <p:val>
                                            <p:strVal val="#ppt_w"/>
                                          </p:val>
                                        </p:tav>
                                      </p:tavLst>
                                    </p:anim>
                                    <p:anim calcmode="lin" valueType="num">
                                      <p:cBhvr>
                                        <p:cTn id="38" dur="500" fill="hold"/>
                                        <p:tgtEl>
                                          <p:spTgt spid="10"/>
                                        </p:tgtEl>
                                        <p:attrNameLst>
                                          <p:attrName>ppt_h</p:attrName>
                                        </p:attrNameLst>
                                      </p:cBhvr>
                                      <p:tavLst>
                                        <p:tav tm="0">
                                          <p:val>
                                            <p:fltVal val="0"/>
                                          </p:val>
                                        </p:tav>
                                        <p:tav tm="100000">
                                          <p:val>
                                            <p:strVal val="#ppt_h"/>
                                          </p:val>
                                        </p:tav>
                                      </p:tavLst>
                                    </p:anim>
                                    <p:animEffect transition="in" filter="fade">
                                      <p:cBhvr>
                                        <p:cTn id="39" dur="500"/>
                                        <p:tgtEl>
                                          <p:spTgt spid="10"/>
                                        </p:tgtEl>
                                      </p:cBhvr>
                                    </p:animEffect>
                                  </p:childTnLst>
                                </p:cTn>
                              </p:par>
                              <p:par>
                                <p:cTn id="40" presetID="42" presetClass="entr" presetSubtype="0" fill="hold" grpId="0" nodeType="withEffect">
                                  <p:stCondLst>
                                    <p:cond delay="40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600"/>
                                        <p:tgtEl>
                                          <p:spTgt spid="11"/>
                                        </p:tgtEl>
                                      </p:cBhvr>
                                    </p:animEffect>
                                    <p:anim calcmode="lin" valueType="num">
                                      <p:cBhvr>
                                        <p:cTn id="43" dur="600" fill="hold"/>
                                        <p:tgtEl>
                                          <p:spTgt spid="11"/>
                                        </p:tgtEl>
                                        <p:attrNameLst>
                                          <p:attrName>ppt_x</p:attrName>
                                        </p:attrNameLst>
                                      </p:cBhvr>
                                      <p:tavLst>
                                        <p:tav tm="0">
                                          <p:val>
                                            <p:strVal val="#ppt_x"/>
                                          </p:val>
                                        </p:tav>
                                        <p:tav tm="100000">
                                          <p:val>
                                            <p:strVal val="#ppt_x"/>
                                          </p:val>
                                        </p:tav>
                                      </p:tavLst>
                                    </p:anim>
                                    <p:anim calcmode="lin" valueType="num">
                                      <p:cBhvr>
                                        <p:cTn id="44" dur="600" fill="hold"/>
                                        <p:tgtEl>
                                          <p:spTgt spid="11"/>
                                        </p:tgtEl>
                                        <p:attrNameLst>
                                          <p:attrName>ppt_y</p:attrName>
                                        </p:attrNameLst>
                                      </p:cBhvr>
                                      <p:tavLst>
                                        <p:tav tm="0">
                                          <p:val>
                                            <p:strVal val="#ppt_y+.05"/>
                                          </p:val>
                                        </p:tav>
                                        <p:tav tm="100000">
                                          <p:val>
                                            <p:strVal val="#ppt_y"/>
                                          </p:val>
                                        </p:tav>
                                      </p:tavLst>
                                    </p:anim>
                                  </p:childTnLst>
                                </p:cTn>
                              </p:par>
                              <p:par>
                                <p:cTn id="45" presetID="42" presetClass="entr" presetSubtype="0" fill="hold" grpId="0" nodeType="withEffect">
                                  <p:stCondLst>
                                    <p:cond delay="40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600"/>
                                        <p:tgtEl>
                                          <p:spTgt spid="12"/>
                                        </p:tgtEl>
                                      </p:cBhvr>
                                    </p:animEffect>
                                    <p:anim calcmode="lin" valueType="num">
                                      <p:cBhvr>
                                        <p:cTn id="48" dur="600" fill="hold"/>
                                        <p:tgtEl>
                                          <p:spTgt spid="12"/>
                                        </p:tgtEl>
                                        <p:attrNameLst>
                                          <p:attrName>ppt_x</p:attrName>
                                        </p:attrNameLst>
                                      </p:cBhvr>
                                      <p:tavLst>
                                        <p:tav tm="0">
                                          <p:val>
                                            <p:strVal val="#ppt_x"/>
                                          </p:val>
                                        </p:tav>
                                        <p:tav tm="100000">
                                          <p:val>
                                            <p:strVal val="#ppt_x"/>
                                          </p:val>
                                        </p:tav>
                                      </p:tavLst>
                                    </p:anim>
                                    <p:anim calcmode="lin" valueType="num">
                                      <p:cBhvr>
                                        <p:cTn id="49" dur="600" fill="hold"/>
                                        <p:tgtEl>
                                          <p:spTgt spid="12"/>
                                        </p:tgtEl>
                                        <p:attrNameLst>
                                          <p:attrName>ppt_y</p:attrName>
                                        </p:attrNameLst>
                                      </p:cBhvr>
                                      <p:tavLst>
                                        <p:tav tm="0">
                                          <p:val>
                                            <p:strVal val="#ppt_y+.05"/>
                                          </p:val>
                                        </p:tav>
                                        <p:tav tm="100000">
                                          <p:val>
                                            <p:strVal val="#ppt_y"/>
                                          </p:val>
                                        </p:tav>
                                      </p:tavLst>
                                    </p:anim>
                                  </p:childTnLst>
                                </p:cTn>
                              </p:par>
                              <p:par>
                                <p:cTn id="50" presetID="53" presetClass="entr" presetSubtype="16" fill="hold" grpId="0" nodeType="withEffect">
                                  <p:stCondLst>
                                    <p:cond delay="600"/>
                                  </p:stCondLst>
                                  <p:childTnLst>
                                    <p:set>
                                      <p:cBhvr>
                                        <p:cTn id="51" dur="1" fill="hold">
                                          <p:stCondLst>
                                            <p:cond delay="0"/>
                                          </p:stCondLst>
                                        </p:cTn>
                                        <p:tgtEl>
                                          <p:spTgt spid="13"/>
                                        </p:tgtEl>
                                        <p:attrNameLst>
                                          <p:attrName>style.visibility</p:attrName>
                                        </p:attrNameLst>
                                      </p:cBhvr>
                                      <p:to>
                                        <p:strVal val="visible"/>
                                      </p:to>
                                    </p:set>
                                    <p:anim calcmode="lin" valueType="num">
                                      <p:cBhvr>
                                        <p:cTn id="52" dur="500" fill="hold"/>
                                        <p:tgtEl>
                                          <p:spTgt spid="13"/>
                                        </p:tgtEl>
                                        <p:attrNameLst>
                                          <p:attrName>ppt_w</p:attrName>
                                        </p:attrNameLst>
                                      </p:cBhvr>
                                      <p:tavLst>
                                        <p:tav tm="0">
                                          <p:val>
                                            <p:fltVal val="0"/>
                                          </p:val>
                                        </p:tav>
                                        <p:tav tm="100000">
                                          <p:val>
                                            <p:strVal val="#ppt_w"/>
                                          </p:val>
                                        </p:tav>
                                      </p:tavLst>
                                    </p:anim>
                                    <p:anim calcmode="lin" valueType="num">
                                      <p:cBhvr>
                                        <p:cTn id="53" dur="500" fill="hold"/>
                                        <p:tgtEl>
                                          <p:spTgt spid="13"/>
                                        </p:tgtEl>
                                        <p:attrNameLst>
                                          <p:attrName>ppt_h</p:attrName>
                                        </p:attrNameLst>
                                      </p:cBhvr>
                                      <p:tavLst>
                                        <p:tav tm="0">
                                          <p:val>
                                            <p:fltVal val="0"/>
                                          </p:val>
                                        </p:tav>
                                        <p:tav tm="100000">
                                          <p:val>
                                            <p:strVal val="#ppt_h"/>
                                          </p:val>
                                        </p:tav>
                                      </p:tavLst>
                                    </p:anim>
                                    <p:animEffect transition="in" filter="fade">
                                      <p:cBhvr>
                                        <p:cTn id="54" dur="500"/>
                                        <p:tgtEl>
                                          <p:spTgt spid="13"/>
                                        </p:tgtEl>
                                      </p:cBhvr>
                                    </p:animEffect>
                                  </p:childTnLst>
                                </p:cTn>
                              </p:par>
                              <p:par>
                                <p:cTn id="55" presetID="53" presetClass="entr" presetSubtype="16" fill="hold" grpId="0" nodeType="withEffect">
                                  <p:stCondLst>
                                    <p:cond delay="600"/>
                                  </p:stCondLst>
                                  <p:childTnLst>
                                    <p:set>
                                      <p:cBhvr>
                                        <p:cTn id="56" dur="1" fill="hold">
                                          <p:stCondLst>
                                            <p:cond delay="0"/>
                                          </p:stCondLst>
                                        </p:cTn>
                                        <p:tgtEl>
                                          <p:spTgt spid="14"/>
                                        </p:tgtEl>
                                        <p:attrNameLst>
                                          <p:attrName>style.visibility</p:attrName>
                                        </p:attrNameLst>
                                      </p:cBhvr>
                                      <p:to>
                                        <p:strVal val="visible"/>
                                      </p:to>
                                    </p:set>
                                    <p:anim calcmode="lin" valueType="num">
                                      <p:cBhvr>
                                        <p:cTn id="57" dur="500" fill="hold"/>
                                        <p:tgtEl>
                                          <p:spTgt spid="14"/>
                                        </p:tgtEl>
                                        <p:attrNameLst>
                                          <p:attrName>ppt_w</p:attrName>
                                        </p:attrNameLst>
                                      </p:cBhvr>
                                      <p:tavLst>
                                        <p:tav tm="0">
                                          <p:val>
                                            <p:fltVal val="0"/>
                                          </p:val>
                                        </p:tav>
                                        <p:tav tm="100000">
                                          <p:val>
                                            <p:strVal val="#ppt_w"/>
                                          </p:val>
                                        </p:tav>
                                      </p:tavLst>
                                    </p:anim>
                                    <p:anim calcmode="lin" valueType="num">
                                      <p:cBhvr>
                                        <p:cTn id="58" dur="500" fill="hold"/>
                                        <p:tgtEl>
                                          <p:spTgt spid="14"/>
                                        </p:tgtEl>
                                        <p:attrNameLst>
                                          <p:attrName>ppt_h</p:attrName>
                                        </p:attrNameLst>
                                      </p:cBhvr>
                                      <p:tavLst>
                                        <p:tav tm="0">
                                          <p:val>
                                            <p:fltVal val="0"/>
                                          </p:val>
                                        </p:tav>
                                        <p:tav tm="100000">
                                          <p:val>
                                            <p:strVal val="#ppt_h"/>
                                          </p:val>
                                        </p:tav>
                                      </p:tavLst>
                                    </p:anim>
                                    <p:animEffect transition="in" filter="fade">
                                      <p:cBhvr>
                                        <p:cTn id="59" dur="500"/>
                                        <p:tgtEl>
                                          <p:spTgt spid="14"/>
                                        </p:tgtEl>
                                      </p:cBhvr>
                                    </p:animEffect>
                                  </p:childTnLst>
                                </p:cTn>
                              </p:par>
                              <p:par>
                                <p:cTn id="60" presetID="42" presetClass="entr" presetSubtype="0" fill="hold" grpId="0" nodeType="withEffect">
                                  <p:stCondLst>
                                    <p:cond delay="60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600"/>
                                        <p:tgtEl>
                                          <p:spTgt spid="15"/>
                                        </p:tgtEl>
                                      </p:cBhvr>
                                    </p:animEffect>
                                    <p:anim calcmode="lin" valueType="num">
                                      <p:cBhvr>
                                        <p:cTn id="63" dur="600" fill="hold"/>
                                        <p:tgtEl>
                                          <p:spTgt spid="15"/>
                                        </p:tgtEl>
                                        <p:attrNameLst>
                                          <p:attrName>ppt_x</p:attrName>
                                        </p:attrNameLst>
                                      </p:cBhvr>
                                      <p:tavLst>
                                        <p:tav tm="0">
                                          <p:val>
                                            <p:strVal val="#ppt_x"/>
                                          </p:val>
                                        </p:tav>
                                        <p:tav tm="100000">
                                          <p:val>
                                            <p:strVal val="#ppt_x"/>
                                          </p:val>
                                        </p:tav>
                                      </p:tavLst>
                                    </p:anim>
                                    <p:anim calcmode="lin" valueType="num">
                                      <p:cBhvr>
                                        <p:cTn id="64" dur="600" fill="hold"/>
                                        <p:tgtEl>
                                          <p:spTgt spid="15"/>
                                        </p:tgtEl>
                                        <p:attrNameLst>
                                          <p:attrName>ppt_y</p:attrName>
                                        </p:attrNameLst>
                                      </p:cBhvr>
                                      <p:tavLst>
                                        <p:tav tm="0">
                                          <p:val>
                                            <p:strVal val="#ppt_y+.05"/>
                                          </p:val>
                                        </p:tav>
                                        <p:tav tm="100000">
                                          <p:val>
                                            <p:strVal val="#ppt_y"/>
                                          </p:val>
                                        </p:tav>
                                      </p:tavLst>
                                    </p:anim>
                                  </p:childTnLst>
                                </p:cTn>
                              </p:par>
                              <p:par>
                                <p:cTn id="65" presetID="42" presetClass="entr" presetSubtype="0" fill="hold" grpId="0" nodeType="withEffect">
                                  <p:stCondLst>
                                    <p:cond delay="60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600"/>
                                        <p:tgtEl>
                                          <p:spTgt spid="16"/>
                                        </p:tgtEl>
                                      </p:cBhvr>
                                    </p:animEffect>
                                    <p:anim calcmode="lin" valueType="num">
                                      <p:cBhvr>
                                        <p:cTn id="68" dur="600" fill="hold"/>
                                        <p:tgtEl>
                                          <p:spTgt spid="16"/>
                                        </p:tgtEl>
                                        <p:attrNameLst>
                                          <p:attrName>ppt_x</p:attrName>
                                        </p:attrNameLst>
                                      </p:cBhvr>
                                      <p:tavLst>
                                        <p:tav tm="0">
                                          <p:val>
                                            <p:strVal val="#ppt_x"/>
                                          </p:val>
                                        </p:tav>
                                        <p:tav tm="100000">
                                          <p:val>
                                            <p:strVal val="#ppt_x"/>
                                          </p:val>
                                        </p:tav>
                                      </p:tavLst>
                                    </p:anim>
                                    <p:anim calcmode="lin" valueType="num">
                                      <p:cBhvr>
                                        <p:cTn id="69" dur="600" fill="hold"/>
                                        <p:tgtEl>
                                          <p:spTgt spid="16"/>
                                        </p:tgtEl>
                                        <p:attrNameLst>
                                          <p:attrName>ppt_y</p:attrName>
                                        </p:attrNameLst>
                                      </p:cBhvr>
                                      <p:tavLst>
                                        <p:tav tm="0">
                                          <p:val>
                                            <p:strVal val="#ppt_y+.05"/>
                                          </p:val>
                                        </p:tav>
                                        <p:tav tm="100000">
                                          <p:val>
                                            <p:strVal val="#ppt_y"/>
                                          </p:val>
                                        </p:tav>
                                      </p:tavLst>
                                    </p:anim>
                                  </p:childTnLst>
                                </p:cTn>
                              </p:par>
                              <p:par>
                                <p:cTn id="70" presetID="53" presetClass="entr" presetSubtype="16" fill="hold" grpId="0" nodeType="withEffect">
                                  <p:stCondLst>
                                    <p:cond delay="800"/>
                                  </p:stCondLst>
                                  <p:childTnLst>
                                    <p:set>
                                      <p:cBhvr>
                                        <p:cTn id="71" dur="1" fill="hold">
                                          <p:stCondLst>
                                            <p:cond delay="0"/>
                                          </p:stCondLst>
                                        </p:cTn>
                                        <p:tgtEl>
                                          <p:spTgt spid="17"/>
                                        </p:tgtEl>
                                        <p:attrNameLst>
                                          <p:attrName>style.visibility</p:attrName>
                                        </p:attrNameLst>
                                      </p:cBhvr>
                                      <p:to>
                                        <p:strVal val="visible"/>
                                      </p:to>
                                    </p:set>
                                    <p:anim calcmode="lin" valueType="num">
                                      <p:cBhvr>
                                        <p:cTn id="72" dur="500" fill="hold"/>
                                        <p:tgtEl>
                                          <p:spTgt spid="17"/>
                                        </p:tgtEl>
                                        <p:attrNameLst>
                                          <p:attrName>ppt_w</p:attrName>
                                        </p:attrNameLst>
                                      </p:cBhvr>
                                      <p:tavLst>
                                        <p:tav tm="0">
                                          <p:val>
                                            <p:fltVal val="0"/>
                                          </p:val>
                                        </p:tav>
                                        <p:tav tm="100000">
                                          <p:val>
                                            <p:strVal val="#ppt_w"/>
                                          </p:val>
                                        </p:tav>
                                      </p:tavLst>
                                    </p:anim>
                                    <p:anim calcmode="lin" valueType="num">
                                      <p:cBhvr>
                                        <p:cTn id="73" dur="500" fill="hold"/>
                                        <p:tgtEl>
                                          <p:spTgt spid="17"/>
                                        </p:tgtEl>
                                        <p:attrNameLst>
                                          <p:attrName>ppt_h</p:attrName>
                                        </p:attrNameLst>
                                      </p:cBhvr>
                                      <p:tavLst>
                                        <p:tav tm="0">
                                          <p:val>
                                            <p:fltVal val="0"/>
                                          </p:val>
                                        </p:tav>
                                        <p:tav tm="100000">
                                          <p:val>
                                            <p:strVal val="#ppt_h"/>
                                          </p:val>
                                        </p:tav>
                                      </p:tavLst>
                                    </p:anim>
                                    <p:animEffect transition="in" filter="fade">
                                      <p:cBhvr>
                                        <p:cTn id="74" dur="500"/>
                                        <p:tgtEl>
                                          <p:spTgt spid="17"/>
                                        </p:tgtEl>
                                      </p:cBhvr>
                                    </p:animEffect>
                                  </p:childTnLst>
                                </p:cTn>
                              </p:par>
                              <p:par>
                                <p:cTn id="75" presetID="53" presetClass="entr" presetSubtype="16" fill="hold" grpId="0" nodeType="withEffect">
                                  <p:stCondLst>
                                    <p:cond delay="800"/>
                                  </p:stCondLst>
                                  <p:childTnLst>
                                    <p:set>
                                      <p:cBhvr>
                                        <p:cTn id="76" dur="1" fill="hold">
                                          <p:stCondLst>
                                            <p:cond delay="0"/>
                                          </p:stCondLst>
                                        </p:cTn>
                                        <p:tgtEl>
                                          <p:spTgt spid="18"/>
                                        </p:tgtEl>
                                        <p:attrNameLst>
                                          <p:attrName>style.visibility</p:attrName>
                                        </p:attrNameLst>
                                      </p:cBhvr>
                                      <p:to>
                                        <p:strVal val="visible"/>
                                      </p:to>
                                    </p:set>
                                    <p:anim calcmode="lin" valueType="num">
                                      <p:cBhvr>
                                        <p:cTn id="77" dur="500" fill="hold"/>
                                        <p:tgtEl>
                                          <p:spTgt spid="18"/>
                                        </p:tgtEl>
                                        <p:attrNameLst>
                                          <p:attrName>ppt_w</p:attrName>
                                        </p:attrNameLst>
                                      </p:cBhvr>
                                      <p:tavLst>
                                        <p:tav tm="0">
                                          <p:val>
                                            <p:fltVal val="0"/>
                                          </p:val>
                                        </p:tav>
                                        <p:tav tm="100000">
                                          <p:val>
                                            <p:strVal val="#ppt_w"/>
                                          </p:val>
                                        </p:tav>
                                      </p:tavLst>
                                    </p:anim>
                                    <p:anim calcmode="lin" valueType="num">
                                      <p:cBhvr>
                                        <p:cTn id="78" dur="500" fill="hold"/>
                                        <p:tgtEl>
                                          <p:spTgt spid="18"/>
                                        </p:tgtEl>
                                        <p:attrNameLst>
                                          <p:attrName>ppt_h</p:attrName>
                                        </p:attrNameLst>
                                      </p:cBhvr>
                                      <p:tavLst>
                                        <p:tav tm="0">
                                          <p:val>
                                            <p:fltVal val="0"/>
                                          </p:val>
                                        </p:tav>
                                        <p:tav tm="100000">
                                          <p:val>
                                            <p:strVal val="#ppt_h"/>
                                          </p:val>
                                        </p:tav>
                                      </p:tavLst>
                                    </p:anim>
                                    <p:animEffect transition="in" filter="fade">
                                      <p:cBhvr>
                                        <p:cTn id="79" dur="500"/>
                                        <p:tgtEl>
                                          <p:spTgt spid="18"/>
                                        </p:tgtEl>
                                      </p:cBhvr>
                                    </p:animEffect>
                                  </p:childTnLst>
                                </p:cTn>
                              </p:par>
                              <p:par>
                                <p:cTn id="80" presetID="42" presetClass="entr" presetSubtype="0" fill="hold" grpId="0" nodeType="withEffect">
                                  <p:stCondLst>
                                    <p:cond delay="80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600"/>
                                        <p:tgtEl>
                                          <p:spTgt spid="19"/>
                                        </p:tgtEl>
                                      </p:cBhvr>
                                    </p:animEffect>
                                    <p:anim calcmode="lin" valueType="num">
                                      <p:cBhvr>
                                        <p:cTn id="83" dur="600" fill="hold"/>
                                        <p:tgtEl>
                                          <p:spTgt spid="19"/>
                                        </p:tgtEl>
                                        <p:attrNameLst>
                                          <p:attrName>ppt_x</p:attrName>
                                        </p:attrNameLst>
                                      </p:cBhvr>
                                      <p:tavLst>
                                        <p:tav tm="0">
                                          <p:val>
                                            <p:strVal val="#ppt_x"/>
                                          </p:val>
                                        </p:tav>
                                        <p:tav tm="100000">
                                          <p:val>
                                            <p:strVal val="#ppt_x"/>
                                          </p:val>
                                        </p:tav>
                                      </p:tavLst>
                                    </p:anim>
                                    <p:anim calcmode="lin" valueType="num">
                                      <p:cBhvr>
                                        <p:cTn id="84" dur="600" fill="hold"/>
                                        <p:tgtEl>
                                          <p:spTgt spid="19"/>
                                        </p:tgtEl>
                                        <p:attrNameLst>
                                          <p:attrName>ppt_y</p:attrName>
                                        </p:attrNameLst>
                                      </p:cBhvr>
                                      <p:tavLst>
                                        <p:tav tm="0">
                                          <p:val>
                                            <p:strVal val="#ppt_y+.05"/>
                                          </p:val>
                                        </p:tav>
                                        <p:tav tm="100000">
                                          <p:val>
                                            <p:strVal val="#ppt_y"/>
                                          </p:val>
                                        </p:tav>
                                      </p:tavLst>
                                    </p:anim>
                                  </p:childTnLst>
                                </p:cTn>
                              </p:par>
                              <p:par>
                                <p:cTn id="85" presetID="42" presetClass="entr" presetSubtype="0" fill="hold" grpId="0" nodeType="withEffect">
                                  <p:stCondLst>
                                    <p:cond delay="80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600"/>
                                        <p:tgtEl>
                                          <p:spTgt spid="20"/>
                                        </p:tgtEl>
                                      </p:cBhvr>
                                    </p:animEffect>
                                    <p:anim calcmode="lin" valueType="num">
                                      <p:cBhvr>
                                        <p:cTn id="88" dur="600" fill="hold"/>
                                        <p:tgtEl>
                                          <p:spTgt spid="20"/>
                                        </p:tgtEl>
                                        <p:attrNameLst>
                                          <p:attrName>ppt_x</p:attrName>
                                        </p:attrNameLst>
                                      </p:cBhvr>
                                      <p:tavLst>
                                        <p:tav tm="0">
                                          <p:val>
                                            <p:strVal val="#ppt_x"/>
                                          </p:val>
                                        </p:tav>
                                        <p:tav tm="100000">
                                          <p:val>
                                            <p:strVal val="#ppt_x"/>
                                          </p:val>
                                        </p:tav>
                                      </p:tavLst>
                                    </p:anim>
                                    <p:anim calcmode="lin" valueType="num">
                                      <p:cBhvr>
                                        <p:cTn id="89" dur="600" fill="hold"/>
                                        <p:tgtEl>
                                          <p:spTgt spid="20"/>
                                        </p:tgtEl>
                                        <p:attrNameLst>
                                          <p:attrName>ppt_y</p:attrName>
                                        </p:attrNameLst>
                                      </p:cBhvr>
                                      <p:tavLst>
                                        <p:tav tm="0">
                                          <p:val>
                                            <p:strVal val="#ppt_y+.05"/>
                                          </p:val>
                                        </p:tav>
                                        <p:tav tm="100000">
                                          <p:val>
                                            <p:strVal val="#ppt_y"/>
                                          </p:val>
                                        </p:tav>
                                      </p:tavLst>
                                    </p:anim>
                                  </p:childTnLst>
                                </p:cTn>
                              </p:par>
                              <p:par>
                                <p:cTn id="90" presetID="53" presetClass="entr" presetSubtype="16" fill="hold" grpId="0" nodeType="withEffect">
                                  <p:stCondLst>
                                    <p:cond delay="1000"/>
                                  </p:stCondLst>
                                  <p:childTnLst>
                                    <p:set>
                                      <p:cBhvr>
                                        <p:cTn id="91" dur="1" fill="hold">
                                          <p:stCondLst>
                                            <p:cond delay="0"/>
                                          </p:stCondLst>
                                        </p:cTn>
                                        <p:tgtEl>
                                          <p:spTgt spid="21"/>
                                        </p:tgtEl>
                                        <p:attrNameLst>
                                          <p:attrName>style.visibility</p:attrName>
                                        </p:attrNameLst>
                                      </p:cBhvr>
                                      <p:to>
                                        <p:strVal val="visible"/>
                                      </p:to>
                                    </p:set>
                                    <p:anim calcmode="lin" valueType="num">
                                      <p:cBhvr>
                                        <p:cTn id="92" dur="500" fill="hold"/>
                                        <p:tgtEl>
                                          <p:spTgt spid="21"/>
                                        </p:tgtEl>
                                        <p:attrNameLst>
                                          <p:attrName>ppt_w</p:attrName>
                                        </p:attrNameLst>
                                      </p:cBhvr>
                                      <p:tavLst>
                                        <p:tav tm="0">
                                          <p:val>
                                            <p:fltVal val="0"/>
                                          </p:val>
                                        </p:tav>
                                        <p:tav tm="100000">
                                          <p:val>
                                            <p:strVal val="#ppt_w"/>
                                          </p:val>
                                        </p:tav>
                                      </p:tavLst>
                                    </p:anim>
                                    <p:anim calcmode="lin" valueType="num">
                                      <p:cBhvr>
                                        <p:cTn id="93" dur="500" fill="hold"/>
                                        <p:tgtEl>
                                          <p:spTgt spid="21"/>
                                        </p:tgtEl>
                                        <p:attrNameLst>
                                          <p:attrName>ppt_h</p:attrName>
                                        </p:attrNameLst>
                                      </p:cBhvr>
                                      <p:tavLst>
                                        <p:tav tm="0">
                                          <p:val>
                                            <p:fltVal val="0"/>
                                          </p:val>
                                        </p:tav>
                                        <p:tav tm="100000">
                                          <p:val>
                                            <p:strVal val="#ppt_h"/>
                                          </p:val>
                                        </p:tav>
                                      </p:tavLst>
                                    </p:anim>
                                    <p:animEffect transition="in" filter="fade">
                                      <p:cBhvr>
                                        <p:cTn id="94" dur="500"/>
                                        <p:tgtEl>
                                          <p:spTgt spid="21"/>
                                        </p:tgtEl>
                                      </p:cBhvr>
                                    </p:animEffect>
                                  </p:childTnLst>
                                </p:cTn>
                              </p:par>
                              <p:par>
                                <p:cTn id="95" presetID="53" presetClass="entr" presetSubtype="16" fill="hold" grpId="0" nodeType="withEffect">
                                  <p:stCondLst>
                                    <p:cond delay="1000"/>
                                  </p:stCondLst>
                                  <p:childTnLst>
                                    <p:set>
                                      <p:cBhvr>
                                        <p:cTn id="96" dur="1" fill="hold">
                                          <p:stCondLst>
                                            <p:cond delay="0"/>
                                          </p:stCondLst>
                                        </p:cTn>
                                        <p:tgtEl>
                                          <p:spTgt spid="22"/>
                                        </p:tgtEl>
                                        <p:attrNameLst>
                                          <p:attrName>style.visibility</p:attrName>
                                        </p:attrNameLst>
                                      </p:cBhvr>
                                      <p:to>
                                        <p:strVal val="visible"/>
                                      </p:to>
                                    </p:set>
                                    <p:anim calcmode="lin" valueType="num">
                                      <p:cBhvr>
                                        <p:cTn id="97" dur="500" fill="hold"/>
                                        <p:tgtEl>
                                          <p:spTgt spid="22"/>
                                        </p:tgtEl>
                                        <p:attrNameLst>
                                          <p:attrName>ppt_w</p:attrName>
                                        </p:attrNameLst>
                                      </p:cBhvr>
                                      <p:tavLst>
                                        <p:tav tm="0">
                                          <p:val>
                                            <p:fltVal val="0"/>
                                          </p:val>
                                        </p:tav>
                                        <p:tav tm="100000">
                                          <p:val>
                                            <p:strVal val="#ppt_w"/>
                                          </p:val>
                                        </p:tav>
                                      </p:tavLst>
                                    </p:anim>
                                    <p:anim calcmode="lin" valueType="num">
                                      <p:cBhvr>
                                        <p:cTn id="98" dur="500" fill="hold"/>
                                        <p:tgtEl>
                                          <p:spTgt spid="22"/>
                                        </p:tgtEl>
                                        <p:attrNameLst>
                                          <p:attrName>ppt_h</p:attrName>
                                        </p:attrNameLst>
                                      </p:cBhvr>
                                      <p:tavLst>
                                        <p:tav tm="0">
                                          <p:val>
                                            <p:fltVal val="0"/>
                                          </p:val>
                                        </p:tav>
                                        <p:tav tm="100000">
                                          <p:val>
                                            <p:strVal val="#ppt_h"/>
                                          </p:val>
                                        </p:tav>
                                      </p:tavLst>
                                    </p:anim>
                                    <p:animEffect transition="in" filter="fade">
                                      <p:cBhvr>
                                        <p:cTn id="99" dur="500"/>
                                        <p:tgtEl>
                                          <p:spTgt spid="22"/>
                                        </p:tgtEl>
                                      </p:cBhvr>
                                    </p:animEffect>
                                  </p:childTnLst>
                                </p:cTn>
                              </p:par>
                              <p:par>
                                <p:cTn id="100" presetID="42" presetClass="entr" presetSubtype="0" fill="hold" grpId="0" nodeType="withEffect">
                                  <p:stCondLst>
                                    <p:cond delay="100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600"/>
                                        <p:tgtEl>
                                          <p:spTgt spid="23"/>
                                        </p:tgtEl>
                                      </p:cBhvr>
                                    </p:animEffect>
                                    <p:anim calcmode="lin" valueType="num">
                                      <p:cBhvr>
                                        <p:cTn id="103" dur="600" fill="hold"/>
                                        <p:tgtEl>
                                          <p:spTgt spid="23"/>
                                        </p:tgtEl>
                                        <p:attrNameLst>
                                          <p:attrName>ppt_x</p:attrName>
                                        </p:attrNameLst>
                                      </p:cBhvr>
                                      <p:tavLst>
                                        <p:tav tm="0">
                                          <p:val>
                                            <p:strVal val="#ppt_x"/>
                                          </p:val>
                                        </p:tav>
                                        <p:tav tm="100000">
                                          <p:val>
                                            <p:strVal val="#ppt_x"/>
                                          </p:val>
                                        </p:tav>
                                      </p:tavLst>
                                    </p:anim>
                                    <p:anim calcmode="lin" valueType="num">
                                      <p:cBhvr>
                                        <p:cTn id="104" dur="600" fill="hold"/>
                                        <p:tgtEl>
                                          <p:spTgt spid="23"/>
                                        </p:tgtEl>
                                        <p:attrNameLst>
                                          <p:attrName>ppt_y</p:attrName>
                                        </p:attrNameLst>
                                      </p:cBhvr>
                                      <p:tavLst>
                                        <p:tav tm="0">
                                          <p:val>
                                            <p:strVal val="#ppt_y+.05"/>
                                          </p:val>
                                        </p:tav>
                                        <p:tav tm="100000">
                                          <p:val>
                                            <p:strVal val="#ppt_y"/>
                                          </p:val>
                                        </p:tav>
                                      </p:tavLst>
                                    </p:anim>
                                  </p:childTnLst>
                                </p:cTn>
                              </p:par>
                              <p:par>
                                <p:cTn id="105" presetID="42" presetClass="entr" presetSubtype="0" fill="hold" grpId="0" nodeType="withEffect">
                                  <p:stCondLst>
                                    <p:cond delay="100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600"/>
                                        <p:tgtEl>
                                          <p:spTgt spid="24"/>
                                        </p:tgtEl>
                                      </p:cBhvr>
                                    </p:animEffect>
                                    <p:anim calcmode="lin" valueType="num">
                                      <p:cBhvr>
                                        <p:cTn id="108" dur="600" fill="hold"/>
                                        <p:tgtEl>
                                          <p:spTgt spid="24"/>
                                        </p:tgtEl>
                                        <p:attrNameLst>
                                          <p:attrName>ppt_x</p:attrName>
                                        </p:attrNameLst>
                                      </p:cBhvr>
                                      <p:tavLst>
                                        <p:tav tm="0">
                                          <p:val>
                                            <p:strVal val="#ppt_x"/>
                                          </p:val>
                                        </p:tav>
                                        <p:tav tm="100000">
                                          <p:val>
                                            <p:strVal val="#ppt_x"/>
                                          </p:val>
                                        </p:tav>
                                      </p:tavLst>
                                    </p:anim>
                                    <p:anim calcmode="lin" valueType="num">
                                      <p:cBhvr>
                                        <p:cTn id="109" dur="600" fill="hold"/>
                                        <p:tgtEl>
                                          <p:spTgt spid="24"/>
                                        </p:tgtEl>
                                        <p:attrNameLst>
                                          <p:attrName>ppt_y</p:attrName>
                                        </p:attrNameLst>
                                      </p:cBhvr>
                                      <p:tavLst>
                                        <p:tav tm="0">
                                          <p:val>
                                            <p:strVal val="#ppt_y+.05"/>
                                          </p:val>
                                        </p:tav>
                                        <p:tav tm="100000">
                                          <p:val>
                                            <p:strVal val="#ppt_y"/>
                                          </p:val>
                                        </p:tav>
                                      </p:tavLst>
                                    </p:anim>
                                  </p:childTnLst>
                                </p:cTn>
                              </p:par>
                              <p:par>
                                <p:cTn id="110" presetID="53" presetClass="entr" presetSubtype="16" fill="hold" grpId="0" nodeType="withEffect">
                                  <p:stCondLst>
                                    <p:cond delay="1200"/>
                                  </p:stCondLst>
                                  <p:childTnLst>
                                    <p:set>
                                      <p:cBhvr>
                                        <p:cTn id="111" dur="1" fill="hold">
                                          <p:stCondLst>
                                            <p:cond delay="0"/>
                                          </p:stCondLst>
                                        </p:cTn>
                                        <p:tgtEl>
                                          <p:spTgt spid="25"/>
                                        </p:tgtEl>
                                        <p:attrNameLst>
                                          <p:attrName>style.visibility</p:attrName>
                                        </p:attrNameLst>
                                      </p:cBhvr>
                                      <p:to>
                                        <p:strVal val="visible"/>
                                      </p:to>
                                    </p:set>
                                    <p:anim calcmode="lin" valueType="num">
                                      <p:cBhvr>
                                        <p:cTn id="112" dur="500" fill="hold"/>
                                        <p:tgtEl>
                                          <p:spTgt spid="25"/>
                                        </p:tgtEl>
                                        <p:attrNameLst>
                                          <p:attrName>ppt_w</p:attrName>
                                        </p:attrNameLst>
                                      </p:cBhvr>
                                      <p:tavLst>
                                        <p:tav tm="0">
                                          <p:val>
                                            <p:fltVal val="0"/>
                                          </p:val>
                                        </p:tav>
                                        <p:tav tm="100000">
                                          <p:val>
                                            <p:strVal val="#ppt_w"/>
                                          </p:val>
                                        </p:tav>
                                      </p:tavLst>
                                    </p:anim>
                                    <p:anim calcmode="lin" valueType="num">
                                      <p:cBhvr>
                                        <p:cTn id="113" dur="500" fill="hold"/>
                                        <p:tgtEl>
                                          <p:spTgt spid="25"/>
                                        </p:tgtEl>
                                        <p:attrNameLst>
                                          <p:attrName>ppt_h</p:attrName>
                                        </p:attrNameLst>
                                      </p:cBhvr>
                                      <p:tavLst>
                                        <p:tav tm="0">
                                          <p:val>
                                            <p:fltVal val="0"/>
                                          </p:val>
                                        </p:tav>
                                        <p:tav tm="100000">
                                          <p:val>
                                            <p:strVal val="#ppt_h"/>
                                          </p:val>
                                        </p:tav>
                                      </p:tavLst>
                                    </p:anim>
                                    <p:animEffect transition="in" filter="fade">
                                      <p:cBhvr>
                                        <p:cTn id="114" dur="500"/>
                                        <p:tgtEl>
                                          <p:spTgt spid="25"/>
                                        </p:tgtEl>
                                      </p:cBhvr>
                                    </p:animEffect>
                                  </p:childTnLst>
                                </p:cTn>
                              </p:par>
                              <p:par>
                                <p:cTn id="115" presetID="53" presetClass="entr" presetSubtype="16" fill="hold" grpId="0" nodeType="withEffect">
                                  <p:stCondLst>
                                    <p:cond delay="1200"/>
                                  </p:stCondLst>
                                  <p:childTnLst>
                                    <p:set>
                                      <p:cBhvr>
                                        <p:cTn id="116" dur="1" fill="hold">
                                          <p:stCondLst>
                                            <p:cond delay="0"/>
                                          </p:stCondLst>
                                        </p:cTn>
                                        <p:tgtEl>
                                          <p:spTgt spid="26"/>
                                        </p:tgtEl>
                                        <p:attrNameLst>
                                          <p:attrName>style.visibility</p:attrName>
                                        </p:attrNameLst>
                                      </p:cBhvr>
                                      <p:to>
                                        <p:strVal val="visible"/>
                                      </p:to>
                                    </p:set>
                                    <p:anim calcmode="lin" valueType="num">
                                      <p:cBhvr>
                                        <p:cTn id="117" dur="500" fill="hold"/>
                                        <p:tgtEl>
                                          <p:spTgt spid="26"/>
                                        </p:tgtEl>
                                        <p:attrNameLst>
                                          <p:attrName>ppt_w</p:attrName>
                                        </p:attrNameLst>
                                      </p:cBhvr>
                                      <p:tavLst>
                                        <p:tav tm="0">
                                          <p:val>
                                            <p:fltVal val="0"/>
                                          </p:val>
                                        </p:tav>
                                        <p:tav tm="100000">
                                          <p:val>
                                            <p:strVal val="#ppt_w"/>
                                          </p:val>
                                        </p:tav>
                                      </p:tavLst>
                                    </p:anim>
                                    <p:anim calcmode="lin" valueType="num">
                                      <p:cBhvr>
                                        <p:cTn id="118" dur="500" fill="hold"/>
                                        <p:tgtEl>
                                          <p:spTgt spid="26"/>
                                        </p:tgtEl>
                                        <p:attrNameLst>
                                          <p:attrName>ppt_h</p:attrName>
                                        </p:attrNameLst>
                                      </p:cBhvr>
                                      <p:tavLst>
                                        <p:tav tm="0">
                                          <p:val>
                                            <p:fltVal val="0"/>
                                          </p:val>
                                        </p:tav>
                                        <p:tav tm="100000">
                                          <p:val>
                                            <p:strVal val="#ppt_h"/>
                                          </p:val>
                                        </p:tav>
                                      </p:tavLst>
                                    </p:anim>
                                    <p:animEffect transition="in" filter="fade">
                                      <p:cBhvr>
                                        <p:cTn id="119" dur="500"/>
                                        <p:tgtEl>
                                          <p:spTgt spid="26"/>
                                        </p:tgtEl>
                                      </p:cBhvr>
                                    </p:animEffect>
                                  </p:childTnLst>
                                </p:cTn>
                              </p:par>
                              <p:par>
                                <p:cTn id="120" presetID="42" presetClass="entr" presetSubtype="0" fill="hold" grpId="0" nodeType="withEffect">
                                  <p:stCondLst>
                                    <p:cond delay="120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600"/>
                                        <p:tgtEl>
                                          <p:spTgt spid="27"/>
                                        </p:tgtEl>
                                      </p:cBhvr>
                                    </p:animEffect>
                                    <p:anim calcmode="lin" valueType="num">
                                      <p:cBhvr>
                                        <p:cTn id="123" dur="600" fill="hold"/>
                                        <p:tgtEl>
                                          <p:spTgt spid="27"/>
                                        </p:tgtEl>
                                        <p:attrNameLst>
                                          <p:attrName>ppt_x</p:attrName>
                                        </p:attrNameLst>
                                      </p:cBhvr>
                                      <p:tavLst>
                                        <p:tav tm="0">
                                          <p:val>
                                            <p:strVal val="#ppt_x"/>
                                          </p:val>
                                        </p:tav>
                                        <p:tav tm="100000">
                                          <p:val>
                                            <p:strVal val="#ppt_x"/>
                                          </p:val>
                                        </p:tav>
                                      </p:tavLst>
                                    </p:anim>
                                    <p:anim calcmode="lin" valueType="num">
                                      <p:cBhvr>
                                        <p:cTn id="124" dur="600" fill="hold"/>
                                        <p:tgtEl>
                                          <p:spTgt spid="27"/>
                                        </p:tgtEl>
                                        <p:attrNameLst>
                                          <p:attrName>ppt_y</p:attrName>
                                        </p:attrNameLst>
                                      </p:cBhvr>
                                      <p:tavLst>
                                        <p:tav tm="0">
                                          <p:val>
                                            <p:strVal val="#ppt_y+.05"/>
                                          </p:val>
                                        </p:tav>
                                        <p:tav tm="100000">
                                          <p:val>
                                            <p:strVal val="#ppt_y"/>
                                          </p:val>
                                        </p:tav>
                                      </p:tavLst>
                                    </p:anim>
                                  </p:childTnLst>
                                </p:cTn>
                              </p:par>
                              <p:par>
                                <p:cTn id="125" presetID="42" presetClass="entr" presetSubtype="0" fill="hold" grpId="0" nodeType="withEffect">
                                  <p:stCondLst>
                                    <p:cond delay="120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600"/>
                                        <p:tgtEl>
                                          <p:spTgt spid="28"/>
                                        </p:tgtEl>
                                      </p:cBhvr>
                                    </p:animEffect>
                                    <p:anim calcmode="lin" valueType="num">
                                      <p:cBhvr>
                                        <p:cTn id="128" dur="600" fill="hold"/>
                                        <p:tgtEl>
                                          <p:spTgt spid="28"/>
                                        </p:tgtEl>
                                        <p:attrNameLst>
                                          <p:attrName>ppt_x</p:attrName>
                                        </p:attrNameLst>
                                      </p:cBhvr>
                                      <p:tavLst>
                                        <p:tav tm="0">
                                          <p:val>
                                            <p:strVal val="#ppt_x"/>
                                          </p:val>
                                        </p:tav>
                                        <p:tav tm="100000">
                                          <p:val>
                                            <p:strVal val="#ppt_x"/>
                                          </p:val>
                                        </p:tav>
                                      </p:tavLst>
                                    </p:anim>
                                    <p:anim calcmode="lin" valueType="num">
                                      <p:cBhvr>
                                        <p:cTn id="129" dur="600" fill="hold"/>
                                        <p:tgtEl>
                                          <p:spTgt spid="28"/>
                                        </p:tgtEl>
                                        <p:attrNameLst>
                                          <p:attrName>ppt_y</p:attrName>
                                        </p:attrNameLst>
                                      </p:cBhvr>
                                      <p:tavLst>
                                        <p:tav tm="0">
                                          <p:val>
                                            <p:strVal val="#ppt_y+.05"/>
                                          </p:val>
                                        </p:tav>
                                        <p:tav tm="100000">
                                          <p:val>
                                            <p:strVal val="#ppt_y"/>
                                          </p:val>
                                        </p:tav>
                                      </p:tavLst>
                                    </p:anim>
                                  </p:childTnLst>
                                </p:cTn>
                              </p:par>
                            </p:childTnLst>
                          </p:cTn>
                        </p:par>
                      </p:childTnLst>
                    </p:cTn>
                  </p:par>
                  <p:par>
                    <p:cTn id="130" fill="hold">
                      <p:stCondLst>
                        <p:cond delay="indefinite"/>
                      </p:stCondLst>
                      <p:childTnLst>
                        <p:par>
                          <p:cTn id="131" fill="hold">
                            <p:stCondLst>
                              <p:cond delay="0"/>
                            </p:stCondLst>
                            <p:childTnLst>
                              <p:par>
                                <p:cTn id="132" presetID="42" presetClass="entr" presetSubtype="0" fill="hold" grpId="0" nodeType="clickEffect">
                                  <p:stCondLst>
                                    <p:cond delay="0"/>
                                  </p:stCondLst>
                                  <p:childTnLst>
                                    <p:set>
                                      <p:cBhvr>
                                        <p:cTn id="133" dur="1" fill="hold">
                                          <p:stCondLst>
                                            <p:cond delay="0"/>
                                          </p:stCondLst>
                                        </p:cTn>
                                        <p:tgtEl>
                                          <p:spTgt spid="29"/>
                                        </p:tgtEl>
                                        <p:attrNameLst>
                                          <p:attrName>style.visibility</p:attrName>
                                        </p:attrNameLst>
                                      </p:cBhvr>
                                      <p:to>
                                        <p:strVal val="visible"/>
                                      </p:to>
                                    </p:set>
                                    <p:animEffect transition="in" filter="fade">
                                      <p:cBhvr>
                                        <p:cTn id="134" dur="600"/>
                                        <p:tgtEl>
                                          <p:spTgt spid="29"/>
                                        </p:tgtEl>
                                      </p:cBhvr>
                                    </p:animEffect>
                                    <p:anim calcmode="lin" valueType="num">
                                      <p:cBhvr>
                                        <p:cTn id="135" dur="600" fill="hold"/>
                                        <p:tgtEl>
                                          <p:spTgt spid="29"/>
                                        </p:tgtEl>
                                        <p:attrNameLst>
                                          <p:attrName>ppt_x</p:attrName>
                                        </p:attrNameLst>
                                      </p:cBhvr>
                                      <p:tavLst>
                                        <p:tav tm="0">
                                          <p:val>
                                            <p:strVal val="#ppt_x"/>
                                          </p:val>
                                        </p:tav>
                                        <p:tav tm="100000">
                                          <p:val>
                                            <p:strVal val="#ppt_x"/>
                                          </p:val>
                                        </p:tav>
                                      </p:tavLst>
                                    </p:anim>
                                    <p:anim calcmode="lin" valueType="num">
                                      <p:cBhvr>
                                        <p:cTn id="136" dur="600" fill="hold"/>
                                        <p:tgtEl>
                                          <p:spTgt spid="29"/>
                                        </p:tgtEl>
                                        <p:attrNameLst>
                                          <p:attrName>ppt_y</p:attrName>
                                        </p:attrNameLst>
                                      </p:cBhvr>
                                      <p:tavLst>
                                        <p:tav tm="0">
                                          <p:val>
                                            <p:strVal val="#ppt_y+.05"/>
                                          </p:val>
                                        </p:tav>
                                        <p:tav tm="100000">
                                          <p:val>
                                            <p:strVal val="#ppt_y"/>
                                          </p:val>
                                        </p:tav>
                                      </p:tavLst>
                                    </p:anim>
                                  </p:childTnLst>
                                </p:cTn>
                              </p:par>
                              <p:par>
                                <p:cTn id="137" presetID="10" presetClass="entr" presetSubtype="0" fill="hold" grpId="0" nodeType="withEffect">
                                  <p:stCondLst>
                                    <p:cond delay="200"/>
                                  </p:stCondLst>
                                  <p:childTnLst>
                                    <p:set>
                                      <p:cBhvr>
                                        <p:cTn id="138" dur="1" fill="hold">
                                          <p:stCondLst>
                                            <p:cond delay="0"/>
                                          </p:stCondLst>
                                        </p:cTn>
                                        <p:tgtEl>
                                          <p:spTgt spid="9"/>
                                        </p:tgtEl>
                                        <p:attrNameLst>
                                          <p:attrName>style.visibility</p:attrName>
                                        </p:attrNameLst>
                                      </p:cBhvr>
                                      <p:to>
                                        <p:strVal val="visible"/>
                                      </p:to>
                                    </p:set>
                                    <p:animEffect transition="in" filter="fade">
                                      <p:cBhvr>
                                        <p:cTn id="139"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1" grpId="0" animBg="1"/>
      <p:bldP spid="12" grpId="0" animBg="1"/>
      <p:bldP spid="13" grpId="0" animBg="1"/>
      <p:bldP spid="15" grpId="0" animBg="1"/>
      <p:bldP spid="16" grpId="0" animBg="1"/>
      <p:bldP spid="17" grpId="0" animBg="1"/>
      <p:bldP spid="19" grpId="0" animBg="1"/>
      <p:bldP spid="20" grpId="0" animBg="1"/>
      <p:bldP spid="21" grpId="0" animBg="1"/>
      <p:bldP spid="23" grpId="0" animBg="1"/>
      <p:bldP spid="24" grpId="0" animBg="1"/>
      <p:bldP spid="25" grpId="0" animBg="1"/>
      <p:bldP spid="27" grpId="0" animBg="1"/>
      <p:bldP spid="28" grpId="0" animBg="1"/>
      <p:bldP spid="29" grpId="0" animBg="1"/>
      <p:bldGraphic spid="9" grpId="0">
        <p:bldAsOne/>
      </p:bldGraphic>
    </p:bldLst>
  </p:timing>
</p:sld>
</file>

<file path=ppt/theme/theme1.xml><?xml version="1.0" encoding="utf-8"?>
<a:theme xmlns:a="http://schemas.openxmlformats.org/drawingml/2006/main" name="Lean Flow">
  <a:themeElements>
    <a:clrScheme name="Lean Flow">
      <a:dk1>
        <a:srgbClr val="16212E"/>
      </a:dk1>
      <a:lt1>
        <a:srgbClr val="FFFFFF"/>
      </a:lt1>
      <a:dk2>
        <a:srgbClr val="2B3A4A"/>
      </a:dk2>
      <a:lt2>
        <a:srgbClr val="F1F4F7"/>
      </a:lt2>
      <a:accent1>
        <a:srgbClr val="F5A623"/>
      </a:accent1>
      <a:accent2>
        <a:srgbClr val="14A38B"/>
      </a:accent2>
      <a:accent3>
        <a:srgbClr val="E4572E"/>
      </a:accent3>
      <a:accent4>
        <a:srgbClr val="3D6FA8"/>
      </a:accent4>
      <a:accent5>
        <a:srgbClr val="7A8794"/>
      </a:accent5>
      <a:accent6>
        <a:srgbClr val="8E5CC4"/>
      </a:accent6>
      <a:hlink>
        <a:srgbClr val="3D6FA8"/>
      </a:hlink>
      <a:folHlink>
        <a:srgbClr val="7A8794"/>
      </a:folHlink>
    </a:clrScheme>
    <a:fontScheme name="Lean Flow">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Kanban and TPM – Lean Methods</dc:title>
  <dc:subject>Lean Methods practical assignment – Group 1</dc:subject>
  <dc:creator>Group 1</dc:creator>
  <cp:lastModifiedBy>Group 1</cp:lastModifiedBy>
  <cp:revision>1</cp:revision>
  <dcterms:created xsi:type="dcterms:W3CDTF">2026-10-06T11:36:00Z</dcterms:created>
  <dcterms:modified xsi:type="dcterms:W3CDTF">2026-10-06T11:36:00Z</dcterms:modified>
</cp:coreProperties>
</file>